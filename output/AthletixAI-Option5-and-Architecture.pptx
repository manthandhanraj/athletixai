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da3183ae81469e" /><Relationship Type="http://schemas.openxmlformats.org/officeDocument/2006/relationships/extended-properties" Target="/docProps/app.xml" Id="Ra7ad4bacf5244b23" /><Relationship Type="http://schemas.openxmlformats.org/officeDocument/2006/relationships/officeDocument" Target="/ppt/presentation.xml" Id="R6cf573013bfb40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c33a7757504fc6"/>
  </p:sldMasterIdLst>
  <p:notesMasterIdLst>
    <p:notesMasterId xmlns:r="http://schemas.openxmlformats.org/officeDocument/2006/relationships" r:id="R91e03cf8cc794e9e"/>
  </p:notesMasterIdLst>
  <p:sldIdLst>
    <p:sldId xmlns:r="http://schemas.openxmlformats.org/officeDocument/2006/relationships" id="256" r:id="Rc48fd9104f7546c0"/>
    <p:sldId xmlns:r="http://schemas.openxmlformats.org/officeDocument/2006/relationships" id="257" r:id="Reb7649b2712540fa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7d2361f85b4351" /><Relationship Type="http://schemas.openxmlformats.org/officeDocument/2006/relationships/slideMaster" Target="/ppt/slideMasters/slideMaster1.xml" Id="Raac33a7757504fc6" /><Relationship Type="http://schemas.openxmlformats.org/officeDocument/2006/relationships/notesMaster" Target="/ppt/notesMasters/notesMaster1.xml" Id="R91e03cf8cc794e9e" /><Relationship Type="http://schemas.openxmlformats.org/officeDocument/2006/relationships/presProps" Target="/ppt/presProps.xml" Id="R4e5b400cf1a34554" /><Relationship Type="http://schemas.openxmlformats.org/officeDocument/2006/relationships/tableStyles" Target="/ppt/tableStyles.xml" Id="R1a7e9ee94be54be2" /><Relationship Type="http://schemas.openxmlformats.org/officeDocument/2006/relationships/slide" Target="/ppt/slides/slide1.xml" Id="Rc48fd9104f7546c0" /><Relationship Type="http://schemas.openxmlformats.org/officeDocument/2006/relationships/slide" Target="/ppt/slides/slide2.xml" Id="Reb7649b2712540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af337e230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90c09c53b24b38" /><Relationship Type="http://schemas.openxmlformats.org/officeDocument/2006/relationships/notesMaster" Target="/ppt/notesMasters/notesMaster1.xml" Id="Rd3ff0a3a64e84a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694e52b2564129" /><Relationship Type="http://schemas.openxmlformats.org/officeDocument/2006/relationships/notesMaster" Target="/ppt/notesMasters/notesMaster1.xml" Id="R801408cb2d34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Research and References Option 5. Project evidence comes from the AthletixAI repository and production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mapped from the AthletixAI repository, README, service modules, API routes and production UI. MediaPipe Pose runs in the browser. Raw video remains on-device; the server receives derived report values and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6acc13ad945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7b534b56944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3afb48a964f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e0257b8254b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8cc0a56084f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532153978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6D9931-B857-4EC9-8100-643E51A1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D84D6D-31B6-49F0-B26A-17C8F156E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D4BE76C-CC6B-4F5E-8875-CBF085A0C83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C0B3B45-5C43-4DCB-9F81-D1424F75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14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957D31-3D35-49C0-A73F-39DBBB40D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6421620-59B4-495B-A41D-22D180D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E1E6D3-8DE9-4268-8F9C-DE3D8EB8DE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0A8447A-7395-410E-A7E3-F58C6A07BB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C87B8DC-D4D5-4F06-BC9C-BA62E9A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79254F-2A02-4E97-814F-88F4C1D69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D33E3A-23E1-474E-BD83-073D643E3A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B4805C-51DB-4ACC-BA6D-ED42A301B9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2CBEC67-C601-4B9A-973D-29C27C1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A4D79F-1056-4860-9CD9-BE6D757782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5620F9-CD5A-4176-87E3-18A5AD7089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2fc0d705f345d2" /><Relationship Type="http://schemas.openxmlformats.org/officeDocument/2006/relationships/slideLayout" Target="/ppt/slideLayouts/slideLayout1.xml" Id="R80e50f1f2fc249f6" /><Relationship Type="http://schemas.openxmlformats.org/officeDocument/2006/relationships/slideLayout" Target="/ppt/slideLayouts/slideLayout2.xml" Id="Ra97f5b8eec194da3" /><Relationship Type="http://schemas.openxmlformats.org/officeDocument/2006/relationships/slideLayout" Target="/ppt/slideLayouts/slideLayout3.xml" Id="Rb74c53d9ca374efb" /><Relationship Type="http://schemas.openxmlformats.org/officeDocument/2006/relationships/slideLayout" Target="/ppt/slideLayouts/slideLayout4.xml" Id="Ra2b8a2c13ff64dee" /><Relationship Type="http://schemas.openxmlformats.org/officeDocument/2006/relationships/slideLayout" Target="/ppt/slideLayouts/slideLayout5.xml" Id="Rd62eadfd06984bdb" /><Relationship Type="http://schemas.openxmlformats.org/officeDocument/2006/relationships/slideLayout" Target="/ppt/slideLayouts/slideLayout6.xml" Id="Rc0f4881fe9be48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50f1f2fc249f6"/>
    <p:sldLayoutId xmlns:r="http://schemas.openxmlformats.org/officeDocument/2006/relationships" id="2147483650" r:id="Ra97f5b8eec194da3"/>
    <p:sldLayoutId xmlns:r="http://schemas.openxmlformats.org/officeDocument/2006/relationships" id="2147483651" r:id="Rb74c53d9ca374efb"/>
    <p:sldLayoutId xmlns:r="http://schemas.openxmlformats.org/officeDocument/2006/relationships" id="2147483652" r:id="Ra2b8a2c13ff64dee"/>
    <p:sldLayoutId xmlns:r="http://schemas.openxmlformats.org/officeDocument/2006/relationships" id="2147483653" r:id="Rd62eadfd06984bdb"/>
    <p:sldLayoutId xmlns:r="http://schemas.openxmlformats.org/officeDocument/2006/relationships" id="2147483654" r:id="Rc0f4881fe9be48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96f7b0cf241a1" /><Relationship Type="http://schemas.openxmlformats.org/officeDocument/2006/relationships/image" Target="/ppt/media/image.png" Id="R9c77de34e1524462" /><Relationship Type="http://schemas.openxmlformats.org/officeDocument/2006/relationships/notesSlide" Target="/ppt/notesSlides/notesSlide1.xml" Id="R2a797178be38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675b4cf834840" /><Relationship Type="http://schemas.openxmlformats.org/officeDocument/2006/relationships/notesSlide" Target="/ppt/notesSlides/notesSlide2.xml" Id="R69c1556b2164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7de34e152446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2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7F7A322-15C5-4E22-AFEB-D34DD9D5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B"/>
          </a:solidFill>
          <a:ln xmlns:a="http://schemas.openxmlformats.org/drawingml/2006/main" w="19050">
            <a:solidFill>
              <a:srgbClr val="27D3E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4300A-4DED-4244-A3B8-D11ECFA9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0"/>
            <a:ext cx="2000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75F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C69D3-3D42-4739-82AC-70D86D2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143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ATHLETIXAI 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E0F1F-4350-48EE-B263-D00EAB91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90600"/>
            <a:ext cx="1352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Browser-side movement analysis keeps raw video local while reports power athlete progress and coach discovery.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75CF8-D026-480B-8604-3AF3C9FE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419100"/>
            <a:ext cx="2428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D97B-249B-4C36-84A0-41A7CD0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457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Athletix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1BE0E-3860-4C44-8AAE-13873A0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4572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6A93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6A93B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B76BD-1878-48AE-85DD-2D6CB28D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1925" y="7620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>
              <a:defRPr sz="600" b="1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AFC6DD"/>
                </a:solidFill>
                <a:latin typeface="Aptos"/>
                <a:ea typeface="Aptos"/>
                <a:cs typeface="Aptos"/>
              </a:rPr>
              <a:t>AI SPORTS TALENT 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75FCF-C3D5-47A0-99A2-CAF0AE4C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ATHLETE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CFF2F-55E8-4BF2-B163-40002764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SECURE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7FBCAB-7B00-4B15-B6E6-A9BB53A1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6192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7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75F"/>
                </a:solidFill>
                <a:latin typeface="Aptos"/>
                <a:ea typeface="Aptos"/>
                <a:cs typeface="Aptos"/>
              </a:rPr>
              <a:t>PRODUCT EXPERIENCES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E27AF-748D-4208-BC67-AE132AED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334000" cy="647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81D3B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AF29C-8E44-41FE-9665-C2AF5DE6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52625"/>
            <a:ext cx="4762500" cy="6477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A2045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0C012-01E6-4352-B187-2938031E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952625"/>
            <a:ext cx="5867400" cy="647700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0B2344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C09B5-E0F4-4042-8996-DCA3710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238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60192-231B-477B-A9D7-EEE9D80B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E1D3C-44F3-4A28-AC8E-048402A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CF83E-E7CE-4858-96E7-25C2630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38400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Video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56189B-09F6-4995-9CDD-339F14A1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781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Phone camera or uploaded training clip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B8110-7128-4AFE-88E2-0E26DAC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238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9B050-2A55-4F57-8326-4DF92773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74CD1-A23B-4E1E-A1A0-0C463094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B6B99-0EB7-4891-BC3B-26E9E858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38400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Pose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7ED50-E495-48E2-B845-0F1F1590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1781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MediaPipe extracts 33 landmarks per sampled frame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E5492-0F67-4AF2-A4FA-09D98D4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A91188-286E-4191-ABEE-7B15889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93B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C49BE-B755-46CA-8CDA-55932AF1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19622-4E46-44BF-84E6-8B65C39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10025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3657C-E321-4B20-BF86-05ADB18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17811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Reject low visibility, too few frames or insufficient movement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A08201-B4CF-4CA7-9FB9-DE74FE1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22383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BCB1B-AE21-4496-8675-BD91E9A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290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DFA1A0-8E58-4882-B9E7-CF7F003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290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7DCAD-C4F9-40E4-9936-D83BDD7A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10025"/>
            <a:ext cx="1304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Biomechanics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2B880-D6F0-4FC0-9D43-3820820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48175"/>
            <a:ext cx="17811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Joint angles, velocity, symmetry, cadence and range of 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2FEA4-5CD1-4C8F-8335-EE72FD7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72125"/>
            <a:ext cx="34766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AB4B3B-B250-428C-82AE-468B9A3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435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D07F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FA5A8-12E5-4631-8A3E-517B02F5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7435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CF720E-30E3-4842-BB19-C868EE83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24525"/>
            <a:ext cx="25431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Sport-aware scoring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2A388F-2761-498E-A868-CDFFDFD9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162675"/>
            <a:ext cx="3019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Category rules produce five metrics, an overall score and confidence metadata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FD6BA2-AB2A-4E32-B15B-9D33628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34250"/>
            <a:ext cx="4552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5C92B5-5519-486B-ABD5-29E055CD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4390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D07F"/>
                </a:solidFill>
                <a:latin typeface="Aptos"/>
                <a:ea typeface="Aptos"/>
                <a:cs typeface="Aptos"/>
              </a:rPr>
              <a:t>RAW VIDEO STAYS ON THE DEVICE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499199-72F4-4E13-85EC-01248F82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76962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Only derived report values cross the boundary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C11648-5426-467D-91A3-B0E0E299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095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0B1D42-B158-4BE2-B293-23E3F840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68B02C-48B9-444D-A0D4-C87BF98B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6132F0-5414-41AC-B370-4F95A127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384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Assessment 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52CEBB-9FD7-4D3D-816B-46412643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3638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Authentication, request validation, CSRF protection and rate limits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73F0E5-A189-4449-8C51-5FCBEBA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4095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D4D883-3F60-42BB-B212-D94C78B1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E3041B-114B-4530-861C-E740BC9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ECAD49-4BEB-4E08-9C59-96E8B94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Service layer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AC7804-1033-4CE1-ACB3-9285A42E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3638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42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Re-derives overall score, attaches ownership and coordinates analytics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B64D33-4430-4089-9CC8-BC248530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43500"/>
            <a:ext cx="4095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41B4E7-3500-4A02-AD31-9F262A20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93B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50039A-D4DE-47D9-9A7B-AE7C336B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14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5BF0EA-A0AC-4804-AA27-315FADA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9590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Repository and unit of work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CC135B-319C-4090-916D-FDB59C8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34050"/>
            <a:ext cx="3638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Transactional access to users, reports, messages and notifications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6F1FC2-5DCD-4B07-AC62-D210500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572250"/>
            <a:ext cx="2524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16BAC4-677C-4042-BE1B-B677F03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D07F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51B9797-EB87-4BFC-A3FF-619D181C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743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806180-0043-4935-A32E-ACFA9A6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724650"/>
            <a:ext cx="1590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5AD12B-8CDF-4E13-97D2-8794C000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162800"/>
            <a:ext cx="2066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Clear migration path to PostgreSQL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CADC10-62CC-490B-8C2E-6A72A3B9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72250"/>
            <a:ext cx="1333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2511F2-4568-4385-870D-8BCC45C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743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75F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85EF10E-36E1-4C54-BF74-6AD2CD4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743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E3DD75-0189-4B07-A26A-5C2D0A5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724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4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Jobs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246ADF-B6FC-43C4-97EA-E3DA5AC7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62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Email dispatch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03EB51-D7CD-4760-BC3A-2E5B233F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860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3360AD-CF84-487A-BA61-559AD1C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57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7B2B556-3CFE-4448-9CAC-233D372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B38020E-8A31-49A1-A1D4-39DDE19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4384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Athlete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15271E9-49FD-499C-B21C-2289ACA2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8765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Dashboard, reports, progress, training plan and badges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9365F6-E845-45A5-8342-6DA28249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22860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1AE7F71-2445-4E7F-85A4-D5FBBF3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4574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75F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D5A111-8ED4-4FBE-BD0F-0986D3A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5F3A6C-DB8A-41DD-BFE7-D065C272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24384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Coach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EF6676-A369-4A72-A6F7-6B9E723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2876550"/>
            <a:ext cx="201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Squad analytics, athlete profiles and messaging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6E55A7-A901-48F2-94AC-BD6D63F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0525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CE422B9-F1E6-481B-A648-564AFF31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6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75F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EEB860-8A46-4C86-9B96-F8B95BD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6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23143DD-02CB-49E5-AC55-55B77B1F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05765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Recruiter Hub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70E337F-6423-4002-93FA-D05CB11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49580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Talent filters and AI Scout recommendations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E9FD1D9-E4AC-4D4D-8767-F59FC73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390525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394E1A-A3EE-4FAC-8DBC-95117AD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4076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A93B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E7CB257-941B-419E-843A-F69FBB94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40767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E4AA40F-BA76-4245-AFBE-120969BB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405765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AA4DEE5-98D8-4697-A8AF-4EF92A78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4495800"/>
            <a:ext cx="201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Two-athlete radar and metric comparison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14CCF3-732E-4460-ACE4-3A074955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24500"/>
            <a:ext cx="23812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57BA21-27B7-42E0-BD7C-BF01A72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695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D07F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89F779-CF26-40E3-99F9-8FDE9DA8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695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73F724-65E7-40A8-AE31-47128FE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6769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Leaderboard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D06494-BA49-4ADF-97F3-B3FE04B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1150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Weekly improvement points and rank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4DE476-4AB3-4592-8E78-35E9C1A5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5524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2A52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ABDF72-0C9D-42E9-A038-312678D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56959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22E3A5-48F2-476C-A18C-9D2154BA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5695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1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132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79259D-B115-4357-AE05-9CFD7752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56769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DF4E89-0542-4E77-B67C-7A083E35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6115050"/>
            <a:ext cx="2019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Consent, data export and account deletion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D5E99B-DB23-4D3F-B8B4-3A5A74F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143750"/>
            <a:ext cx="519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B50"/>
          </a:solidFill>
          <a:ln xmlns:a="http://schemas.openxmlformats.org/drawingml/2006/main" w="19050">
            <a:solidFill>
              <a:srgbClr val="AFC6DD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9FF70D7-2671-4193-B861-1E2BF7D2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2390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BFF"/>
                </a:solidFill>
                <a:latin typeface="Aptos"/>
                <a:ea typeface="Aptos"/>
                <a:cs typeface="Aptos"/>
              </a:rPr>
              <a:t>OWNER CONSOLE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A62D45-D360-4AC5-8341-8801C8E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2390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Live statistics, records and activity log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032144E-4BD5-411B-9E53-C15E4DD8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28925"/>
            <a:ext cx="3238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0110162-BCA6-4F46-9C60-959084CC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1460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BF8117-256B-463C-8170-DA78AE75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638550"/>
            <a:ext cx="25717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19050">
            <a:solidFill>
              <a:srgbClr val="22D3EE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22C41DB-F30E-4FBB-B0C8-EF91A33A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324225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LOCAL PROCESSING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AEC36E-64BD-4F28-B1F9-1B0DC83E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53050"/>
            <a:ext cx="23336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D07F"/>
          </a:solidFill>
          <a:ln xmlns:a="http://schemas.openxmlformats.org/drawingml/2006/main" w="19050">
            <a:solidFill>
              <a:srgbClr val="35D07F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F886B8-8994-4F6E-8674-E128A474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038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D07F"/>
                </a:solidFill>
                <a:latin typeface="Aptos"/>
                <a:ea typeface="Aptos"/>
                <a:cs typeface="Aptos"/>
              </a:rPr>
              <a:t>DERIVED METRICS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6AFA192-2C25-4D3F-A921-96BCDBC6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742EBA-CF06-4FFD-A480-766267AB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62300"/>
            <a:ext cx="9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231DE76-9646-4A61-B591-BE1FE248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905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19050">
            <a:solidFill>
              <a:srgbClr val="1677FF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A3B16CE-6964-4E15-8F8D-572FFDA3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91050"/>
            <a:ext cx="9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BA6204F-A531-4F14-9862-05FD13AC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6334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A93B"/>
          </a:solidFill>
          <a:ln xmlns:a="http://schemas.openxmlformats.org/drawingml/2006/main" w="19050">
            <a:solidFill>
              <a:srgbClr val="D6A93B"/>
            </a:solidFill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A468A95-58D1-4A25-81B5-34841916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6019800"/>
            <a:ext cx="9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312AB6D-238D-4699-B153-418A57A4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667250"/>
            <a:ext cx="571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75F"/>
          </a:solidFill>
          <a:ln xmlns:a="http://schemas.openxmlformats.org/drawingml/2006/main" w="19050">
            <a:solidFill>
              <a:srgbClr val="FF675F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F58CB60-4814-41C5-8236-CDBC5388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3529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104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7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75F"/>
                </a:solidFill>
                <a:latin typeface="Aptos"/>
                <a:ea typeface="Aptos"/>
                <a:cs typeface="Aptos"/>
              </a:rPr>
              <a:t>REPORT DATA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65E956-F6EC-4D89-955D-E58B879D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0"/>
            <a:ext cx="17183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2344"/>
          </a:solidFill>
          <a:ln xmlns:a="http://schemas.openxmlformats.org/drawingml/2006/main" w="19050">
            <a:solidFill>
              <a:srgbClr val="285A89"/>
            </a:solidFill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9B35BCC-127A-4D75-A579-D0BC99AC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34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B8AEE6D-0D68-4383-AF83-247B7764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8877300"/>
            <a:ext cx="15001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Vanilla JavaScript     MediaPipe Pose     Flask REST API     SQLite     Chart.js and jsPDF     Render and Gunicorn     Installable PWA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924585D-FC7E-4519-BF26-B8A135DA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154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5D07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D07F"/>
                </a:solidFill>
                <a:latin typeface="Aptos"/>
                <a:ea typeface="Aptos"/>
                <a:cs typeface="Aptos"/>
              </a:rPr>
              <a:t>Privacy rule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A5DF3FB-9A2E-4F8A-AF9B-F050234F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9286875"/>
            <a:ext cx="695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FC6D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FC6DD"/>
                </a:solidFill>
                <a:latin typeface="Aptos"/>
                <a:ea typeface="Aptos"/>
                <a:cs typeface="Aptos"/>
              </a:rPr>
              <a:t>Raw training footage never enters the server data path.</a:t>
            </a:r>
          </a:p>
        </p:txBody>
      </p:sp>
    </p:spTree>
    <p:extLst>
      <p:ext uri="{BB962C8B-B14F-4D97-AF65-F5344CB8AC3E}">
        <p14:creationId xmlns:p14="http://schemas.microsoft.com/office/powerpoint/2010/main" val="636001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2026-09-29T10:27:32.5150000Z</dcterms:created>
  <dcterms:modified xsi:type="dcterms:W3CDTF">2026-09-29T10:27:32.5150000Z</dcterms:modified>
</coreProperties>
</file>