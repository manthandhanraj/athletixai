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248e19aeab4bcb" /><Relationship Type="http://schemas.openxmlformats.org/officeDocument/2006/relationships/extended-properties" Target="/docProps/app.xml" Id="R0da941682a7e495c" /><Relationship Type="http://schemas.openxmlformats.org/officeDocument/2006/relationships/officeDocument" Target="/ppt/presentation.xml" Id="R2ccda0627eb3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5ceee11b54917"/>
  </p:sldMasterIdLst>
  <p:notesMasterIdLst>
    <p:notesMasterId xmlns:r="http://schemas.openxmlformats.org/officeDocument/2006/relationships" r:id="R622c748ffc54428f"/>
  </p:notesMasterIdLst>
  <p:sldIdLst>
    <p:sldId xmlns:r="http://schemas.openxmlformats.org/officeDocument/2006/relationships" id="256" r:id="R2e4373bbf3be4a47"/>
    <p:sldId xmlns:r="http://schemas.openxmlformats.org/officeDocument/2006/relationships" id="257" r:id="R4da0dd942e9d4609"/>
    <p:sldId xmlns:r="http://schemas.openxmlformats.org/officeDocument/2006/relationships" id="258" r:id="Rc70d36614d2a4387"/>
    <p:sldId xmlns:r="http://schemas.openxmlformats.org/officeDocument/2006/relationships" id="259" r:id="R93fbf09423cd4513"/>
    <p:sldId xmlns:r="http://schemas.openxmlformats.org/officeDocument/2006/relationships" id="260" r:id="R87eac2f7bdfc41a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4ecce6d4b42c6" /><Relationship Type="http://schemas.openxmlformats.org/officeDocument/2006/relationships/slideMaster" Target="/ppt/slideMasters/slideMaster1.xml" Id="R9745ceee11b54917" /><Relationship Type="http://schemas.openxmlformats.org/officeDocument/2006/relationships/notesMaster" Target="/ppt/notesMasters/notesMaster1.xml" Id="R622c748ffc54428f" /><Relationship Type="http://schemas.openxmlformats.org/officeDocument/2006/relationships/presProps" Target="/ppt/presProps.xml" Id="Rb2221e02ad92475d" /><Relationship Type="http://schemas.openxmlformats.org/officeDocument/2006/relationships/tableStyles" Target="/ppt/tableStyles.xml" Id="Ra37626cf33b34cc6" /><Relationship Type="http://schemas.openxmlformats.org/officeDocument/2006/relationships/slide" Target="/ppt/slides/slide1.xml" Id="R2e4373bbf3be4a47" /><Relationship Type="http://schemas.openxmlformats.org/officeDocument/2006/relationships/slide" Target="/ppt/slides/slide2.xml" Id="R4da0dd942e9d4609" /><Relationship Type="http://schemas.openxmlformats.org/officeDocument/2006/relationships/slide" Target="/ppt/slides/slide3.xml" Id="Rc70d36614d2a4387" /><Relationship Type="http://schemas.openxmlformats.org/officeDocument/2006/relationships/slide" Target="/ppt/slides/slide4.xml" Id="R93fbf09423cd4513" /><Relationship Type="http://schemas.openxmlformats.org/officeDocument/2006/relationships/slide" Target="/ppt/slides/slide5.xml" Id="R87eac2f7bdfc41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e938bb53a4f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975667860450c" /><Relationship Type="http://schemas.openxmlformats.org/officeDocument/2006/relationships/notesMaster" Target="/ppt/notesMasters/notesMaster1.xml" Id="Rce8af2b52cf247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e1040c8b9746d6" /><Relationship Type="http://schemas.openxmlformats.org/officeDocument/2006/relationships/notesMaster" Target="/ppt/notesMasters/notesMaster1.xml" Id="Rab24a9aa43f9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530a935e8740ee" /><Relationship Type="http://schemas.openxmlformats.org/officeDocument/2006/relationships/notesMaster" Target="/ppt/notesMasters/notesMaster1.xml" Id="R9ddc854d8a0041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d4b492cc24cbb" /><Relationship Type="http://schemas.openxmlformats.org/officeDocument/2006/relationships/notesMaster" Target="/ppt/notesMasters/notesMaster1.xml" Id="R4024d915ad6743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9a7070f8e47f4" /><Relationship Type="http://schemas.openxmlformats.org/officeDocument/2006/relationships/notesMaster" Target="/ppt/notesMasters/notesMaster1.xml" Id="Rf143122891f8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AthletixAI reference image, ChatGPT Image Sep 29, 2026, 11_52_19 PM.png. Prototype data and business proposals as supplied in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AthletixAI reference image, ChatGPT Image Sep 29, 2026, 11_52_04 PM.png. Prototype data and business proposals as supplied in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AthletixAI reference image, ChatGPT Image Sep 29, 2026, 11_51_58 PM.png. Prototype data and business proposals as supplied in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AthletixAI reference image, ChatGPT Image Sep 29, 2026, 11_51_50 PM.png. Prototype data and business proposals as supplied in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AthletixAI reference image, ChatGPT Image Sep 29, 2026, 04_08_14 PM.png. Prototype data and business proposals as supplied in the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4d1d59418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4414bb8a824e9f" /><Relationship Type="http://schemas.openxmlformats.org/officeDocument/2006/relationships/slideLayout" Target="/ppt/slideLayouts/slideLayout1.xml" Id="Raa31e7ae4f3d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31e7ae4f3d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cb5f368174a4d" /><Relationship Type="http://schemas.openxmlformats.org/officeDocument/2006/relationships/image" Target="/ppt/media/image.png" Id="Rc1e12161d8a94124" /><Relationship Type="http://schemas.openxmlformats.org/officeDocument/2006/relationships/image" Target="/ppt/media/image2.png" Id="R3222c881f58448ee" /><Relationship Type="http://schemas.openxmlformats.org/officeDocument/2006/relationships/image" Target="/ppt/media/image3.png" Id="R5efbfb2b488a469e" /><Relationship Type="http://schemas.openxmlformats.org/officeDocument/2006/relationships/image" Target="/ppt/media/image4.png" Id="R2140718475b8451a" /><Relationship Type="http://schemas.openxmlformats.org/officeDocument/2006/relationships/image" Target="/ppt/media/image5.png" Id="Rcb8ea8c8479946f6" /><Relationship Type="http://schemas.openxmlformats.org/officeDocument/2006/relationships/image" Target="/ppt/media/image6.png" Id="R8f2cdd7206d44890" /><Relationship Type="http://schemas.openxmlformats.org/officeDocument/2006/relationships/image" Target="/ppt/media/image7.png" Id="R7999f927f81344cb" /><Relationship Type="http://schemas.openxmlformats.org/officeDocument/2006/relationships/image" Target="/ppt/media/image8.png" Id="Ra0e6f208b24545cf" /><Relationship Type="http://schemas.openxmlformats.org/officeDocument/2006/relationships/image" Target="/ppt/media/image9.png" Id="R73867cca34f544a0" /><Relationship Type="http://schemas.openxmlformats.org/officeDocument/2006/relationships/image" Target="/ppt/media/image10.png" Id="R1a31145a97c24e92" /><Relationship Type="http://schemas.openxmlformats.org/officeDocument/2006/relationships/image" Target="/ppt/media/image11.png" Id="Ra261a1792c5848c5" /><Relationship Type="http://schemas.openxmlformats.org/officeDocument/2006/relationships/image" Target="/ppt/media/image12.png" Id="Rbe4b260d641a4a40" /><Relationship Type="http://schemas.openxmlformats.org/officeDocument/2006/relationships/image" Target="/ppt/media/image13.png" Id="R7db714e3ad264c3c" /><Relationship Type="http://schemas.openxmlformats.org/officeDocument/2006/relationships/image" Target="/ppt/media/image14.png" Id="R16928e8de62749b6" /><Relationship Type="http://schemas.openxmlformats.org/officeDocument/2006/relationships/image" Target="/ppt/media/image15.png" Id="Rb78f570c746b4dd5" /><Relationship Type="http://schemas.openxmlformats.org/officeDocument/2006/relationships/image" Target="/ppt/media/image16.png" Id="R72a5c26334e3432c" /><Relationship Type="http://schemas.openxmlformats.org/officeDocument/2006/relationships/image" Target="/ppt/media/image17.png" Id="Re6c4f4ec9f334f49" /><Relationship Type="http://schemas.openxmlformats.org/officeDocument/2006/relationships/image" Target="/ppt/media/image18.png" Id="Ra6b6a337a3494cdd" /><Relationship Type="http://schemas.openxmlformats.org/officeDocument/2006/relationships/image" Target="/ppt/media/image19.png" Id="R6c3d06b25f664314" /><Relationship Type="http://schemas.openxmlformats.org/officeDocument/2006/relationships/image" Target="/ppt/media/image20.png" Id="R81920672f3224eb5" /><Relationship Type="http://schemas.openxmlformats.org/officeDocument/2006/relationships/image" Target="/ppt/media/image21.png" Id="Rb1e87202583a4345" /><Relationship Type="http://schemas.openxmlformats.org/officeDocument/2006/relationships/image" Target="/ppt/media/image22.png" Id="R94d54a4b6fa7446c" /><Relationship Type="http://schemas.openxmlformats.org/officeDocument/2006/relationships/image" Target="/ppt/media/image23.png" Id="R8a40d0a95b7d4ad6" /><Relationship Type="http://schemas.openxmlformats.org/officeDocument/2006/relationships/image" Target="/ppt/media/image24.png" Id="R0207ee95b0ed42e3" /><Relationship Type="http://schemas.openxmlformats.org/officeDocument/2006/relationships/image" Target="/ppt/media/image25.png" Id="R5e1f8ba3cca94c70" /><Relationship Type="http://schemas.openxmlformats.org/officeDocument/2006/relationships/image" Target="/ppt/media/image26.png" Id="Rca9489e3fd7c404d" /><Relationship Type="http://schemas.openxmlformats.org/officeDocument/2006/relationships/image" Target="/ppt/media/image27.png" Id="R0a509aa1e26c43d7" /><Relationship Type="http://schemas.openxmlformats.org/officeDocument/2006/relationships/image" Target="/ppt/media/image28.png" Id="R7b3dc3d722ae43d5" /><Relationship Type="http://schemas.openxmlformats.org/officeDocument/2006/relationships/image" Target="/ppt/media/image29.png" Id="Rac7f291cbb164f12" /><Relationship Type="http://schemas.openxmlformats.org/officeDocument/2006/relationships/image" Target="/ppt/media/image30.png" Id="R6cdc3fedc7364d5f" /><Relationship Type="http://schemas.openxmlformats.org/officeDocument/2006/relationships/image" Target="/ppt/media/image31.png" Id="R69b1ceb0eee54da2" /><Relationship Type="http://schemas.openxmlformats.org/officeDocument/2006/relationships/image" Target="/ppt/media/image32.png" Id="R7aa8816ebad34750" /><Relationship Type="http://schemas.openxmlformats.org/officeDocument/2006/relationships/image" Target="/ppt/media/image33.png" Id="R40fe8e8445b94be1" /><Relationship Type="http://schemas.openxmlformats.org/officeDocument/2006/relationships/image" Target="/ppt/media/image34.png" Id="R3a9af0dbc48b45c2" /><Relationship Type="http://schemas.openxmlformats.org/officeDocument/2006/relationships/image" Target="/ppt/media/image35.png" Id="R9b699a09eeeb4d2f" /><Relationship Type="http://schemas.openxmlformats.org/officeDocument/2006/relationships/image" Target="/ppt/media/image36.png" Id="Rd5f6d5fc45f74b74" /><Relationship Type="http://schemas.openxmlformats.org/officeDocument/2006/relationships/image" Target="/ppt/media/image37.png" Id="Rca391eebf06c4eec" /><Relationship Type="http://schemas.openxmlformats.org/officeDocument/2006/relationships/image" Target="/ppt/media/image38.png" Id="R558e120ba8494b21" /><Relationship Type="http://schemas.openxmlformats.org/officeDocument/2006/relationships/image" Target="/ppt/media/image39.png" Id="R59e0d352670a4ef0" /><Relationship Type="http://schemas.openxmlformats.org/officeDocument/2006/relationships/image" Target="/ppt/media/image40.png" Id="R4a24dd4c16414905" /><Relationship Type="http://schemas.openxmlformats.org/officeDocument/2006/relationships/image" Target="/ppt/media/image41.png" Id="R674ab7edcb3c402d" /><Relationship Type="http://schemas.openxmlformats.org/officeDocument/2006/relationships/image" Target="/ppt/media/image42.png" Id="R2d68fa6b3bc744fa" /><Relationship Type="http://schemas.openxmlformats.org/officeDocument/2006/relationships/image" Target="/ppt/media/image43.png" Id="Re2185580dbdb45f6" /><Relationship Type="http://schemas.openxmlformats.org/officeDocument/2006/relationships/image" Target="/ppt/media/image44.png" Id="R3359d5172979458b" /><Relationship Type="http://schemas.openxmlformats.org/officeDocument/2006/relationships/image" Target="/ppt/media/image45.png" Id="R818a3575c04a4dd4" /><Relationship Type="http://schemas.openxmlformats.org/officeDocument/2006/relationships/image" Target="/ppt/media/image46.png" Id="R185408fd2d1a47d3" /><Relationship Type="http://schemas.openxmlformats.org/officeDocument/2006/relationships/image" Target="/ppt/media/image47.png" Id="R1c2f4cfc9ca14668" /><Relationship Type="http://schemas.openxmlformats.org/officeDocument/2006/relationships/image" Target="/ppt/media/image48.png" Id="Rf6db3995f9024c0c" /><Relationship Type="http://schemas.openxmlformats.org/officeDocument/2006/relationships/image" Target="/ppt/media/image49.png" Id="R1fe44fdbe6c94c8e" /><Relationship Type="http://schemas.openxmlformats.org/officeDocument/2006/relationships/image" Target="/ppt/media/image50.png" Id="R261b0dc475bf49dc" /><Relationship Type="http://schemas.openxmlformats.org/officeDocument/2006/relationships/image" Target="/ppt/media/image51.png" Id="R5c80589937784e3d" /><Relationship Type="http://schemas.openxmlformats.org/officeDocument/2006/relationships/image" Target="/ppt/media/image52.png" Id="Ra1f6944df0034bbb" /><Relationship Type="http://schemas.openxmlformats.org/officeDocument/2006/relationships/image" Target="/ppt/media/image53.png" Id="R11a031b1ac0a4ab9" /><Relationship Type="http://schemas.openxmlformats.org/officeDocument/2006/relationships/image" Target="/ppt/media/image54.png" Id="R12d8ed9166a645dd" /><Relationship Type="http://schemas.openxmlformats.org/officeDocument/2006/relationships/image" Target="/ppt/media/image55.png" Id="Rf5ad81e6368b43de" /><Relationship Type="http://schemas.openxmlformats.org/officeDocument/2006/relationships/image" Target="/ppt/media/image56.png" Id="R06bdfd796edf43b9" /><Relationship Type="http://schemas.openxmlformats.org/officeDocument/2006/relationships/image" Target="/ppt/media/image57.png" Id="R8c66fe73a49e4b3b" /><Relationship Type="http://schemas.openxmlformats.org/officeDocument/2006/relationships/image" Target="/ppt/media/image58.png" Id="R57bec1b0cddf41ee" /><Relationship Type="http://schemas.openxmlformats.org/officeDocument/2006/relationships/image" Target="/ppt/media/image59.png" Id="Rf75194ae841140fb" /><Relationship Type="http://schemas.openxmlformats.org/officeDocument/2006/relationships/image" Target="/ppt/media/image60.png" Id="R5f8cd9e89f4549fe" /><Relationship Type="http://schemas.openxmlformats.org/officeDocument/2006/relationships/notesSlide" Target="/ppt/notesSlides/notesSlide1.xml" Id="R9dab7b4a8c5e4a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58a540b64618" /><Relationship Type="http://schemas.openxmlformats.org/officeDocument/2006/relationships/image" Target="/ppt/media/image61.png" Id="R8a40e06f4da74078" /><Relationship Type="http://schemas.openxmlformats.org/officeDocument/2006/relationships/image" Target="/ppt/media/image62.png" Id="Rd77c7da2d5fa477c" /><Relationship Type="http://schemas.openxmlformats.org/officeDocument/2006/relationships/image" Target="/ppt/media/image63.png" Id="R5a33bf77412b48fa" /><Relationship Type="http://schemas.openxmlformats.org/officeDocument/2006/relationships/image" Target="/ppt/media/image64.png" Id="R4fafbf748e4b41ea" /><Relationship Type="http://schemas.openxmlformats.org/officeDocument/2006/relationships/image" Target="/ppt/media/image65.png" Id="Rcc2ce7cf312848f4" /><Relationship Type="http://schemas.openxmlformats.org/officeDocument/2006/relationships/image" Target="/ppt/media/image66.png" Id="Raa52dd18754a4767" /><Relationship Type="http://schemas.openxmlformats.org/officeDocument/2006/relationships/image" Target="/ppt/media/image67.png" Id="R61474cfc2bd24fe3" /><Relationship Type="http://schemas.openxmlformats.org/officeDocument/2006/relationships/image" Target="/ppt/media/image68.png" Id="Rbbcbae0292f1436f" /><Relationship Type="http://schemas.openxmlformats.org/officeDocument/2006/relationships/image" Target="/ppt/media/image69.png" Id="Rb6b4850e3f8f4281" /><Relationship Type="http://schemas.openxmlformats.org/officeDocument/2006/relationships/image" Target="/ppt/media/image70.png" Id="R4d803baea0c34fca" /><Relationship Type="http://schemas.openxmlformats.org/officeDocument/2006/relationships/image" Target="/ppt/media/image71.png" Id="R949bc506cab746d9" /><Relationship Type="http://schemas.openxmlformats.org/officeDocument/2006/relationships/image" Target="/ppt/media/image72.png" Id="R36c6b8e354ad4dc6" /><Relationship Type="http://schemas.openxmlformats.org/officeDocument/2006/relationships/image" Target="/ppt/media/image73.png" Id="Rff0d66faa2374821" /><Relationship Type="http://schemas.openxmlformats.org/officeDocument/2006/relationships/image" Target="/ppt/media/image74.png" Id="R1de5f0de7c8d4ac0" /><Relationship Type="http://schemas.openxmlformats.org/officeDocument/2006/relationships/image" Target="/ppt/media/image75.png" Id="R5ecad2c6ef93446f" /><Relationship Type="http://schemas.openxmlformats.org/officeDocument/2006/relationships/image" Target="/ppt/media/image76.png" Id="R9430488d40144ac8" /><Relationship Type="http://schemas.openxmlformats.org/officeDocument/2006/relationships/image" Target="/ppt/media/image77.png" Id="R445754e6c1824d1f" /><Relationship Type="http://schemas.openxmlformats.org/officeDocument/2006/relationships/image" Target="/ppt/media/image78.png" Id="R0d84857c8b38487c" /><Relationship Type="http://schemas.openxmlformats.org/officeDocument/2006/relationships/image" Target="/ppt/media/image79.png" Id="R1bb78a28a25d4c74" /><Relationship Type="http://schemas.openxmlformats.org/officeDocument/2006/relationships/image" Target="/ppt/media/image80.png" Id="R760ff6c23a274b00" /><Relationship Type="http://schemas.openxmlformats.org/officeDocument/2006/relationships/image" Target="/ppt/media/image81.png" Id="R2937dfbe5e594142" /><Relationship Type="http://schemas.openxmlformats.org/officeDocument/2006/relationships/image" Target="/ppt/media/image82.png" Id="Ra95435b1ba924fe0" /><Relationship Type="http://schemas.openxmlformats.org/officeDocument/2006/relationships/image" Target="/ppt/media/image83.png" Id="Ra61d707f13df41f2" /><Relationship Type="http://schemas.openxmlformats.org/officeDocument/2006/relationships/image" Target="/ppt/media/image84.png" Id="Rf166e22238f848bc" /><Relationship Type="http://schemas.openxmlformats.org/officeDocument/2006/relationships/image" Target="/ppt/media/image85.png" Id="R75a1321237754eec" /><Relationship Type="http://schemas.openxmlformats.org/officeDocument/2006/relationships/image" Target="/ppt/media/image86.png" Id="R254c165c52284023" /><Relationship Type="http://schemas.openxmlformats.org/officeDocument/2006/relationships/image" Target="/ppt/media/image87.png" Id="Ra7786557ad7248f7" /><Relationship Type="http://schemas.openxmlformats.org/officeDocument/2006/relationships/image" Target="/ppt/media/image88.png" Id="R746fdd609e4a4f5f" /><Relationship Type="http://schemas.openxmlformats.org/officeDocument/2006/relationships/image" Target="/ppt/media/image89.png" Id="R990b3f9956814f2c" /><Relationship Type="http://schemas.openxmlformats.org/officeDocument/2006/relationships/image" Target="/ppt/media/image90.png" Id="R8673379eda934fcd" /><Relationship Type="http://schemas.openxmlformats.org/officeDocument/2006/relationships/image" Target="/ppt/media/image91.png" Id="R2a7feecb0ab84aa0" /><Relationship Type="http://schemas.openxmlformats.org/officeDocument/2006/relationships/image" Target="/ppt/media/image92.png" Id="Rd55a09c1e993458a" /><Relationship Type="http://schemas.openxmlformats.org/officeDocument/2006/relationships/image" Target="/ppt/media/image93.png" Id="R71b677614d6443fd" /><Relationship Type="http://schemas.openxmlformats.org/officeDocument/2006/relationships/image" Target="/ppt/media/image94.png" Id="Rccca95a31ed047b2" /><Relationship Type="http://schemas.openxmlformats.org/officeDocument/2006/relationships/image" Target="/ppt/media/image95.png" Id="Rf2dd9c755568469a" /><Relationship Type="http://schemas.openxmlformats.org/officeDocument/2006/relationships/image" Target="/ppt/media/image96.png" Id="Rb979237589374af3" /><Relationship Type="http://schemas.openxmlformats.org/officeDocument/2006/relationships/image" Target="/ppt/media/image97.png" Id="Rb4a050981693445a" /><Relationship Type="http://schemas.openxmlformats.org/officeDocument/2006/relationships/image" Target="/ppt/media/image98.png" Id="Rf2b41eaad39940e8" /><Relationship Type="http://schemas.openxmlformats.org/officeDocument/2006/relationships/image" Target="/ppt/media/image99.png" Id="R119bb0fbc86e463f" /><Relationship Type="http://schemas.openxmlformats.org/officeDocument/2006/relationships/image" Target="/ppt/media/image100.png" Id="Rd242200fc3174222" /><Relationship Type="http://schemas.openxmlformats.org/officeDocument/2006/relationships/image" Target="/ppt/media/image101.png" Id="R6dd23479d5f74adf" /><Relationship Type="http://schemas.openxmlformats.org/officeDocument/2006/relationships/image" Target="/ppt/media/image102.png" Id="R79a423816a8b4c28" /><Relationship Type="http://schemas.openxmlformats.org/officeDocument/2006/relationships/image" Target="/ppt/media/image103.png" Id="R155e587b00f3402b" /><Relationship Type="http://schemas.openxmlformats.org/officeDocument/2006/relationships/image" Target="/ppt/media/image104.png" Id="R95f0cb86a8814dcd" /><Relationship Type="http://schemas.openxmlformats.org/officeDocument/2006/relationships/image" Target="/ppt/media/image105.png" Id="R791c551d5bbc43e9" /><Relationship Type="http://schemas.openxmlformats.org/officeDocument/2006/relationships/image" Target="/ppt/media/image106.png" Id="R0010691cf20941fa" /><Relationship Type="http://schemas.openxmlformats.org/officeDocument/2006/relationships/image" Target="/ppt/media/image107.png" Id="R7f84013ce59e4d13" /><Relationship Type="http://schemas.openxmlformats.org/officeDocument/2006/relationships/image" Target="/ppt/media/image108.png" Id="R330fb7b5dfd74efc" /><Relationship Type="http://schemas.openxmlformats.org/officeDocument/2006/relationships/image" Target="/ppt/media/image109.png" Id="R4861499407a54a02" /><Relationship Type="http://schemas.openxmlformats.org/officeDocument/2006/relationships/image" Target="/ppt/media/image110.png" Id="Rbcca7aa94f9445b9" /><Relationship Type="http://schemas.openxmlformats.org/officeDocument/2006/relationships/image" Target="/ppt/media/image111.png" Id="Rb29b805fffdf44ba" /><Relationship Type="http://schemas.openxmlformats.org/officeDocument/2006/relationships/image" Target="/ppt/media/image112.png" Id="Rb7276521a4a54741" /><Relationship Type="http://schemas.openxmlformats.org/officeDocument/2006/relationships/hyperlink" Target="https://athletixai.onrender.com" TargetMode="External" Id="R720e9056c2144581" /><Relationship Type="http://schemas.openxmlformats.org/officeDocument/2006/relationships/notesSlide" Target="/ppt/notesSlides/notesSlide2.xml" Id="Rd769b4e86dc2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c3957826345db" /><Relationship Type="http://schemas.openxmlformats.org/officeDocument/2006/relationships/image" Target="/ppt/media/image113.png" Id="R3d7c9b726b0c4a43" /><Relationship Type="http://schemas.openxmlformats.org/officeDocument/2006/relationships/image" Target="/ppt/media/image114.png" Id="R64d38a0a777344e4" /><Relationship Type="http://schemas.openxmlformats.org/officeDocument/2006/relationships/image" Target="/ppt/media/image115.png" Id="Rab928c7a5a2440ec" /><Relationship Type="http://schemas.openxmlformats.org/officeDocument/2006/relationships/image" Target="/ppt/media/image116.png" Id="Re06ab518d91b4cfe" /><Relationship Type="http://schemas.openxmlformats.org/officeDocument/2006/relationships/image" Target="/ppt/media/image117.png" Id="R9e9b1bbd0c524f41" /><Relationship Type="http://schemas.openxmlformats.org/officeDocument/2006/relationships/image" Target="/ppt/media/image118.png" Id="R258e1cb35f394d77" /><Relationship Type="http://schemas.openxmlformats.org/officeDocument/2006/relationships/image" Target="/ppt/media/image119.png" Id="R4cee7c878a0a41ce" /><Relationship Type="http://schemas.openxmlformats.org/officeDocument/2006/relationships/image" Target="/ppt/media/image120.png" Id="R26dce0e78575478e" /><Relationship Type="http://schemas.openxmlformats.org/officeDocument/2006/relationships/image" Target="/ppt/media/image121.png" Id="Ra7958a0c85674e77" /><Relationship Type="http://schemas.openxmlformats.org/officeDocument/2006/relationships/image" Target="/ppt/media/image122.png" Id="R5ad3f4398aa648a2" /><Relationship Type="http://schemas.openxmlformats.org/officeDocument/2006/relationships/image" Target="/ppt/media/image123.png" Id="R15c902dce2ee4bc5" /><Relationship Type="http://schemas.openxmlformats.org/officeDocument/2006/relationships/image" Target="/ppt/media/image124.png" Id="R292642092cf24e84" /><Relationship Type="http://schemas.openxmlformats.org/officeDocument/2006/relationships/image" Target="/ppt/media/image125.png" Id="Red2c129372e74d53" /><Relationship Type="http://schemas.openxmlformats.org/officeDocument/2006/relationships/image" Target="/ppt/media/image126.png" Id="Red9b1832bfbf4ef7" /><Relationship Type="http://schemas.openxmlformats.org/officeDocument/2006/relationships/image" Target="/ppt/media/image127.png" Id="R2ac452669c5b4768" /><Relationship Type="http://schemas.openxmlformats.org/officeDocument/2006/relationships/image" Target="/ppt/media/image128.png" Id="R4ac036d55df941ea" /><Relationship Type="http://schemas.openxmlformats.org/officeDocument/2006/relationships/image" Target="/ppt/media/image129.png" Id="R190eb210f685483b" /><Relationship Type="http://schemas.openxmlformats.org/officeDocument/2006/relationships/image" Target="/ppt/media/image130.png" Id="Rafaab11aba374217" /><Relationship Type="http://schemas.openxmlformats.org/officeDocument/2006/relationships/image" Target="/ppt/media/image131.png" Id="R81104d4e69e7425b" /><Relationship Type="http://schemas.openxmlformats.org/officeDocument/2006/relationships/image" Target="/ppt/media/image132.png" Id="R9783e35f09bf4af2" /><Relationship Type="http://schemas.openxmlformats.org/officeDocument/2006/relationships/image" Target="/ppt/media/image133.png" Id="R0b33f1f434e54abd" /><Relationship Type="http://schemas.openxmlformats.org/officeDocument/2006/relationships/image" Target="/ppt/media/image134.png" Id="Ra5351ed22ef14e13" /><Relationship Type="http://schemas.openxmlformats.org/officeDocument/2006/relationships/image" Target="/ppt/media/image135.png" Id="R4d2b590cab224787" /><Relationship Type="http://schemas.openxmlformats.org/officeDocument/2006/relationships/image" Target="/ppt/media/image136.png" Id="R2033795bf35a43df" /><Relationship Type="http://schemas.openxmlformats.org/officeDocument/2006/relationships/image" Target="/ppt/media/image137.png" Id="Ree7972dfec494148" /><Relationship Type="http://schemas.openxmlformats.org/officeDocument/2006/relationships/image" Target="/ppt/media/image138.png" Id="Ra46f0cc5f50b4af6" /><Relationship Type="http://schemas.openxmlformats.org/officeDocument/2006/relationships/image" Target="/ppt/media/image139.png" Id="R6ca1cffa3bda4b48" /><Relationship Type="http://schemas.openxmlformats.org/officeDocument/2006/relationships/image" Target="/ppt/media/image140.png" Id="R8e03bcc219754bfc" /><Relationship Type="http://schemas.openxmlformats.org/officeDocument/2006/relationships/image" Target="/ppt/media/image141.png" Id="Rbe20df3b8ab44bd9" /><Relationship Type="http://schemas.openxmlformats.org/officeDocument/2006/relationships/image" Target="/ppt/media/image142.png" Id="R4722d9c2e9394bb3" /><Relationship Type="http://schemas.openxmlformats.org/officeDocument/2006/relationships/image" Target="/ppt/media/image143.png" Id="Rf25df7cc4d854415" /><Relationship Type="http://schemas.openxmlformats.org/officeDocument/2006/relationships/image" Target="/ppt/media/image144.png" Id="R62145e3a10c7495f" /><Relationship Type="http://schemas.openxmlformats.org/officeDocument/2006/relationships/image" Target="/ppt/media/image145.png" Id="R34b8d92eca1f4d2d" /><Relationship Type="http://schemas.openxmlformats.org/officeDocument/2006/relationships/image" Target="/ppt/media/image146.png" Id="Re15b8b9f4bd74f07" /><Relationship Type="http://schemas.openxmlformats.org/officeDocument/2006/relationships/image" Target="/ppt/media/image147.png" Id="Rdbf2bccda2f34042" /><Relationship Type="http://schemas.openxmlformats.org/officeDocument/2006/relationships/image" Target="/ppt/media/image148.png" Id="Rb7f257a0af4e47e2" /><Relationship Type="http://schemas.openxmlformats.org/officeDocument/2006/relationships/image" Target="/ppt/media/image149.png" Id="R2cb6cb41f3cd481d" /><Relationship Type="http://schemas.openxmlformats.org/officeDocument/2006/relationships/image" Target="/ppt/media/image150.png" Id="R0a9be7d7b9614ffc" /><Relationship Type="http://schemas.openxmlformats.org/officeDocument/2006/relationships/image" Target="/ppt/media/image151.png" Id="R82dc51906df246be" /><Relationship Type="http://schemas.openxmlformats.org/officeDocument/2006/relationships/image" Target="/ppt/media/image152.png" Id="R5f379cf0556d4707" /><Relationship Type="http://schemas.openxmlformats.org/officeDocument/2006/relationships/image" Target="/ppt/media/image153.png" Id="R2aad931da40d46c6" /><Relationship Type="http://schemas.openxmlformats.org/officeDocument/2006/relationships/image" Target="/ppt/media/image154.png" Id="R230da1f3d6b14127" /><Relationship Type="http://schemas.openxmlformats.org/officeDocument/2006/relationships/image" Target="/ppt/media/image155.png" Id="Rc29760e939324b05" /><Relationship Type="http://schemas.openxmlformats.org/officeDocument/2006/relationships/image" Target="/ppt/media/image156.png" Id="R44c14c4127ca4d9a" /><Relationship Type="http://schemas.openxmlformats.org/officeDocument/2006/relationships/image" Target="/ppt/media/image157.png" Id="R7adacce874da42dc" /><Relationship Type="http://schemas.openxmlformats.org/officeDocument/2006/relationships/image" Target="/ppt/media/image158.png" Id="R95fc11ada5bb4ebe" /><Relationship Type="http://schemas.openxmlformats.org/officeDocument/2006/relationships/image" Target="/ppt/media/image159.png" Id="R806132ffc0ad4283" /><Relationship Type="http://schemas.openxmlformats.org/officeDocument/2006/relationships/image" Target="/ppt/media/image160.png" Id="R3b8211b5973749d7" /><Relationship Type="http://schemas.openxmlformats.org/officeDocument/2006/relationships/image" Target="/ppt/media/image161.png" Id="R9c60795d60904efa" /><Relationship Type="http://schemas.openxmlformats.org/officeDocument/2006/relationships/image" Target="/ppt/media/image162.png" Id="Rf7807cb412a54a41" /><Relationship Type="http://schemas.openxmlformats.org/officeDocument/2006/relationships/hyperlink" Target="https://athletixai.onrender.com" TargetMode="External" Id="Rc809835c557841d5" /><Relationship Type="http://schemas.openxmlformats.org/officeDocument/2006/relationships/notesSlide" Target="/ppt/notesSlides/notesSlide3.xml" Id="R3445948c315c4f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34fda48794fdc" /><Relationship Type="http://schemas.openxmlformats.org/officeDocument/2006/relationships/image" Target="/ppt/media/image163.png" Id="R96c92dcf7583473c" /><Relationship Type="http://schemas.openxmlformats.org/officeDocument/2006/relationships/image" Target="/ppt/media/image164.png" Id="R020cf03c88e34492" /><Relationship Type="http://schemas.openxmlformats.org/officeDocument/2006/relationships/image" Target="/ppt/media/image165.png" Id="R71488be463644fb0" /><Relationship Type="http://schemas.openxmlformats.org/officeDocument/2006/relationships/image" Target="/ppt/media/image166.png" Id="Rd5eca253ef75402b" /><Relationship Type="http://schemas.openxmlformats.org/officeDocument/2006/relationships/image" Target="/ppt/media/image167.png" Id="Ref92d6a019374efd" /><Relationship Type="http://schemas.openxmlformats.org/officeDocument/2006/relationships/image" Target="/ppt/media/image168.png" Id="Ra68b313adcb842b3" /><Relationship Type="http://schemas.openxmlformats.org/officeDocument/2006/relationships/image" Target="/ppt/media/image169.png" Id="Ra5eff948fc7f4f9d" /><Relationship Type="http://schemas.openxmlformats.org/officeDocument/2006/relationships/image" Target="/ppt/media/image170.png" Id="R64e53468616c4628" /><Relationship Type="http://schemas.openxmlformats.org/officeDocument/2006/relationships/image" Target="/ppt/media/image171.png" Id="R2d6f9493e4d4430b" /><Relationship Type="http://schemas.openxmlformats.org/officeDocument/2006/relationships/image" Target="/ppt/media/image172.png" Id="R0137fe3d1c03415c" /><Relationship Type="http://schemas.openxmlformats.org/officeDocument/2006/relationships/image" Target="/ppt/media/image173.png" Id="Rc79a70d866d44f0b" /><Relationship Type="http://schemas.openxmlformats.org/officeDocument/2006/relationships/image" Target="/ppt/media/image174.png" Id="R499465e807ab4837" /><Relationship Type="http://schemas.openxmlformats.org/officeDocument/2006/relationships/image" Target="/ppt/media/image175.png" Id="R38b8ed088de94e76" /><Relationship Type="http://schemas.openxmlformats.org/officeDocument/2006/relationships/image" Target="/ppt/media/image176.png" Id="R7e2ea8612ca44bf7" /><Relationship Type="http://schemas.openxmlformats.org/officeDocument/2006/relationships/image" Target="/ppt/media/image177.png" Id="Rea067e11e246409b" /><Relationship Type="http://schemas.openxmlformats.org/officeDocument/2006/relationships/image" Target="/ppt/media/image178.png" Id="Re3959e89415f48f2" /><Relationship Type="http://schemas.openxmlformats.org/officeDocument/2006/relationships/image" Target="/ppt/media/image179.png" Id="R7012935183ec4f34" /><Relationship Type="http://schemas.openxmlformats.org/officeDocument/2006/relationships/image" Target="/ppt/media/image180.png" Id="R7b64c6c250284cc9" /><Relationship Type="http://schemas.openxmlformats.org/officeDocument/2006/relationships/image" Target="/ppt/media/image181.png" Id="R2a2e381d54be4514" /><Relationship Type="http://schemas.openxmlformats.org/officeDocument/2006/relationships/image" Target="/ppt/media/image182.png" Id="R5c07646f526d4045" /><Relationship Type="http://schemas.openxmlformats.org/officeDocument/2006/relationships/image" Target="/ppt/media/image183.png" Id="R531eb005316e4468" /><Relationship Type="http://schemas.openxmlformats.org/officeDocument/2006/relationships/image" Target="/ppt/media/image184.png" Id="R2fd8edd0462944dd" /><Relationship Type="http://schemas.openxmlformats.org/officeDocument/2006/relationships/image" Target="/ppt/media/image185.png" Id="Rf86daccbfd324c1f" /><Relationship Type="http://schemas.openxmlformats.org/officeDocument/2006/relationships/image" Target="/ppt/media/image186.png" Id="Rd7f2ecdc8b9f443e" /><Relationship Type="http://schemas.openxmlformats.org/officeDocument/2006/relationships/image" Target="/ppt/media/image187.png" Id="R9e4489c451854d6c" /><Relationship Type="http://schemas.openxmlformats.org/officeDocument/2006/relationships/image" Target="/ppt/media/image188.png" Id="R021a34c2e7ef433f" /><Relationship Type="http://schemas.openxmlformats.org/officeDocument/2006/relationships/image" Target="/ppt/media/image189.png" Id="R5a489223c9d34fab" /><Relationship Type="http://schemas.openxmlformats.org/officeDocument/2006/relationships/image" Target="/ppt/media/image190.png" Id="R2b3353df9ac34968" /><Relationship Type="http://schemas.openxmlformats.org/officeDocument/2006/relationships/image" Target="/ppt/media/image191.png" Id="R59746d065eb442ed" /><Relationship Type="http://schemas.openxmlformats.org/officeDocument/2006/relationships/image" Target="/ppt/media/image192.png" Id="R3754cd7cfc6948dc" /><Relationship Type="http://schemas.openxmlformats.org/officeDocument/2006/relationships/image" Target="/ppt/media/image193.png" Id="R8183156795e44dcd" /><Relationship Type="http://schemas.openxmlformats.org/officeDocument/2006/relationships/image" Target="/ppt/media/image194.png" Id="R43def03a91e74332" /><Relationship Type="http://schemas.openxmlformats.org/officeDocument/2006/relationships/image" Target="/ppt/media/image195.png" Id="R769ba546ba39445c" /><Relationship Type="http://schemas.openxmlformats.org/officeDocument/2006/relationships/image" Target="/ppt/media/image196.png" Id="Rde3caf07fe5f45e8" /><Relationship Type="http://schemas.openxmlformats.org/officeDocument/2006/relationships/image" Target="/ppt/media/image197.png" Id="Re990f080396342e4" /><Relationship Type="http://schemas.openxmlformats.org/officeDocument/2006/relationships/image" Target="/ppt/media/image198.png" Id="R1fca3e7693e24aa4" /><Relationship Type="http://schemas.openxmlformats.org/officeDocument/2006/relationships/image" Target="/ppt/media/image199.png" Id="Rebf6674d118e4202" /><Relationship Type="http://schemas.openxmlformats.org/officeDocument/2006/relationships/image" Target="/ppt/media/image200.png" Id="Re2cd33dd9b1f4aa7" /><Relationship Type="http://schemas.openxmlformats.org/officeDocument/2006/relationships/image" Target="/ppt/media/image201.png" Id="R0e4be866563d445d" /><Relationship Type="http://schemas.openxmlformats.org/officeDocument/2006/relationships/image" Target="/ppt/media/image202.png" Id="Raccc3891d40d4e2a" /><Relationship Type="http://schemas.openxmlformats.org/officeDocument/2006/relationships/image" Target="/ppt/media/image203.png" Id="R25c9f95f6b9d4c3c" /><Relationship Type="http://schemas.openxmlformats.org/officeDocument/2006/relationships/image" Target="/ppt/media/image204.png" Id="R53064e1d3e7944a6" /><Relationship Type="http://schemas.openxmlformats.org/officeDocument/2006/relationships/image" Target="/ppt/media/image205.png" Id="R10d0af6db1b34bd9" /><Relationship Type="http://schemas.openxmlformats.org/officeDocument/2006/relationships/image" Target="/ppt/media/image206.png" Id="R09eab4e993ba458c" /><Relationship Type="http://schemas.openxmlformats.org/officeDocument/2006/relationships/image" Target="/ppt/media/image207.png" Id="R7b565c8dd5f24818" /><Relationship Type="http://schemas.openxmlformats.org/officeDocument/2006/relationships/image" Target="/ppt/media/image208.png" Id="R20e68cf5659342d8" /><Relationship Type="http://schemas.openxmlformats.org/officeDocument/2006/relationships/image" Target="/ppt/media/image209.png" Id="Ra7c0e4a123504526" /><Relationship Type="http://schemas.openxmlformats.org/officeDocument/2006/relationships/image" Target="/ppt/media/image210.png" Id="R2f62dbba12304bc2" /><Relationship Type="http://schemas.openxmlformats.org/officeDocument/2006/relationships/image" Target="/ppt/media/image211.png" Id="R89f76a614635470c" /><Relationship Type="http://schemas.openxmlformats.org/officeDocument/2006/relationships/hyperlink" Target="https://athletixai.onrender.com" TargetMode="External" Id="R5cd9f8ca93254574" /><Relationship Type="http://schemas.openxmlformats.org/officeDocument/2006/relationships/notesSlide" Target="/ppt/notesSlides/notesSlide4.xml" Id="R50f85e93fc57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c38886ada49d6" /><Relationship Type="http://schemas.openxmlformats.org/officeDocument/2006/relationships/image" Target="/ppt/media/image212.png" Id="Rf1e785f853e94ee7" /><Relationship Type="http://schemas.openxmlformats.org/officeDocument/2006/relationships/image" Target="/ppt/media/image213.png" Id="Rd56bc944a5974b85" /><Relationship Type="http://schemas.openxmlformats.org/officeDocument/2006/relationships/image" Target="/ppt/media/image214.png" Id="R94ce7108027949cf" /><Relationship Type="http://schemas.openxmlformats.org/officeDocument/2006/relationships/image" Target="/ppt/media/image215.png" Id="Raabb3c4e1d9f4c12" /><Relationship Type="http://schemas.openxmlformats.org/officeDocument/2006/relationships/image" Target="/ppt/media/image216.png" Id="R9326bd16ef104430" /><Relationship Type="http://schemas.openxmlformats.org/officeDocument/2006/relationships/image" Target="/ppt/media/image217.png" Id="Rb38fab57b9bd4bba" /><Relationship Type="http://schemas.openxmlformats.org/officeDocument/2006/relationships/image" Target="/ppt/media/image218.png" Id="R2c8d85e7b48441dc" /><Relationship Type="http://schemas.openxmlformats.org/officeDocument/2006/relationships/image" Target="/ppt/media/image219.png" Id="Ra9f3225cc7a249fa" /><Relationship Type="http://schemas.openxmlformats.org/officeDocument/2006/relationships/image" Target="/ppt/media/image220.png" Id="R901646649700410b" /><Relationship Type="http://schemas.openxmlformats.org/officeDocument/2006/relationships/image" Target="/ppt/media/image221.png" Id="R0bbd122e7be04014" /><Relationship Type="http://schemas.openxmlformats.org/officeDocument/2006/relationships/image" Target="/ppt/media/image222.png" Id="R1d680a86e8054bcf" /><Relationship Type="http://schemas.openxmlformats.org/officeDocument/2006/relationships/image" Target="/ppt/media/image223.png" Id="Ra48a581ea83847ab" /><Relationship Type="http://schemas.openxmlformats.org/officeDocument/2006/relationships/image" Target="/ppt/media/image224.png" Id="R5c9cae325c354f2f" /><Relationship Type="http://schemas.openxmlformats.org/officeDocument/2006/relationships/image" Target="/ppt/media/image225.png" Id="R551291af2e2e432d" /><Relationship Type="http://schemas.openxmlformats.org/officeDocument/2006/relationships/image" Target="/ppt/media/image226.png" Id="R5d9f91b0c1f84166" /><Relationship Type="http://schemas.openxmlformats.org/officeDocument/2006/relationships/image" Target="/ppt/media/image227.png" Id="Rabb92c13df674755" /><Relationship Type="http://schemas.openxmlformats.org/officeDocument/2006/relationships/image" Target="/ppt/media/image228.png" Id="R3c5d252402394037" /><Relationship Type="http://schemas.openxmlformats.org/officeDocument/2006/relationships/image" Target="/ppt/media/image229.png" Id="Rbee68026780641d8" /><Relationship Type="http://schemas.openxmlformats.org/officeDocument/2006/relationships/image" Target="/ppt/media/image230.png" Id="R68fd5b8bf6dc44cd" /><Relationship Type="http://schemas.openxmlformats.org/officeDocument/2006/relationships/image" Target="/ppt/media/image231.png" Id="R6deb620919f94b24" /><Relationship Type="http://schemas.openxmlformats.org/officeDocument/2006/relationships/image" Target="/ppt/media/image232.png" Id="Ra13c8a3db4264472" /><Relationship Type="http://schemas.openxmlformats.org/officeDocument/2006/relationships/image" Target="/ppt/media/image233.png" Id="R36629ac082d34bf1" /><Relationship Type="http://schemas.openxmlformats.org/officeDocument/2006/relationships/image" Target="/ppt/media/image234.png" Id="R379d9da63ae44395" /><Relationship Type="http://schemas.openxmlformats.org/officeDocument/2006/relationships/image" Target="/ppt/media/image235.png" Id="R2d8d7ea4dc0f4bff" /><Relationship Type="http://schemas.openxmlformats.org/officeDocument/2006/relationships/image" Target="/ppt/media/image236.png" Id="R232580204947499b" /><Relationship Type="http://schemas.openxmlformats.org/officeDocument/2006/relationships/image" Target="/ppt/media/image237.png" Id="R3e887a645d754fab" /><Relationship Type="http://schemas.openxmlformats.org/officeDocument/2006/relationships/image" Target="/ppt/media/image238.png" Id="R935b45e4740c41c8" /><Relationship Type="http://schemas.openxmlformats.org/officeDocument/2006/relationships/image" Target="/ppt/media/image239.png" Id="Rd26b1d0ae913456b" /><Relationship Type="http://schemas.openxmlformats.org/officeDocument/2006/relationships/image" Target="/ppt/media/image240.png" Id="Rdc1ef4669670490f" /><Relationship Type="http://schemas.openxmlformats.org/officeDocument/2006/relationships/image" Target="/ppt/media/image241.png" Id="R7d4f25ebd11e4b21" /><Relationship Type="http://schemas.openxmlformats.org/officeDocument/2006/relationships/image" Target="/ppt/media/image242.png" Id="Ree5d3f2bd8274db3" /><Relationship Type="http://schemas.openxmlformats.org/officeDocument/2006/relationships/image" Target="/ppt/media/image243.png" Id="R434e88b94e964ef5" /><Relationship Type="http://schemas.openxmlformats.org/officeDocument/2006/relationships/image" Target="/ppt/media/image244.png" Id="Raccd2dbbe3c94516" /><Relationship Type="http://schemas.openxmlformats.org/officeDocument/2006/relationships/image" Target="/ppt/media/image245.png" Id="R64d8c86b82294bef" /><Relationship Type="http://schemas.openxmlformats.org/officeDocument/2006/relationships/image" Target="/ppt/media/image246.png" Id="Rfc79e29de2e24424" /><Relationship Type="http://schemas.openxmlformats.org/officeDocument/2006/relationships/hyperlink" Target="https://ai.google.dev/edge/mediapipe" TargetMode="External" Id="R637bdb3351a3425d" /><Relationship Type="http://schemas.openxmlformats.org/officeDocument/2006/relationships/image" Target="/ppt/media/image247.png" Id="R636340d880b3432d" /><Relationship Type="http://schemas.openxmlformats.org/officeDocument/2006/relationships/hyperlink" Target="https://arxiv.org/abs/2006.10204" TargetMode="External" Id="Rcf3a9349c0e64947" /><Relationship Type="http://schemas.openxmlformats.org/officeDocument/2006/relationships/image" Target="/ppt/media/image248.png" Id="R8c5e4e568fa94dc0" /><Relationship Type="http://schemas.openxmlformats.org/officeDocument/2006/relationships/hyperlink" Target="https://www.nist.gov/itl/ai-risk-management-framework" TargetMode="External" Id="R51c7e844e2ca42cc" /><Relationship Type="http://schemas.openxmlformats.org/officeDocument/2006/relationships/image" Target="/ppt/media/image249.png" Id="R565b0b8439a443e1" /><Relationship Type="http://schemas.openxmlformats.org/officeDocument/2006/relationships/image" Target="/ppt/media/image250.png" Id="R06d1e937e08f42a9" /><Relationship Type="http://schemas.openxmlformats.org/officeDocument/2006/relationships/image" Target="/ppt/media/image251.png" Id="R8e7eb17b2b044c98" /><Relationship Type="http://schemas.openxmlformats.org/officeDocument/2006/relationships/hyperlink" Target="https://kheloindia.gov.in" TargetMode="External" Id="R32546b43db4145cb" /><Relationship Type="http://schemas.openxmlformats.org/officeDocument/2006/relationships/image" Target="/ppt/media/image252.png" Id="R24213518d2b44ee0" /><Relationship Type="http://schemas.openxmlformats.org/officeDocument/2006/relationships/image" Target="/ppt/media/image253.png" Id="R156f2cfc4db14c92" /><Relationship Type="http://schemas.openxmlformats.org/officeDocument/2006/relationships/image" Target="/ppt/media/image254.png" Id="R4e41e92db1be4e08" /><Relationship Type="http://schemas.openxmlformats.org/officeDocument/2006/relationships/image" Target="/ppt/media/image255.png" Id="R843c840caa924493" /><Relationship Type="http://schemas.openxmlformats.org/officeDocument/2006/relationships/image" Target="/ppt/media/image256.png" Id="R4f8e6aadb4d740a5" /><Relationship Type="http://schemas.openxmlformats.org/officeDocument/2006/relationships/image" Target="/ppt/media/image257.png" Id="R5a2949b718134e7b" /><Relationship Type="http://schemas.openxmlformats.org/officeDocument/2006/relationships/image" Target="/ppt/media/image258.png" Id="R44055cf3f6564116" /><Relationship Type="http://schemas.openxmlformats.org/officeDocument/2006/relationships/image" Target="/ppt/media/image259.png" Id="Rb56e77b684954aa6" /><Relationship Type="http://schemas.openxmlformats.org/officeDocument/2006/relationships/image" Target="/ppt/media/image260.png" Id="R9da1ff46d5214f8d" /><Relationship Type="http://schemas.openxmlformats.org/officeDocument/2006/relationships/image" Target="/ppt/media/image261.png" Id="Rd6b35ed435404149" /><Relationship Type="http://schemas.openxmlformats.org/officeDocument/2006/relationships/image" Target="/ppt/media/image262.png" Id="R653211f2ca3148e0" /><Relationship Type="http://schemas.openxmlformats.org/officeDocument/2006/relationships/image" Target="/ppt/media/image263.png" Id="R62acfafb7599455e" /><Relationship Type="http://schemas.openxmlformats.org/officeDocument/2006/relationships/image" Target="/ppt/media/image264.png" Id="R3aec5ddae558414c" /><Relationship Type="http://schemas.openxmlformats.org/officeDocument/2006/relationships/image" Target="/ppt/media/image265.png" Id="R8526573355aa4d27" /><Relationship Type="http://schemas.openxmlformats.org/officeDocument/2006/relationships/image" Target="/ppt/media/image266.png" Id="R8dc453b0f33b4e25" /><Relationship Type="http://schemas.openxmlformats.org/officeDocument/2006/relationships/hyperlink" Target="https://athletixai.onrender.com" TargetMode="External" Id="R64a58ba0afcb45e0" /><Relationship Type="http://schemas.openxmlformats.org/officeDocument/2006/relationships/image" Target="/ppt/media/image267.png" Id="R17e8ab26f1a74d22" /><Relationship Type="http://schemas.openxmlformats.org/officeDocument/2006/relationships/hyperlink" Target="https://github.com/manthandhanraj/AthletixAI" TargetMode="External" Id="R42c3c35f30564afb" /><Relationship Type="http://schemas.openxmlformats.org/officeDocument/2006/relationships/image" Target="/ppt/media/image268.png" Id="R2b9f06a80be94c3e" /><Relationship Type="http://schemas.openxmlformats.org/officeDocument/2006/relationships/notesSlide" Target="/ppt/notesSlides/notesSlide5.xml" Id="R63127ada4d4346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12161d8a94124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2c881f58448ee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bfb2b488a469e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0718475b8451a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ea8c8479946f6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cdd7206d44890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f927f81344cb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6f208b24545cf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67cca34f544a0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1145a97c24e92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1a1792c5848c5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b260d641a4a40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14e3ad264c3c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28e8de62749b6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f570c746b4dd5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5c26334e3432c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4f4ec9f334f49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6a337a3494cdd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d06b25f664314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20672f3224eb5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87202583a4345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54a4b6fa7446c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d0a95b7d4ad6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7ee95b0ed42e3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f8ba3cca94c70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489e3fd7c404d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09aa1e26c43d7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dc3d722ae43d5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f291cbb164f12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c3fedc7364d5f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1ceb0eee54da2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8816ebad34750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: AthletixAI">
            <a:extLst xmlns:a="http://schemas.openxmlformats.org/drawingml/2006/main">
              <a:ext uri="{FF2B5EF4-FFF2-40B4-BE49-F238E27FC236}">
                <a16:creationId xmlns:a16="http://schemas.microsoft.com/office/drawing/2014/main" id="{F4250404-B8C3-40DF-B962-D39FE053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2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7543A982-7CEB-49A5-900E-3C2CCB2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: SYSTEM ARCHITECTURE">
            <a:extLst xmlns:a="http://schemas.openxmlformats.org/drawingml/2006/main">
              <a:ext uri="{FF2B5EF4-FFF2-40B4-BE49-F238E27FC236}">
                <a16:creationId xmlns:a16="http://schemas.microsoft.com/office/drawing/2014/main" id="{03114FBC-16C9-46D0-8B87-322D83CD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5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SYSTEM ARCHITECTURE</a:t>
            </a:r>
          </a:p>
        </p:txBody>
      </p:sp>
      <p:sp>
        <p:nvSpPr>
          <p:cNvPr id="36" name="Text 4: Local video analysis with secure report storage">
            <a:extLst xmlns:a="http://schemas.openxmlformats.org/drawingml/2006/main">
              <a:ext uri="{FF2B5EF4-FFF2-40B4-BE49-F238E27FC236}">
                <a16:creationId xmlns:a16="http://schemas.microsoft.com/office/drawing/2014/main" id="{75A91A9C-0453-48F0-AA1B-B9328097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9532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Local video analysis with secure report storage</a:t>
            </a:r>
          </a:p>
        </p:txBody>
      </p:sp>
      <p:sp>
        <p:nvSpPr>
          <p:cNvPr id="37" name="Panel 5">
            <a:extLst xmlns:a="http://schemas.openxmlformats.org/drawingml/2006/main">
              <a:ext uri="{FF2B5EF4-FFF2-40B4-BE49-F238E27FC236}">
                <a16:creationId xmlns:a16="http://schemas.microsoft.com/office/drawing/2014/main" id="{A4ECA3E0-73EE-448C-B384-4A206DC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90625"/>
            <a:ext cx="7715250" cy="5572125"/>
          </a:xfrm>
          <a:prstGeom xmlns:a="http://schemas.openxmlformats.org/drawingml/2006/main" prst="roundRect">
            <a:avLst>
              <a:gd name="adj" fmla="val 273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6">
            <a:extLst xmlns:a="http://schemas.openxmlformats.org/drawingml/2006/main">
              <a:ext uri="{FF2B5EF4-FFF2-40B4-BE49-F238E27FC236}">
                <a16:creationId xmlns:a16="http://schemas.microsoft.com/office/drawing/2014/main" id="{40269B7A-70A5-4E1B-B8C0-11AFF599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90625"/>
            <a:ext cx="3543300" cy="5572125"/>
          </a:xfrm>
          <a:prstGeom xmlns:a="http://schemas.openxmlformats.org/drawingml/2006/main" prst="roundRect">
            <a:avLst>
              <a:gd name="adj" fmla="val 430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06B9FA"/>
            </a:solidFill>
            <a:prstDash val="solid"/>
          </a:ln>
        </p:spPr>
      </p:sp>
      <p:sp>
        <p:nvSpPr>
          <p:cNvPr id="39" name="Panel 7">
            <a:extLst xmlns:a="http://schemas.openxmlformats.org/drawingml/2006/main">
              <a:ext uri="{FF2B5EF4-FFF2-40B4-BE49-F238E27FC236}">
                <a16:creationId xmlns:a16="http://schemas.microsoft.com/office/drawing/2014/main" id="{FE117146-F53C-496A-A155-746A4F4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1190625"/>
            <a:ext cx="3810000" cy="5572125"/>
          </a:xfrm>
          <a:prstGeom xmlns:a="http://schemas.openxmlformats.org/drawingml/2006/main" prst="roundRect">
            <a:avLst>
              <a:gd name="adj" fmla="val 400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e8e8445b94be1"/>
          <a:stretch xmlns:a="http://schemas.openxmlformats.org/drawingml/2006/main"/>
        </p:blipFill>
        <p:spPr>
          <a:xfrm xmlns:a="http://schemas.openxmlformats.org/drawingml/2006/main">
            <a:off x="495300" y="1476375"/>
            <a:ext cx="485775" cy="438150"/>
          </a:xfrm>
          <a:prstGeom xmlns:a="http://schemas.openxmlformats.org/drawingml/2006/main" prst="rect">
            <a:avLst/>
          </a:prstGeom>
        </p:spPr>
      </p:pic>
      <p:sp>
        <p:nvSpPr>
          <p:cNvPr id="41" name="Text 8: 1  ATHLETE’S BROWSER">
            <a:extLst xmlns:a="http://schemas.openxmlformats.org/drawingml/2006/main">
              <a:ext uri="{FF2B5EF4-FFF2-40B4-BE49-F238E27FC236}">
                <a16:creationId xmlns:a16="http://schemas.microsoft.com/office/drawing/2014/main" id="{21E21E05-AA7D-4B88-8970-244AD441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476375"/>
            <a:ext cx="623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1  ATHLETE’S BROWSER</a:t>
            </a:r>
          </a:p>
        </p:txBody>
      </p:sp>
      <p:sp>
        <p:nvSpPr>
          <p:cNvPr id="42" name="Text 9: Video analysis runs locally in the browser.">
            <a:extLst xmlns:a="http://schemas.openxmlformats.org/drawingml/2006/main">
              <a:ext uri="{FF2B5EF4-FFF2-40B4-BE49-F238E27FC236}">
                <a16:creationId xmlns:a16="http://schemas.microsoft.com/office/drawing/2014/main" id="{22DD00C5-A259-495F-B0FB-1856F03C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analysis runs locally in the browser.</a:t>
            </a:r>
          </a:p>
        </p:txBody>
      </p:sp>
      <p:sp>
        <p:nvSpPr>
          <p:cNvPr id="43" name="Panel 10">
            <a:extLst xmlns:a="http://schemas.openxmlformats.org/drawingml/2006/main">
              <a:ext uri="{FF2B5EF4-FFF2-40B4-BE49-F238E27FC236}">
                <a16:creationId xmlns:a16="http://schemas.microsoft.com/office/drawing/2014/main" id="{4CAF407C-4F45-46E9-A128-CDC6AF01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44" name="Text 11: 1. Video input">
            <a:extLst xmlns:a="http://schemas.openxmlformats.org/drawingml/2006/main">
              <a:ext uri="{FF2B5EF4-FFF2-40B4-BE49-F238E27FC236}">
                <a16:creationId xmlns:a16="http://schemas.microsoft.com/office/drawing/2014/main" id="{25347D24-C5D2-4147-AE19-A323646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1. Video input</a:t>
            </a:r>
          </a:p>
        </p:txBody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f0dbc48b45c2"/>
          <a:stretch xmlns:a="http://schemas.openxmlformats.org/drawingml/2006/main"/>
        </p:blipFill>
        <p:spPr>
          <a:xfrm xmlns:a="http://schemas.openxmlformats.org/drawingml/2006/main">
            <a:off x="809625" y="28860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46" name="Text 12: Live camera or training clip">
            <a:extLst xmlns:a="http://schemas.openxmlformats.org/drawingml/2006/main">
              <a:ext uri="{FF2B5EF4-FFF2-40B4-BE49-F238E27FC236}">
                <a16:creationId xmlns:a16="http://schemas.microsoft.com/office/drawing/2014/main" id="{EA8662C1-63EE-49F3-BF05-96ECB8B1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Live camera or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training clip</a:t>
            </a:r>
          </a:p>
        </p:txBody>
      </p:sp>
      <p:sp>
        <p:nvSpPr>
          <p:cNvPr id="47" name="Editable flow arrow 13">
            <a:extLst xmlns:a="http://schemas.openxmlformats.org/drawingml/2006/main">
              <a:ext uri="{FF2B5EF4-FFF2-40B4-BE49-F238E27FC236}">
                <a16:creationId xmlns:a16="http://schemas.microsoft.com/office/drawing/2014/main" id="{72FD909F-54BA-49A6-96CB-5952A11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48" name="Panel 14">
            <a:extLst xmlns:a="http://schemas.openxmlformats.org/drawingml/2006/main">
              <a:ext uri="{FF2B5EF4-FFF2-40B4-BE49-F238E27FC236}">
                <a16:creationId xmlns:a16="http://schemas.microsoft.com/office/drawing/2014/main" id="{74EA5D0C-D4DF-4887-A17D-3262D295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49" name="Text 15: 2. Pose estimation">
            <a:extLst xmlns:a="http://schemas.openxmlformats.org/drawingml/2006/main">
              <a:ext uri="{FF2B5EF4-FFF2-40B4-BE49-F238E27FC236}">
                <a16:creationId xmlns:a16="http://schemas.microsoft.com/office/drawing/2014/main" id="{5FE0B914-51DA-4237-936D-1C5DDFB9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7650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2. Pose estimation</a:t>
            </a:r>
          </a:p>
        </p:txBody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99a09eeeb4d2f"/>
          <a:stretch xmlns:a="http://schemas.openxmlformats.org/drawingml/2006/main"/>
        </p:blipFill>
        <p:spPr>
          <a:xfrm xmlns:a="http://schemas.openxmlformats.org/drawingml/2006/main">
            <a:off x="2362200" y="3105150"/>
            <a:ext cx="552450" cy="590550"/>
          </a:xfrm>
          <a:prstGeom xmlns:a="http://schemas.openxmlformats.org/drawingml/2006/main" prst="rect">
            <a:avLst/>
          </a:prstGeom>
        </p:spPr>
      </p:pic>
      <p:sp>
        <p:nvSpPr>
          <p:cNvPr id="51" name="Text 16: 33 body landmarks">
            <a:extLst xmlns:a="http://schemas.openxmlformats.org/drawingml/2006/main">
              <a:ext uri="{FF2B5EF4-FFF2-40B4-BE49-F238E27FC236}">
                <a16:creationId xmlns:a16="http://schemas.microsoft.com/office/drawing/2014/main" id="{BACE827D-9000-4B95-BA45-AAC9845C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landmarks</a:t>
            </a:r>
          </a:p>
        </p:txBody>
      </p:sp>
      <p:sp>
        <p:nvSpPr>
          <p:cNvPr id="52" name="Editable flow arrow 17">
            <a:extLst xmlns:a="http://schemas.openxmlformats.org/drawingml/2006/main">
              <a:ext uri="{FF2B5EF4-FFF2-40B4-BE49-F238E27FC236}">
                <a16:creationId xmlns:a16="http://schemas.microsoft.com/office/drawing/2014/main" id="{18038D48-B82F-49D1-8771-10E46C3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53" name="Panel 18">
            <a:extLst xmlns:a="http://schemas.openxmlformats.org/drawingml/2006/main">
              <a:ext uri="{FF2B5EF4-FFF2-40B4-BE49-F238E27FC236}">
                <a16:creationId xmlns:a16="http://schemas.microsoft.com/office/drawing/2014/main" id="{530C4574-82B3-45EE-B4AC-797D3DE4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54" name="Text 19: 3. Quality gate">
            <a:extLst xmlns:a="http://schemas.openxmlformats.org/drawingml/2006/main">
              <a:ext uri="{FF2B5EF4-FFF2-40B4-BE49-F238E27FC236}">
                <a16:creationId xmlns:a16="http://schemas.microsoft.com/office/drawing/2014/main" id="{F5722324-EC3C-4812-999E-4AD86473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3. Quality gate</a:t>
            </a:r>
          </a:p>
        </p:txBody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6d5fc45f74b74"/>
          <a:stretch xmlns:a="http://schemas.openxmlformats.org/drawingml/2006/main"/>
        </p:blipFill>
        <p:spPr>
          <a:xfrm xmlns:a="http://schemas.openxmlformats.org/drawingml/2006/main">
            <a:off x="3819525" y="2971800"/>
            <a:ext cx="638175" cy="752475"/>
          </a:xfrm>
          <a:prstGeom xmlns:a="http://schemas.openxmlformats.org/drawingml/2006/main" prst="rect">
            <a:avLst/>
          </a:prstGeom>
        </p:spPr>
      </p:pic>
      <p:sp>
        <p:nvSpPr>
          <p:cNvPr id="56" name="Text 20: Reject weak visibility or motion">
            <a:extLst xmlns:a="http://schemas.openxmlformats.org/drawingml/2006/main">
              <a:ext uri="{FF2B5EF4-FFF2-40B4-BE49-F238E27FC236}">
                <a16:creationId xmlns:a16="http://schemas.microsoft.com/office/drawing/2014/main" id="{20D89422-C4B0-494E-80FC-5CDB4B3D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Reject weak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visibility or motion</a:t>
            </a:r>
          </a:p>
        </p:txBody>
      </p:sp>
      <p:sp>
        <p:nvSpPr>
          <p:cNvPr id="57" name="Editable flow arrow 21">
            <a:extLst xmlns:a="http://schemas.openxmlformats.org/drawingml/2006/main">
              <a:ext uri="{FF2B5EF4-FFF2-40B4-BE49-F238E27FC236}">
                <a16:creationId xmlns:a16="http://schemas.microsoft.com/office/drawing/2014/main" id="{8B2DE656-EB7B-48BE-A36E-B24D256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58" name="Panel 22">
            <a:extLst xmlns:a="http://schemas.openxmlformats.org/drawingml/2006/main">
              <a:ext uri="{FF2B5EF4-FFF2-40B4-BE49-F238E27FC236}">
                <a16:creationId xmlns:a16="http://schemas.microsoft.com/office/drawing/2014/main" id="{80DF50C6-8190-42BD-8CE3-11CE1E4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59" name="Text 23: 4. Feature extraction">
            <a:extLst xmlns:a="http://schemas.openxmlformats.org/drawingml/2006/main">
              <a:ext uri="{FF2B5EF4-FFF2-40B4-BE49-F238E27FC236}">
                <a16:creationId xmlns:a16="http://schemas.microsoft.com/office/drawing/2014/main" id="{65CA6A64-EB08-494C-97E2-9087EE3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4. Feature</a:t>
            </a:r>
          </a:p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extraction</a:t>
            </a:r>
          </a:p>
        </p:txBody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91eebf06c4eec"/>
          <a:stretch xmlns:a="http://schemas.openxmlformats.org/drawingml/2006/main"/>
        </p:blipFill>
        <p:spPr>
          <a:xfrm xmlns:a="http://schemas.openxmlformats.org/drawingml/2006/main">
            <a:off x="5353050" y="2981325"/>
            <a:ext cx="647700" cy="733425"/>
          </a:xfrm>
          <a:prstGeom xmlns:a="http://schemas.openxmlformats.org/drawingml/2006/main" prst="rect">
            <a:avLst/>
          </a:prstGeom>
        </p:spPr>
      </p:pic>
      <p:sp>
        <p:nvSpPr>
          <p:cNvPr id="61" name="Text 24: Angles, speed, symmetry, cadence">
            <a:extLst xmlns:a="http://schemas.openxmlformats.org/drawingml/2006/main">
              <a:ext uri="{FF2B5EF4-FFF2-40B4-BE49-F238E27FC236}">
                <a16:creationId xmlns:a16="http://schemas.microsoft.com/office/drawing/2014/main" id="{4AB0D36B-242C-49D3-A339-DB8AC909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Angles, speed,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symmetry, cadence</a:t>
            </a:r>
          </a:p>
        </p:txBody>
      </p:sp>
      <p:sp>
        <p:nvSpPr>
          <p:cNvPr id="62" name="Editable flow arrow 25">
            <a:extLst xmlns:a="http://schemas.openxmlformats.org/drawingml/2006/main">
              <a:ext uri="{FF2B5EF4-FFF2-40B4-BE49-F238E27FC236}">
                <a16:creationId xmlns:a16="http://schemas.microsoft.com/office/drawing/2014/main" id="{A6ED11A2-A493-43B7-9130-18B72BC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09925"/>
            <a:ext cx="2762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63" name="Panel 26">
            <a:extLst xmlns:a="http://schemas.openxmlformats.org/drawingml/2006/main">
              <a:ext uri="{FF2B5EF4-FFF2-40B4-BE49-F238E27FC236}">
                <a16:creationId xmlns:a16="http://schemas.microsoft.com/office/drawing/2014/main" id="{9C5EEAB2-A756-4131-9107-40C02A92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33625"/>
            <a:ext cx="1314450" cy="1990725"/>
          </a:xfrm>
          <a:prstGeom xmlns:a="http://schemas.openxmlformats.org/drawingml/2006/main" prst="roundRect">
            <a:avLst>
              <a:gd name="adj" fmla="val 9420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64" name="Text 27: 5. Sport-aware rules">
            <a:extLst xmlns:a="http://schemas.openxmlformats.org/drawingml/2006/main">
              <a:ext uri="{FF2B5EF4-FFF2-40B4-BE49-F238E27FC236}">
                <a16:creationId xmlns:a16="http://schemas.microsoft.com/office/drawing/2014/main" id="{A9BA34FB-1AE9-43AA-879B-2DCF699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5. Sport-aware</a:t>
            </a:r>
          </a:p>
          <a:p xmlns:a="http://schemas.openxmlformats.org/drawingml/2006/main">
            <a:pPr algn="ctr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rules</a:t>
            </a:r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e120ba8494b21"/>
          <a:stretch xmlns:a="http://schemas.openxmlformats.org/drawingml/2006/main"/>
        </p:blipFill>
        <p:spPr>
          <a:xfrm xmlns:a="http://schemas.openxmlformats.org/drawingml/2006/main">
            <a:off x="6848475" y="3019425"/>
            <a:ext cx="600075" cy="657225"/>
          </a:xfrm>
          <a:prstGeom xmlns:a="http://schemas.openxmlformats.org/drawingml/2006/main" prst="rect">
            <a:avLst/>
          </a:prstGeom>
        </p:spPr>
      </p:pic>
      <p:sp>
        <p:nvSpPr>
          <p:cNvPr id="66" name="Text 28: Five metric scores (rule-based)">
            <a:extLst xmlns:a="http://schemas.openxmlformats.org/drawingml/2006/main">
              <a:ext uri="{FF2B5EF4-FFF2-40B4-BE49-F238E27FC236}">
                <a16:creationId xmlns:a16="http://schemas.microsoft.com/office/drawing/2014/main" id="{62686725-031D-4CEF-AADF-9766CAF6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81425"/>
            <a:ext cx="1181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metric scores</a:t>
            </a:r>
          </a:p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(rule-based)</a:t>
            </a:r>
          </a:p>
        </p:txBody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0d352670a4ef0"/>
          <a:stretch xmlns:a="http://schemas.openxmlformats.org/drawingml/2006/main"/>
        </p:blipFill>
        <p:spPr>
          <a:xfrm xmlns:a="http://schemas.openxmlformats.org/drawingml/2006/main">
            <a:off x="2095500" y="2686050"/>
            <a:ext cx="219075" cy="333375"/>
          </a:xfrm>
          <a:prstGeom xmlns:a="http://schemas.openxmlformats.org/drawingml/2006/main" prst="rect">
            <a:avLst/>
          </a:prstGeom>
        </p:spPr>
      </p:pic>
      <p:sp>
        <p:nvSpPr>
          <p:cNvPr id="68" name="Text 29: MediaPipe">
            <a:extLst xmlns:a="http://schemas.openxmlformats.org/drawingml/2006/main">
              <a:ext uri="{FF2B5EF4-FFF2-40B4-BE49-F238E27FC236}">
                <a16:creationId xmlns:a16="http://schemas.microsoft.com/office/drawing/2014/main" id="{D05D8EF3-352C-42D5-9FF0-539E531C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90825"/>
            <a:ext cx="847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69" name="Divider 30">
            <a:extLst xmlns:a="http://schemas.openxmlformats.org/drawingml/2006/main">
              <a:ext uri="{FF2B5EF4-FFF2-40B4-BE49-F238E27FC236}">
                <a16:creationId xmlns:a16="http://schemas.microsoft.com/office/drawing/2014/main" id="{06943784-066D-48EA-BE4E-BF11FC53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0" name="Divider 31">
            <a:extLst xmlns:a="http://schemas.openxmlformats.org/drawingml/2006/main">
              <a:ext uri="{FF2B5EF4-FFF2-40B4-BE49-F238E27FC236}">
                <a16:creationId xmlns:a16="http://schemas.microsoft.com/office/drawing/2014/main" id="{11931078-1144-4247-92E3-6DCCD15F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07682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1" name="Divider 32">
            <a:extLst xmlns:a="http://schemas.openxmlformats.org/drawingml/2006/main">
              <a:ext uri="{FF2B5EF4-FFF2-40B4-BE49-F238E27FC236}">
                <a16:creationId xmlns:a16="http://schemas.microsoft.com/office/drawing/2014/main" id="{7A63BAF4-D89C-431D-A484-EEA35BCE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76825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2" name="Divider 33">
            <a:extLst xmlns:a="http://schemas.openxmlformats.org/drawingml/2006/main">
              <a:ext uri="{FF2B5EF4-FFF2-40B4-BE49-F238E27FC236}">
                <a16:creationId xmlns:a16="http://schemas.microsoft.com/office/drawing/2014/main" id="{6685ACC1-4D84-46DC-9425-26371405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76750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386"/>
            </a:solidFill>
            <a:prstDash val="dash"/>
          </a:ln>
        </p:spPr>
      </p:sp>
      <p:sp>
        <p:nvSpPr>
          <p:cNvPr id="73" name="Editable flow arrow 34">
            <a:extLst xmlns:a="http://schemas.openxmlformats.org/drawingml/2006/main">
              <a:ext uri="{FF2B5EF4-FFF2-40B4-BE49-F238E27FC236}">
                <a16:creationId xmlns:a16="http://schemas.microsoft.com/office/drawing/2014/main" id="{C14756C8-CF5C-4A5F-A9BF-352B8D2D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33875"/>
            <a:ext cx="190500" cy="190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4" name="Panel 35">
            <a:extLst xmlns:a="http://schemas.openxmlformats.org/drawingml/2006/main">
              <a:ext uri="{FF2B5EF4-FFF2-40B4-BE49-F238E27FC236}">
                <a16:creationId xmlns:a16="http://schemas.microsoft.com/office/drawing/2014/main" id="{E50FE0C4-8CD5-42B9-8A1E-ED2323A1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1571625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292337"/>
          </a:solidFill>
          <a:ln xmlns:a="http://schemas.openxmlformats.org/drawingml/2006/main" w="14288">
            <a:solidFill>
              <a:srgbClr val="FF6386"/>
            </a:solidFill>
            <a:prstDash val="solid"/>
          </a:ln>
        </p:spPr>
      </p:sp>
      <p:sp>
        <p:nvSpPr>
          <p:cNvPr id="75" name="Text 36: ↻">
            <a:extLst xmlns:a="http://schemas.openxmlformats.org/drawingml/2006/main">
              <a:ext uri="{FF2B5EF4-FFF2-40B4-BE49-F238E27FC236}">
                <a16:creationId xmlns:a16="http://schemas.microsoft.com/office/drawing/2014/main" id="{12352ED5-7D37-4075-9132-A8AF7DA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57750"/>
            <a:ext cx="447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00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↻</a:t>
            </a:r>
          </a:p>
        </p:txBody>
      </p:sp>
      <p:sp>
        <p:nvSpPr>
          <p:cNvPr id="76" name="Text 37: Retry capture">
            <a:extLst xmlns:a="http://schemas.openxmlformats.org/drawingml/2006/main">
              <a:ext uri="{FF2B5EF4-FFF2-40B4-BE49-F238E27FC236}">
                <a16:creationId xmlns:a16="http://schemas.microsoft.com/office/drawing/2014/main" id="{C6436478-4DC7-4D80-B743-59C392C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101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Retry capture</a:t>
            </a:r>
          </a:p>
        </p:txBody>
      </p:sp>
      <p:sp>
        <p:nvSpPr>
          <p:cNvPr id="77" name="Text 38: Insufficient data">
            <a:extLst xmlns:a="http://schemas.openxmlformats.org/drawingml/2006/main">
              <a:ext uri="{FF2B5EF4-FFF2-40B4-BE49-F238E27FC236}">
                <a16:creationId xmlns:a16="http://schemas.microsoft.com/office/drawing/2014/main" id="{FF5F721B-B037-42A3-AE3B-06619B4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33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Insufficient data</a:t>
            </a:r>
          </a:p>
        </p:txBody>
      </p:sp>
      <p:sp>
        <p:nvSpPr>
          <p:cNvPr id="78" name="Panel 39">
            <a:extLst xmlns:a="http://schemas.openxmlformats.org/drawingml/2006/main">
              <a:ext uri="{FF2B5EF4-FFF2-40B4-BE49-F238E27FC236}">
                <a16:creationId xmlns:a16="http://schemas.microsoft.com/office/drawing/2014/main" id="{C5CD11B5-AB7E-4B48-B2BA-78DBFE0A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7305675" cy="942975"/>
          </a:xfrm>
          <a:prstGeom xmlns:a="http://schemas.openxmlformats.org/drawingml/2006/main" prst="roundRect">
            <a:avLst>
              <a:gd name="adj" fmla="val 15152"/>
            </a:avLst>
          </a:prstGeom>
          <a:gradFill xmlns:a="http://schemas.openxmlformats.org/drawingml/2006/main">
            <a:gsLst>
              <a:gs pos="0">
                <a:srgbClr val="043B36"/>
              </a:gs>
              <a:gs pos="100000">
                <a:srgbClr val="002A30"/>
              </a:gs>
            </a:gsLst>
            <a:lin ang="0"/>
          </a:gradFill>
          <a:ln xmlns:a="http://schemas.openxmlformats.org/drawingml/2006/main" w="14288">
            <a:solidFill>
              <a:srgbClr val="50F4B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4dd4c16414905"/>
          <a:stretch xmlns:a="http://schemas.openxmlformats.org/drawingml/2006/main"/>
        </p:blipFill>
        <p:spPr>
          <a:xfrm xmlns:a="http://schemas.openxmlformats.org/drawingml/2006/main">
            <a:off x="2333625" y="5715000"/>
            <a:ext cx="361950" cy="428625"/>
          </a:xfrm>
          <a:prstGeom xmlns:a="http://schemas.openxmlformats.org/drawingml/2006/main" prst="rect">
            <a:avLst/>
          </a:prstGeom>
        </p:spPr>
      </p:pic>
      <p:sp>
        <p:nvSpPr>
          <p:cNvPr id="80" name="Text 40: Raw video stays on the device">
            <a:extLst xmlns:a="http://schemas.openxmlformats.org/drawingml/2006/main">
              <a:ext uri="{FF2B5EF4-FFF2-40B4-BE49-F238E27FC236}">
                <a16:creationId xmlns:a16="http://schemas.microsoft.com/office/drawing/2014/main" id="{130B8549-146B-4246-85A9-9DDF92B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38825"/>
            <a:ext cx="451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Raw video stays on the device</a:t>
            </a:r>
          </a:p>
        </p:txBody>
      </p:sp>
      <p:sp>
        <p:nvSpPr>
          <p:cNvPr id="81" name="Text 41: All analysis (MediaPipe + feature extraction + scoring) runs in y">
            <a:extLst xmlns:a="http://schemas.openxmlformats.org/drawingml/2006/main">
              <a:ext uri="{FF2B5EF4-FFF2-40B4-BE49-F238E27FC236}">
                <a16:creationId xmlns:a16="http://schemas.microsoft.com/office/drawing/2014/main" id="{879587F7-A453-43B7-956D-AA1CF3E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 analysis (MediaPipe + feature extraction + scoring) runs in your browser.</a:t>
            </a:r>
          </a:p>
        </p:txBody>
      </p:sp>
      <p:sp>
        <p:nvSpPr>
          <p:cNvPr id="82" name="Panel 42">
            <a:extLst xmlns:a="http://schemas.openxmlformats.org/drawingml/2006/main">
              <a:ext uri="{FF2B5EF4-FFF2-40B4-BE49-F238E27FC236}">
                <a16:creationId xmlns:a16="http://schemas.microsoft.com/office/drawing/2014/main" id="{0B658857-8539-4427-AD26-9C84DCC8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66850"/>
            <a:ext cx="295275" cy="314325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06B9FA"/>
            </a:solidFill>
            <a:prstDash val="solid"/>
          </a:ln>
        </p:spPr>
      </p:sp>
      <p:sp>
        <p:nvSpPr>
          <p:cNvPr id="83" name="Text 43: 2">
            <a:extLst xmlns:a="http://schemas.openxmlformats.org/drawingml/2006/main">
              <a:ext uri="{FF2B5EF4-FFF2-40B4-BE49-F238E27FC236}">
                <a16:creationId xmlns:a16="http://schemas.microsoft.com/office/drawing/2014/main" id="{3CD65F11-C25A-4512-9CF0-951035A9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7637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B9FA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1">
                <a:solidFill>
                  <a:srgbClr val="06B9FA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84" name="Text 44: FLASK BACKEND">
            <a:extLst xmlns:a="http://schemas.openxmlformats.org/drawingml/2006/main">
              <a:ext uri="{FF2B5EF4-FFF2-40B4-BE49-F238E27FC236}">
                <a16:creationId xmlns:a16="http://schemas.microsoft.com/office/drawing/2014/main" id="{C3FC5ED3-A9E5-42BC-AAE3-EF96D675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552575"/>
            <a:ext cx="1562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 BACKEND</a:t>
            </a:r>
          </a:p>
        </p:txBody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ab7edcb3c402d"/>
          <a:stretch xmlns:a="http://schemas.openxmlformats.org/drawingml/2006/main"/>
        </p:blipFill>
        <p:spPr>
          <a:xfrm xmlns:a="http://schemas.openxmlformats.org/drawingml/2006/main">
            <a:off x="10210800" y="1447800"/>
            <a:ext cx="409575" cy="457200"/>
          </a:xfrm>
          <a:prstGeom xmlns:a="http://schemas.openxmlformats.org/drawingml/2006/main" prst="rect">
            <a:avLst/>
          </a:prstGeom>
        </p:spPr>
      </p:pic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8fa6b3bc744fa"/>
          <a:stretch xmlns:a="http://schemas.openxmlformats.org/drawingml/2006/main"/>
        </p:blipFill>
        <p:spPr>
          <a:xfrm xmlns:a="http://schemas.openxmlformats.org/drawingml/2006/main">
            <a:off x="10629900" y="1457325"/>
            <a:ext cx="238125" cy="419100"/>
          </a:xfrm>
          <a:prstGeom xmlns:a="http://schemas.openxmlformats.org/drawingml/2006/main" prst="rect">
            <a:avLst/>
          </a:prstGeom>
        </p:spPr>
      </p:pic>
      <p:sp>
        <p:nvSpPr>
          <p:cNvPr id="87" name="Text 45: Flask">
            <a:extLst xmlns:a="http://schemas.openxmlformats.org/drawingml/2006/main">
              <a:ext uri="{FF2B5EF4-FFF2-40B4-BE49-F238E27FC236}">
                <a16:creationId xmlns:a16="http://schemas.microsoft.com/office/drawing/2014/main" id="{DEBB3277-7465-4808-84B8-E170134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524000"/>
            <a:ext cx="73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sp>
        <p:nvSpPr>
          <p:cNvPr id="88" name="Text 46: Secure API, application logic and data storage.">
            <a:extLst xmlns:a="http://schemas.openxmlformats.org/drawingml/2006/main">
              <a:ext uri="{FF2B5EF4-FFF2-40B4-BE49-F238E27FC236}">
                <a16:creationId xmlns:a16="http://schemas.microsoft.com/office/drawing/2014/main" id="{35EF1F35-268F-48BF-A73D-360653B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066925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Secure API, application logic and data storage.</a:t>
            </a:r>
          </a:p>
        </p:txBody>
      </p:sp>
      <p:sp>
        <p:nvSpPr>
          <p:cNvPr id="89" name="Panel 47">
            <a:extLst xmlns:a="http://schemas.openxmlformats.org/drawingml/2006/main">
              <a:ext uri="{FF2B5EF4-FFF2-40B4-BE49-F238E27FC236}">
                <a16:creationId xmlns:a16="http://schemas.microsoft.com/office/drawing/2014/main" id="{A897BE99-8351-4ECE-8DDB-CC7BBAC0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19350"/>
            <a:ext cx="24479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2383">
            <a:solidFill>
              <a:srgbClr val="06B9FA"/>
            </a:solidFill>
            <a:prstDash val="solid"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5580dbdb45f6"/>
          <a:stretch xmlns:a="http://schemas.openxmlformats.org/drawingml/2006/main"/>
        </p:blipFill>
        <p:spPr>
          <a:xfrm xmlns:a="http://schemas.openxmlformats.org/drawingml/2006/main">
            <a:off x="9182100" y="2619375"/>
            <a:ext cx="38100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Text 48: Authenticated REST API">
            <a:extLst xmlns:a="http://schemas.openxmlformats.org/drawingml/2006/main">
              <a:ext uri="{FF2B5EF4-FFF2-40B4-BE49-F238E27FC236}">
                <a16:creationId xmlns:a16="http://schemas.microsoft.com/office/drawing/2014/main" id="{FCA20E04-F981-4CDD-B969-A4BEE2F5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Authenticated REST API</a:t>
            </a:r>
          </a:p>
        </p:txBody>
      </p:sp>
      <p:sp>
        <p:nvSpPr>
          <p:cNvPr id="92" name="Text 49: Session + CSRF + input validation">
            <a:extLst xmlns:a="http://schemas.openxmlformats.org/drawingml/2006/main">
              <a:ext uri="{FF2B5EF4-FFF2-40B4-BE49-F238E27FC236}">
                <a16:creationId xmlns:a16="http://schemas.microsoft.com/office/drawing/2014/main" id="{D9589622-9889-4DA2-B8F4-E9B020B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Session + CSRF + input validation</a:t>
            </a:r>
          </a:p>
        </p:txBody>
      </p:sp>
      <p:sp>
        <p:nvSpPr>
          <p:cNvPr id="93" name="Panel 50">
            <a:extLst xmlns:a="http://schemas.openxmlformats.org/drawingml/2006/main">
              <a:ext uri="{FF2B5EF4-FFF2-40B4-BE49-F238E27FC236}">
                <a16:creationId xmlns:a16="http://schemas.microsoft.com/office/drawing/2014/main" id="{6EF28599-1E45-4F5F-B9FA-5104F3D9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09975"/>
            <a:ext cx="2428875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2383">
            <a:solidFill>
              <a:srgbClr val="06B9FA"/>
            </a:solidFill>
            <a:prstDash val="solid"/>
          </a:ln>
        </p:spPr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9d5172979458b"/>
          <a:stretch xmlns:a="http://schemas.openxmlformats.org/drawingml/2006/main"/>
        </p:blipFill>
        <p:spPr>
          <a:xfrm xmlns:a="http://schemas.openxmlformats.org/drawingml/2006/main">
            <a:off x="9201150" y="3867150"/>
            <a:ext cx="466725" cy="457200"/>
          </a:xfrm>
          <a:prstGeom xmlns:a="http://schemas.openxmlformats.org/drawingml/2006/main" prst="rect">
            <a:avLst/>
          </a:prstGeom>
        </p:spPr>
      </p:pic>
      <p:sp>
        <p:nvSpPr>
          <p:cNvPr id="95" name="Text 51: Application services">
            <a:extLst xmlns:a="http://schemas.openxmlformats.org/drawingml/2006/main">
              <a:ext uri="{FF2B5EF4-FFF2-40B4-BE49-F238E27FC236}">
                <a16:creationId xmlns:a16="http://schemas.microsoft.com/office/drawing/2014/main" id="{BB7A3D12-739B-4E60-BEA8-578852EF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9525"/>
            <a:ext cx="1647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Application services</a:t>
            </a:r>
          </a:p>
        </p:txBody>
      </p:sp>
      <p:sp>
        <p:nvSpPr>
          <p:cNvPr id="96" name="Text 52: Recompute overall score; track provenance">
            <a:extLst xmlns:a="http://schemas.openxmlformats.org/drawingml/2006/main">
              <a:ext uri="{FF2B5EF4-FFF2-40B4-BE49-F238E27FC236}">
                <a16:creationId xmlns:a16="http://schemas.microsoft.com/office/drawing/2014/main" id="{93203C25-0359-4417-A5BE-6B7AFFB8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Recompute overall score;</a:t>
            </a:r>
          </a:p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provenance</a:t>
            </a:r>
          </a:p>
        </p:txBody>
      </p:sp>
      <p:sp>
        <p:nvSpPr>
          <p:cNvPr id="97" name="Editable flow arrow 53">
            <a:extLst xmlns:a="http://schemas.openxmlformats.org/drawingml/2006/main">
              <a:ext uri="{FF2B5EF4-FFF2-40B4-BE49-F238E27FC236}">
                <a16:creationId xmlns:a16="http://schemas.microsoft.com/office/drawing/2014/main" id="{59E88660-348F-42DF-852B-98FBC930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6232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8" name="Editable flow arrow 54">
            <a:extLst xmlns:a="http://schemas.openxmlformats.org/drawingml/2006/main">
              <a:ext uri="{FF2B5EF4-FFF2-40B4-BE49-F238E27FC236}">
                <a16:creationId xmlns:a16="http://schemas.microsoft.com/office/drawing/2014/main" id="{EBA99BB0-9E35-4A96-9CFF-7CB7AD6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19675"/>
            <a:ext cx="2095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9" name="Panel 55">
            <a:extLst xmlns:a="http://schemas.openxmlformats.org/drawingml/2006/main">
              <a:ext uri="{FF2B5EF4-FFF2-40B4-BE49-F238E27FC236}">
                <a16:creationId xmlns:a16="http://schemas.microsoft.com/office/drawing/2014/main" id="{E0E8DF63-6553-4BB5-BE54-16A34EA5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81525"/>
            <a:ext cx="2466975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3810">
            <a:solidFill>
              <a:srgbClr val="20E7FA"/>
            </a:solidFill>
            <a:prstDash val="solid"/>
          </a:ln>
        </p:spPr>
      </p:sp>
      <p:sp>
        <p:nvSpPr>
          <p:cNvPr id="100" name="Text 56: Client scores are not server-verified.">
            <a:extLst xmlns:a="http://schemas.openxmlformats.org/drawingml/2006/main">
              <a:ext uri="{FF2B5EF4-FFF2-40B4-BE49-F238E27FC236}">
                <a16:creationId xmlns:a16="http://schemas.microsoft.com/office/drawing/2014/main" id="{D08BF27C-9B5B-4F1F-AC51-4B40D529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24400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Client scores are not server-verified.</a:t>
            </a:r>
          </a:p>
        </p:txBody>
      </p:sp>
      <p:sp>
        <p:nvSpPr>
          <p:cNvPr id="101" name="Panel 57">
            <a:extLst xmlns:a="http://schemas.openxmlformats.org/drawingml/2006/main">
              <a:ext uri="{FF2B5EF4-FFF2-40B4-BE49-F238E27FC236}">
                <a16:creationId xmlns:a16="http://schemas.microsoft.com/office/drawing/2014/main" id="{7C7A769A-82BF-456A-8C0A-F57DC6D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2447925" cy="12858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11430">
            <a:solidFill>
              <a:srgbClr val="06B9FA"/>
            </a:solidFill>
            <a:prstDash val="solid"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a3575c04a4dd4"/>
          <a:stretch xmlns:a="http://schemas.openxmlformats.org/drawingml/2006/main"/>
        </p:blipFill>
        <p:spPr>
          <a:xfrm xmlns:a="http://schemas.openxmlformats.org/drawingml/2006/main">
            <a:off x="9163050" y="5524500"/>
            <a:ext cx="419100" cy="523875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408fd2d1a47d3"/>
          <a:stretch xmlns:a="http://schemas.openxmlformats.org/drawingml/2006/main"/>
        </p:blipFill>
        <p:spPr>
          <a:xfrm xmlns:a="http://schemas.openxmlformats.org/drawingml/2006/main">
            <a:off x="9753600" y="5534025"/>
            <a:ext cx="323850" cy="476250"/>
          </a:xfrm>
          <a:prstGeom xmlns:a="http://schemas.openxmlformats.org/drawingml/2006/main" prst="rect">
            <a:avLst/>
          </a:prstGeom>
        </p:spPr>
      </p:pic>
      <p:sp>
        <p:nvSpPr>
          <p:cNvPr id="104" name="Text 58: SQLite">
            <a:extLst xmlns:a="http://schemas.openxmlformats.org/drawingml/2006/main">
              <a:ext uri="{FF2B5EF4-FFF2-40B4-BE49-F238E27FC236}">
                <a16:creationId xmlns:a16="http://schemas.microsoft.com/office/drawing/2014/main" id="{57ECFE45-D59B-4193-A6A2-C70D3EA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7150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105" name="Text 59: SQLite database">
            <a:extLst xmlns:a="http://schemas.openxmlformats.org/drawingml/2006/main">
              <a:ext uri="{FF2B5EF4-FFF2-40B4-BE49-F238E27FC236}">
                <a16:creationId xmlns:a16="http://schemas.microsoft.com/office/drawing/2014/main" id="{107CD4E8-F72D-4C52-BB75-04FA3ECB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048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SQLite database</a:t>
            </a:r>
          </a:p>
        </p:txBody>
      </p:sp>
      <p:sp>
        <p:nvSpPr>
          <p:cNvPr id="106" name="Text 60: Users, reports and messages">
            <a:extLst xmlns:a="http://schemas.openxmlformats.org/drawingml/2006/main">
              <a:ext uri="{FF2B5EF4-FFF2-40B4-BE49-F238E27FC236}">
                <a16:creationId xmlns:a16="http://schemas.microsoft.com/office/drawing/2014/main" id="{F3DC8816-C9C1-4485-9155-4850BCA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2769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Users, reports and messages</a:t>
            </a:r>
          </a:p>
        </p:txBody>
      </p:sp>
      <p:sp>
        <p:nvSpPr>
          <p:cNvPr id="107" name="Divider 61">
            <a:extLst xmlns:a="http://schemas.openxmlformats.org/drawingml/2006/main">
              <a:ext uri="{FF2B5EF4-FFF2-40B4-BE49-F238E27FC236}">
                <a16:creationId xmlns:a16="http://schemas.microsoft.com/office/drawing/2014/main" id="{8772EA4A-EDDE-4443-A94B-59145A1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00400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08" name="Divider 62">
            <a:extLst xmlns:a="http://schemas.openxmlformats.org/drawingml/2006/main">
              <a:ext uri="{FF2B5EF4-FFF2-40B4-BE49-F238E27FC236}">
                <a16:creationId xmlns:a16="http://schemas.microsoft.com/office/drawing/2014/main" id="{B207BA20-2B2C-4847-B232-6176804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71775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09" name="Divider 63">
            <a:extLst xmlns:a="http://schemas.openxmlformats.org/drawingml/2006/main">
              <a:ext uri="{FF2B5EF4-FFF2-40B4-BE49-F238E27FC236}">
                <a16:creationId xmlns:a16="http://schemas.microsoft.com/office/drawing/2014/main" id="{C6A40B45-C0C8-405A-A143-620E569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717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110" name="Editable flow arrow 64">
            <a:extLst xmlns:a="http://schemas.openxmlformats.org/drawingml/2006/main">
              <a:ext uri="{FF2B5EF4-FFF2-40B4-BE49-F238E27FC236}">
                <a16:creationId xmlns:a16="http://schemas.microsoft.com/office/drawing/2014/main" id="{A919A786-A081-4D6E-8946-162F7E6A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67000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11" name="Text 65: Metrics + report metadata">
            <a:extLst xmlns:a="http://schemas.openxmlformats.org/drawingml/2006/main">
              <a:ext uri="{FF2B5EF4-FFF2-40B4-BE49-F238E27FC236}">
                <a16:creationId xmlns:a16="http://schemas.microsoft.com/office/drawing/2014/main" id="{6D22FBA0-87D2-4737-A512-273BBEEE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Metrics +</a:t>
            </a:r>
          </a:p>
          <a:p xmlns:a="http://schemas.openxmlformats.org/drawingml/2006/main">
            <a:pPr algn="l">
              <a:def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report metadata</a:t>
            </a:r>
          </a:p>
        </p:txBody>
      </p:sp>
      <p:sp>
        <p:nvSpPr>
          <p:cNvPr id="112" name="Text 66: No raw video is transmitted">
            <a:extLst xmlns:a="http://schemas.openxmlformats.org/drawingml/2006/main">
              <a:ext uri="{FF2B5EF4-FFF2-40B4-BE49-F238E27FC236}">
                <a16:creationId xmlns:a16="http://schemas.microsoft.com/office/drawing/2014/main" id="{D6F4F7DD-DFC9-4255-9897-09EF0A47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No raw video</a:t>
            </a:r>
          </a:p>
          <a:p xmlns:a="http://schemas.openxmlformats.org/drawingml/2006/main">
            <a:pPr algn="l">
              <a:def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is transmitted</a:t>
            </a:r>
          </a:p>
        </p:txBody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f4cfc9ca14668"/>
          <a:stretch xmlns:a="http://schemas.openxmlformats.org/drawingml/2006/main"/>
        </p:blipFill>
        <p:spPr>
          <a:xfrm xmlns:a="http://schemas.openxmlformats.org/drawingml/2006/main">
            <a:off x="12087225" y="1457325"/>
            <a:ext cx="552450" cy="447675"/>
          </a:xfrm>
          <a:prstGeom xmlns:a="http://schemas.openxmlformats.org/drawingml/2006/main" prst="rect">
            <a:avLst/>
          </a:prstGeom>
        </p:spPr>
      </p:pic>
      <p:sp>
        <p:nvSpPr>
          <p:cNvPr id="114" name="Text 67: 3">
            <a:extLst xmlns:a="http://schemas.openxmlformats.org/drawingml/2006/main">
              <a:ext uri="{FF2B5EF4-FFF2-40B4-BE49-F238E27FC236}">
                <a16:creationId xmlns:a16="http://schemas.microsoft.com/office/drawing/2014/main" id="{ED7B1114-DF90-4560-9A4A-F1A9230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466850"/>
            <a:ext cx="295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2250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115" name="Text 68: ATHLETE &amp; COACH TOOLS">
            <a:extLst xmlns:a="http://schemas.openxmlformats.org/drawingml/2006/main">
              <a:ext uri="{FF2B5EF4-FFF2-40B4-BE49-F238E27FC236}">
                <a16:creationId xmlns:a16="http://schemas.microsoft.com/office/drawing/2014/main" id="{B513263D-A28E-4525-9925-0507F340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049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 &amp; COACH TOOLS</a:t>
            </a:r>
          </a:p>
        </p:txBody>
      </p:sp>
      <p:sp>
        <p:nvSpPr>
          <p:cNvPr id="116" name="Text 69: Secure tools for athletes, coaches and recruiters.">
            <a:extLst xmlns:a="http://schemas.openxmlformats.org/drawingml/2006/main">
              <a:ext uri="{FF2B5EF4-FFF2-40B4-BE49-F238E27FC236}">
                <a16:creationId xmlns:a16="http://schemas.microsoft.com/office/drawing/2014/main" id="{74D0876B-C4C7-468F-AC28-BB537CEF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194310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Secure tools for athletes, coaches and recruiters.</a:t>
            </a:r>
          </a:p>
        </p:txBody>
      </p:sp>
      <p:sp>
        <p:nvSpPr>
          <p:cNvPr id="117" name="Panel 70">
            <a:extLst xmlns:a="http://schemas.openxmlformats.org/drawingml/2006/main">
              <a:ext uri="{FF2B5EF4-FFF2-40B4-BE49-F238E27FC236}">
                <a16:creationId xmlns:a16="http://schemas.microsoft.com/office/drawing/2014/main" id="{AEBE7A58-131F-410B-9585-1C3CB2EC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2193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b3995f9024c0c"/>
          <a:stretch xmlns:a="http://schemas.openxmlformats.org/drawingml/2006/main"/>
        </p:blipFill>
        <p:spPr>
          <a:xfrm xmlns:a="http://schemas.openxmlformats.org/drawingml/2006/main">
            <a:off x="12401550" y="23336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19" name="Text 71: Athlete">
            <a:extLst xmlns:a="http://schemas.openxmlformats.org/drawingml/2006/main">
              <a:ext uri="{FF2B5EF4-FFF2-40B4-BE49-F238E27FC236}">
                <a16:creationId xmlns:a16="http://schemas.microsoft.com/office/drawing/2014/main" id="{1DB9A480-14EA-490E-86BE-3D09BCEF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5527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120" name="Text 72: Reports, PDF export and progress">
            <a:extLst xmlns:a="http://schemas.openxmlformats.org/drawingml/2006/main">
              <a:ext uri="{FF2B5EF4-FFF2-40B4-BE49-F238E27FC236}">
                <a16:creationId xmlns:a16="http://schemas.microsoft.com/office/drawing/2014/main" id="{9F680D1B-78AF-4D32-B58E-4297ABFD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8384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Reports, PDF export and progress</a:t>
            </a:r>
          </a:p>
        </p:txBody>
      </p:sp>
      <p:sp>
        <p:nvSpPr>
          <p:cNvPr id="121" name="Divider 73">
            <a:extLst xmlns:a="http://schemas.openxmlformats.org/drawingml/2006/main">
              <a:ext uri="{FF2B5EF4-FFF2-40B4-BE49-F238E27FC236}">
                <a16:creationId xmlns:a16="http://schemas.microsoft.com/office/drawing/2014/main" id="{B8A0A07F-57E9-41F3-BAFD-6A0F7E1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8289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22" name="Editable flow arrow 74">
            <a:extLst xmlns:a="http://schemas.openxmlformats.org/drawingml/2006/main">
              <a:ext uri="{FF2B5EF4-FFF2-40B4-BE49-F238E27FC236}">
                <a16:creationId xmlns:a16="http://schemas.microsoft.com/office/drawing/2014/main" id="{967FB358-81C3-4640-82BB-CF86111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7146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23" name="Panel 75">
            <a:extLst xmlns:a="http://schemas.openxmlformats.org/drawingml/2006/main">
              <a:ext uri="{FF2B5EF4-FFF2-40B4-BE49-F238E27FC236}">
                <a16:creationId xmlns:a16="http://schemas.microsoft.com/office/drawing/2014/main" id="{60EFDB43-320D-4B8C-9C99-78B188D8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5147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44fdbe6c94c8e"/>
          <a:stretch xmlns:a="http://schemas.openxmlformats.org/drawingml/2006/main"/>
        </p:blipFill>
        <p:spPr>
          <a:xfrm xmlns:a="http://schemas.openxmlformats.org/drawingml/2006/main">
            <a:off x="12401550" y="36290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25" name="Text 76: Coach / Recruiter">
            <a:extLst xmlns:a="http://schemas.openxmlformats.org/drawingml/2006/main">
              <a:ext uri="{FF2B5EF4-FFF2-40B4-BE49-F238E27FC236}">
                <a16:creationId xmlns:a16="http://schemas.microsoft.com/office/drawing/2014/main" id="{87F33053-0DBA-40DB-A2B5-4729AA2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8481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/ Recruiter</a:t>
            </a:r>
          </a:p>
        </p:txBody>
      </p:sp>
      <p:sp>
        <p:nvSpPr>
          <p:cNvPr id="126" name="Text 77: Talent search and messaging">
            <a:extLst xmlns:a="http://schemas.openxmlformats.org/drawingml/2006/main">
              <a:ext uri="{FF2B5EF4-FFF2-40B4-BE49-F238E27FC236}">
                <a16:creationId xmlns:a16="http://schemas.microsoft.com/office/drawing/2014/main" id="{AF8AA2C6-C063-4F4A-9667-F540255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41338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Talent search and messaging</a:t>
            </a:r>
          </a:p>
        </p:txBody>
      </p:sp>
      <p:sp>
        <p:nvSpPr>
          <p:cNvPr id="127" name="Divider 78">
            <a:extLst xmlns:a="http://schemas.openxmlformats.org/drawingml/2006/main">
              <a:ext uri="{FF2B5EF4-FFF2-40B4-BE49-F238E27FC236}">
                <a16:creationId xmlns:a16="http://schemas.microsoft.com/office/drawing/2014/main" id="{C3317674-5F52-422F-B850-56ED859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1243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28" name="Editable flow arrow 79">
            <a:extLst xmlns:a="http://schemas.openxmlformats.org/drawingml/2006/main">
              <a:ext uri="{FF2B5EF4-FFF2-40B4-BE49-F238E27FC236}">
                <a16:creationId xmlns:a16="http://schemas.microsoft.com/office/drawing/2014/main" id="{A5EC9EE5-4F78-49D5-9094-276B304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100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29" name="Panel 80">
            <a:extLst xmlns:a="http://schemas.openxmlformats.org/drawingml/2006/main">
              <a:ext uri="{FF2B5EF4-FFF2-40B4-BE49-F238E27FC236}">
                <a16:creationId xmlns:a16="http://schemas.microsoft.com/office/drawing/2014/main" id="{9BD1C0A4-2E1E-4B7E-A90F-23892B29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810125"/>
            <a:ext cx="3276600" cy="1085850"/>
          </a:xfrm>
          <a:prstGeom xmlns:a="http://schemas.openxmlformats.org/drawingml/2006/main" prst="roundRect">
            <a:avLst>
              <a:gd name="adj" fmla="val 13158"/>
            </a:avLst>
          </a:prstGeom>
          <a:gradFill xmlns:a="http://schemas.openxmlformats.org/drawingml/2006/main">
            <a:gsLst>
              <a:gs pos="0">
                <a:srgbClr val="172037"/>
              </a:gs>
              <a:gs pos="100000">
                <a:srgbClr val="322035"/>
              </a:gs>
            </a:gsLst>
            <a:lin ang="0"/>
          </a:gradFill>
          <a:ln xmlns:a="http://schemas.openxmlformats.org/drawingml/2006/main" w="12383">
            <a:solidFill>
              <a:srgbClr val="FF6386"/>
            </a:solidFill>
            <a:prstDash val="solid"/>
          </a:ln>
        </p:spPr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b0dc475bf49dc"/>
          <a:stretch xmlns:a="http://schemas.openxmlformats.org/drawingml/2006/main"/>
        </p:blipFill>
        <p:spPr>
          <a:xfrm xmlns:a="http://schemas.openxmlformats.org/drawingml/2006/main">
            <a:off x="12401550" y="4924425"/>
            <a:ext cx="771525" cy="819150"/>
          </a:xfrm>
          <a:prstGeom xmlns:a="http://schemas.openxmlformats.org/drawingml/2006/main" prst="rect">
            <a:avLst/>
          </a:prstGeom>
        </p:spPr>
      </p:pic>
      <p:sp>
        <p:nvSpPr>
          <p:cNvPr id="131" name="Text 81: Athlete comparison">
            <a:extLst xmlns:a="http://schemas.openxmlformats.org/drawingml/2006/main">
              <a:ext uri="{FF2B5EF4-FFF2-40B4-BE49-F238E27FC236}">
                <a16:creationId xmlns:a16="http://schemas.microsoft.com/office/drawing/2014/main" id="{194C2972-9986-4109-8FE8-37565BC1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143500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Athlete comparison</a:t>
            </a:r>
          </a:p>
        </p:txBody>
      </p:sp>
      <p:sp>
        <p:nvSpPr>
          <p:cNvPr id="132" name="Text 82: Two-athlete radar + metric table">
            <a:extLst xmlns:a="http://schemas.openxmlformats.org/drawingml/2006/main">
              <a:ext uri="{FF2B5EF4-FFF2-40B4-BE49-F238E27FC236}">
                <a16:creationId xmlns:a16="http://schemas.microsoft.com/office/drawing/2014/main" id="{79ABBA25-555F-4453-B308-E72DEC3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54292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Two-athlete radar + metric table</a:t>
            </a:r>
          </a:p>
        </p:txBody>
      </p:sp>
      <p:sp>
        <p:nvSpPr>
          <p:cNvPr id="133" name="Divider 83">
            <a:extLst xmlns:a="http://schemas.openxmlformats.org/drawingml/2006/main">
              <a:ext uri="{FF2B5EF4-FFF2-40B4-BE49-F238E27FC236}">
                <a16:creationId xmlns:a16="http://schemas.microsoft.com/office/drawing/2014/main" id="{34BE6C73-1EF1-4DB1-9C3B-11AE448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54197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6B9FA"/>
            </a:solidFill>
            <a:prstDash val="solid"/>
          </a:ln>
        </p:spPr>
      </p:sp>
      <p:sp>
        <p:nvSpPr>
          <p:cNvPr id="134" name="Editable flow arrow 84">
            <a:extLst xmlns:a="http://schemas.openxmlformats.org/drawingml/2006/main">
              <a:ext uri="{FF2B5EF4-FFF2-40B4-BE49-F238E27FC236}">
                <a16:creationId xmlns:a16="http://schemas.microsoft.com/office/drawing/2014/main" id="{D0AE59EE-A4F5-4EBD-8BC8-EC02A0A2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05425"/>
            <a:ext cx="1524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sp>
        <p:nvSpPr>
          <p:cNvPr id="135" name="Panel 85">
            <a:extLst xmlns:a="http://schemas.openxmlformats.org/drawingml/2006/main">
              <a:ext uri="{FF2B5EF4-FFF2-40B4-BE49-F238E27FC236}">
                <a16:creationId xmlns:a16="http://schemas.microsoft.com/office/drawing/2014/main" id="{C9BF0E98-8A53-4E6C-9D4E-EEDD7CB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057900"/>
            <a:ext cx="3476625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0372F"/>
          </a:solidFill>
          <a:ln xmlns:a="http://schemas.openxmlformats.org/drawingml/2006/main" w="13335">
            <a:solidFill>
              <a:srgbClr val="50F4BC"/>
            </a:solidFill>
            <a:prstDash val="solid"/>
          </a:ln>
        </p:spPr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0589937784e3d"/>
          <a:stretch xmlns:a="http://schemas.openxmlformats.org/drawingml/2006/main"/>
        </p:blipFill>
        <p:spPr>
          <a:xfrm xmlns:a="http://schemas.openxmlformats.org/drawingml/2006/main">
            <a:off x="12230100" y="6162675"/>
            <a:ext cx="352425" cy="381000"/>
          </a:xfrm>
          <a:prstGeom xmlns:a="http://schemas.openxmlformats.org/drawingml/2006/main" prst="rect">
            <a:avLst/>
          </a:prstGeom>
        </p:spPr>
      </p:pic>
      <p:sp>
        <p:nvSpPr>
          <p:cNvPr id="137" name="Text 86: Privacy Center:">
            <a:extLst xmlns:a="http://schemas.openxmlformats.org/drawingml/2006/main">
              <a:ext uri="{FF2B5EF4-FFF2-40B4-BE49-F238E27FC236}">
                <a16:creationId xmlns:a16="http://schemas.microsoft.com/office/drawing/2014/main" id="{289DE2DD-24DF-4C1E-BD73-A6A2A186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2865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Privacy Center:</a:t>
            </a:r>
          </a:p>
        </p:txBody>
      </p:sp>
      <p:sp>
        <p:nvSpPr>
          <p:cNvPr id="138" name="Text 87: consent, export, delete">
            <a:extLst xmlns:a="http://schemas.openxmlformats.org/drawingml/2006/main">
              <a:ext uri="{FF2B5EF4-FFF2-40B4-BE49-F238E27FC236}">
                <a16:creationId xmlns:a16="http://schemas.microsoft.com/office/drawing/2014/main" id="{CADBBD21-AE2D-4C6B-8308-84BAEB01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628650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consent, export, delete</a:t>
            </a:r>
          </a:p>
        </p:txBody>
      </p:sp>
      <p:sp>
        <p:nvSpPr>
          <p:cNvPr id="139" name="Panel 88">
            <a:extLst xmlns:a="http://schemas.openxmlformats.org/drawingml/2006/main">
              <a:ext uri="{FF2B5EF4-FFF2-40B4-BE49-F238E27FC236}">
                <a16:creationId xmlns:a16="http://schemas.microsoft.com/office/drawing/2014/main" id="{EADCB1BF-7E68-4214-A220-C17CE354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048500"/>
            <a:ext cx="15449550" cy="13716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1430">
            <a:solidFill>
              <a:srgbClr val="06B9FA"/>
            </a:solidFill>
            <a:prstDash val="solid"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6944df0034bbb"/>
          <a:stretch xmlns:a="http://schemas.openxmlformats.org/drawingml/2006/main"/>
        </p:blipFill>
        <p:spPr>
          <a:xfrm xmlns:a="http://schemas.openxmlformats.org/drawingml/2006/main">
            <a:off x="476250" y="7362825"/>
            <a:ext cx="438150" cy="485775"/>
          </a:xfrm>
          <a:prstGeom xmlns:a="http://schemas.openxmlformats.org/drawingml/2006/main" prst="rect">
            <a:avLst/>
          </a:prstGeom>
        </p:spPr>
      </p:pic>
      <p:sp>
        <p:nvSpPr>
          <p:cNvPr id="141" name="Text 89: TECH STACK">
            <a:extLst xmlns:a="http://schemas.openxmlformats.org/drawingml/2006/main">
              <a:ext uri="{FF2B5EF4-FFF2-40B4-BE49-F238E27FC236}">
                <a16:creationId xmlns:a16="http://schemas.microsoft.com/office/drawing/2014/main" id="{BAD8DEB8-77DB-4E0D-8410-0C6DD6F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448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142" name="Text 90: Core technologies used in AthletixAI.">
            <a:extLst xmlns:a="http://schemas.openxmlformats.org/drawingml/2006/main">
              <a:ext uri="{FF2B5EF4-FFF2-40B4-BE49-F238E27FC236}">
                <a16:creationId xmlns:a16="http://schemas.microsoft.com/office/drawing/2014/main" id="{BAF084AB-2BEA-4C62-8C60-5488E714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724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Core technologies used in</a:t>
            </a:r>
          </a:p>
          <a:p xmlns:a="http://schemas.openxmlformats.org/drawingml/2006/main">
            <a:pPr algn="l">
              <a:def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AthletixAI.</a:t>
            </a:r>
          </a:p>
        </p:txBody>
      </p:sp>
      <p:sp>
        <p:nvSpPr>
          <p:cNvPr id="143" name="Panel 91">
            <a:extLst xmlns:a="http://schemas.openxmlformats.org/drawingml/2006/main">
              <a:ext uri="{FF2B5EF4-FFF2-40B4-BE49-F238E27FC236}">
                <a16:creationId xmlns:a16="http://schemas.microsoft.com/office/drawing/2014/main" id="{6D7B2D35-AC75-4375-85E0-F86D6EA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031b1ac0a4ab9"/>
          <a:stretch xmlns:a="http://schemas.openxmlformats.org/drawingml/2006/main"/>
        </p:blipFill>
        <p:spPr>
          <a:xfrm xmlns:a="http://schemas.openxmlformats.org/drawingml/2006/main">
            <a:off x="2971800" y="7338715"/>
            <a:ext cx="371475" cy="410170"/>
          </a:xfrm>
          <a:prstGeom xmlns:a="http://schemas.openxmlformats.org/drawingml/2006/main" prst="rect">
            <a:avLst/>
          </a:prstGeom>
        </p:spPr>
      </p:pic>
      <p:sp>
        <p:nvSpPr>
          <p:cNvPr id="145" name="Text 92: JavaScript">
            <a:extLst xmlns:a="http://schemas.openxmlformats.org/drawingml/2006/main">
              <a:ext uri="{FF2B5EF4-FFF2-40B4-BE49-F238E27FC236}">
                <a16:creationId xmlns:a16="http://schemas.microsoft.com/office/drawing/2014/main" id="{D8B92F9F-F16B-4E7F-ADD3-F8ED906C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JavaScript</a:t>
            </a:r>
          </a:p>
        </p:txBody>
      </p:sp>
      <p:sp>
        <p:nvSpPr>
          <p:cNvPr id="146" name="Text 93: Browser application">
            <a:extLst xmlns:a="http://schemas.openxmlformats.org/drawingml/2006/main">
              <a:ext uri="{FF2B5EF4-FFF2-40B4-BE49-F238E27FC236}">
                <a16:creationId xmlns:a16="http://schemas.microsoft.com/office/drawing/2014/main" id="{A315ADB1-BA99-41E5-A6D2-C8B012D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Browser application</a:t>
            </a:r>
          </a:p>
        </p:txBody>
      </p:sp>
      <p:sp>
        <p:nvSpPr>
          <p:cNvPr id="147" name="Panel 94">
            <a:extLst xmlns:a="http://schemas.openxmlformats.org/drawingml/2006/main">
              <a:ext uri="{FF2B5EF4-FFF2-40B4-BE49-F238E27FC236}">
                <a16:creationId xmlns:a16="http://schemas.microsoft.com/office/drawing/2014/main" id="{AD4B0BF9-F8C8-44F6-9183-E8D343F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8ed9166a645dd"/>
          <a:stretch xmlns:a="http://schemas.openxmlformats.org/drawingml/2006/main"/>
        </p:blipFill>
        <p:spPr>
          <a:xfrm xmlns:a="http://schemas.openxmlformats.org/drawingml/2006/main">
            <a:off x="4519124" y="7334250"/>
            <a:ext cx="343877" cy="419100"/>
          </a:xfrm>
          <a:prstGeom xmlns:a="http://schemas.openxmlformats.org/drawingml/2006/main" prst="rect">
            <a:avLst/>
          </a:prstGeom>
        </p:spPr>
      </p:pic>
      <p:sp>
        <p:nvSpPr>
          <p:cNvPr id="149" name="Text 95: MediaPipe">
            <a:extLst xmlns:a="http://schemas.openxmlformats.org/drawingml/2006/main">
              <a:ext uri="{FF2B5EF4-FFF2-40B4-BE49-F238E27FC236}">
                <a16:creationId xmlns:a16="http://schemas.microsoft.com/office/drawing/2014/main" id="{7E4C3EBE-5059-4944-829F-3DD0CEA0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150" name="Text 96: Pose estimation in the browser">
            <a:extLst xmlns:a="http://schemas.openxmlformats.org/drawingml/2006/main">
              <a:ext uri="{FF2B5EF4-FFF2-40B4-BE49-F238E27FC236}">
                <a16:creationId xmlns:a16="http://schemas.microsoft.com/office/drawing/2014/main" id="{610B68F1-2D78-4463-A25C-6EDE737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estimation</a:t>
            </a:r>
          </a:p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 the browser</a:t>
            </a:r>
          </a:p>
        </p:txBody>
      </p:sp>
      <p:sp>
        <p:nvSpPr>
          <p:cNvPr id="151" name="Panel 97">
            <a:extLst xmlns:a="http://schemas.openxmlformats.org/drawingml/2006/main">
              <a:ext uri="{FF2B5EF4-FFF2-40B4-BE49-F238E27FC236}">
                <a16:creationId xmlns:a16="http://schemas.microsoft.com/office/drawing/2014/main" id="{526F5651-2E13-4B7C-BC98-8913114D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181850"/>
            <a:ext cx="147637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d81e6368b43de"/>
          <a:stretch xmlns:a="http://schemas.openxmlformats.org/drawingml/2006/main"/>
        </p:blipFill>
        <p:spPr>
          <a:xfrm xmlns:a="http://schemas.openxmlformats.org/drawingml/2006/main">
            <a:off x="6057900" y="7367349"/>
            <a:ext cx="371475" cy="352901"/>
          </a:xfrm>
          <a:prstGeom xmlns:a="http://schemas.openxmlformats.org/drawingml/2006/main" prst="rect">
            <a:avLst/>
          </a:prstGeom>
        </p:spPr>
      </p:pic>
      <p:sp>
        <p:nvSpPr>
          <p:cNvPr id="153" name="Text 98: Python">
            <a:extLst xmlns:a="http://schemas.openxmlformats.org/drawingml/2006/main">
              <a:ext uri="{FF2B5EF4-FFF2-40B4-BE49-F238E27FC236}">
                <a16:creationId xmlns:a16="http://schemas.microsoft.com/office/drawing/2014/main" id="{6198890F-3E1D-4AF5-91ED-13B6421A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439025"/>
            <a:ext cx="885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Python</a:t>
            </a:r>
          </a:p>
        </p:txBody>
      </p:sp>
      <p:sp>
        <p:nvSpPr>
          <p:cNvPr id="154" name="Text 99: Backend language">
            <a:extLst xmlns:a="http://schemas.openxmlformats.org/drawingml/2006/main">
              <a:ext uri="{FF2B5EF4-FFF2-40B4-BE49-F238E27FC236}">
                <a16:creationId xmlns:a16="http://schemas.microsoft.com/office/drawing/2014/main" id="{DC7945F5-CEB8-492C-8F23-3F72D935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8486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Backend language</a:t>
            </a:r>
          </a:p>
        </p:txBody>
      </p:sp>
      <p:sp>
        <p:nvSpPr>
          <p:cNvPr id="155" name="Panel 100">
            <a:extLst xmlns:a="http://schemas.openxmlformats.org/drawingml/2006/main">
              <a:ext uri="{FF2B5EF4-FFF2-40B4-BE49-F238E27FC236}">
                <a16:creationId xmlns:a16="http://schemas.microsoft.com/office/drawing/2014/main" id="{5A6BF70E-ED04-41B4-BF0C-EFEF47A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7181850"/>
            <a:ext cx="14954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dfd796edf43b9"/>
          <a:stretch xmlns:a="http://schemas.openxmlformats.org/drawingml/2006/main"/>
        </p:blipFill>
        <p:spPr>
          <a:xfrm xmlns:a="http://schemas.openxmlformats.org/drawingml/2006/main">
            <a:off x="7644015" y="7334250"/>
            <a:ext cx="285345" cy="419100"/>
          </a:xfrm>
          <a:prstGeom xmlns:a="http://schemas.openxmlformats.org/drawingml/2006/main" prst="rect">
            <a:avLst/>
          </a:prstGeom>
        </p:spPr>
      </p:pic>
      <p:sp>
        <p:nvSpPr>
          <p:cNvPr id="157" name="Text 101: Flask">
            <a:extLst xmlns:a="http://schemas.openxmlformats.org/drawingml/2006/main">
              <a:ext uri="{FF2B5EF4-FFF2-40B4-BE49-F238E27FC236}">
                <a16:creationId xmlns:a16="http://schemas.microsoft.com/office/drawing/2014/main" id="{379B89DE-731C-48A5-9133-3C13EEE6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439025"/>
            <a:ext cx="904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sp>
        <p:nvSpPr>
          <p:cNvPr id="158" name="Text 102: Web framework">
            <a:extLst xmlns:a="http://schemas.openxmlformats.org/drawingml/2006/main">
              <a:ext uri="{FF2B5EF4-FFF2-40B4-BE49-F238E27FC236}">
                <a16:creationId xmlns:a16="http://schemas.microsoft.com/office/drawing/2014/main" id="{942E5840-130F-4B25-8117-BF697169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8486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Web framework</a:t>
            </a:r>
          </a:p>
        </p:txBody>
      </p:sp>
      <p:sp>
        <p:nvSpPr>
          <p:cNvPr id="159" name="Panel 103">
            <a:extLst xmlns:a="http://schemas.openxmlformats.org/drawingml/2006/main">
              <a:ext uri="{FF2B5EF4-FFF2-40B4-BE49-F238E27FC236}">
                <a16:creationId xmlns:a16="http://schemas.microsoft.com/office/drawing/2014/main" id="{250E02A7-E10F-43DE-95D4-3E69FFC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7181850"/>
            <a:ext cx="1504950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6fe73a49e4b3b"/>
          <a:stretch xmlns:a="http://schemas.openxmlformats.org/drawingml/2006/main"/>
        </p:blipFill>
        <p:spPr>
          <a:xfrm xmlns:a="http://schemas.openxmlformats.org/drawingml/2006/main">
            <a:off x="9177338" y="7334250"/>
            <a:ext cx="342900" cy="419100"/>
          </a:xfrm>
          <a:prstGeom xmlns:a="http://schemas.openxmlformats.org/drawingml/2006/main" prst="rect">
            <a:avLst/>
          </a:prstGeom>
        </p:spPr>
      </p:pic>
      <p:sp>
        <p:nvSpPr>
          <p:cNvPr id="161" name="Text 104: SQLite">
            <a:extLst xmlns:a="http://schemas.openxmlformats.org/drawingml/2006/main">
              <a:ext uri="{FF2B5EF4-FFF2-40B4-BE49-F238E27FC236}">
                <a16:creationId xmlns:a16="http://schemas.microsoft.com/office/drawing/2014/main" id="{2BC6E53E-F21B-42FA-A9C1-A458CB12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439025"/>
            <a:ext cx="91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162" name="Text 105: Lightweight database">
            <a:extLst xmlns:a="http://schemas.openxmlformats.org/drawingml/2006/main">
              <a:ext uri="{FF2B5EF4-FFF2-40B4-BE49-F238E27FC236}">
                <a16:creationId xmlns:a16="http://schemas.microsoft.com/office/drawing/2014/main" id="{32F8F00B-662F-403F-A414-D886AACB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848600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Lightweight database</a:t>
            </a:r>
          </a:p>
        </p:txBody>
      </p:sp>
      <p:sp>
        <p:nvSpPr>
          <p:cNvPr id="163" name="Panel 106">
            <a:extLst xmlns:a="http://schemas.openxmlformats.org/drawingml/2006/main">
              <a:ext uri="{FF2B5EF4-FFF2-40B4-BE49-F238E27FC236}">
                <a16:creationId xmlns:a16="http://schemas.microsoft.com/office/drawing/2014/main" id="{E833FE26-8D54-4E24-8E51-773E781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7181850"/>
            <a:ext cx="15716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c1b0cddf41ee"/>
          <a:stretch xmlns:a="http://schemas.openxmlformats.org/drawingml/2006/main"/>
        </p:blipFill>
        <p:spPr>
          <a:xfrm xmlns:a="http://schemas.openxmlformats.org/drawingml/2006/main">
            <a:off x="10754065" y="7334250"/>
            <a:ext cx="351745" cy="419100"/>
          </a:xfrm>
          <a:prstGeom xmlns:a="http://schemas.openxmlformats.org/drawingml/2006/main" prst="rect">
            <a:avLst/>
          </a:prstGeom>
        </p:spPr>
      </p:pic>
      <p:sp>
        <p:nvSpPr>
          <p:cNvPr id="165" name="Text 107: Chart.js">
            <a:extLst xmlns:a="http://schemas.openxmlformats.org/drawingml/2006/main">
              <a:ext uri="{FF2B5EF4-FFF2-40B4-BE49-F238E27FC236}">
                <a16:creationId xmlns:a16="http://schemas.microsoft.com/office/drawing/2014/main" id="{4ACA8BFE-A059-4796-94D5-D21CCF47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439025"/>
            <a:ext cx="981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Chart.js</a:t>
            </a:r>
          </a:p>
        </p:txBody>
      </p:sp>
      <p:sp>
        <p:nvSpPr>
          <p:cNvPr id="166" name="Text 108: Visualizations">
            <a:extLst xmlns:a="http://schemas.openxmlformats.org/drawingml/2006/main">
              <a:ext uri="{FF2B5EF4-FFF2-40B4-BE49-F238E27FC236}">
                <a16:creationId xmlns:a16="http://schemas.microsoft.com/office/drawing/2014/main" id="{2597278E-D366-48C5-9F3C-E83EBF9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486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Visualizations</a:t>
            </a:r>
          </a:p>
        </p:txBody>
      </p:sp>
      <p:sp>
        <p:nvSpPr>
          <p:cNvPr id="167" name="Panel 109">
            <a:extLst xmlns:a="http://schemas.openxmlformats.org/drawingml/2006/main">
              <a:ext uri="{FF2B5EF4-FFF2-40B4-BE49-F238E27FC236}">
                <a16:creationId xmlns:a16="http://schemas.microsoft.com/office/drawing/2014/main" id="{F30866EE-8629-4CFA-9647-ABC35C7F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181850"/>
            <a:ext cx="1543050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194ae841140fb"/>
          <a:stretch xmlns:a="http://schemas.openxmlformats.org/drawingml/2006/main"/>
        </p:blipFill>
        <p:spPr>
          <a:xfrm xmlns:a="http://schemas.openxmlformats.org/drawingml/2006/main">
            <a:off x="12392025" y="7358063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169" name="Text 110: jsPDF">
            <a:extLst xmlns:a="http://schemas.openxmlformats.org/drawingml/2006/main">
              <a:ext uri="{FF2B5EF4-FFF2-40B4-BE49-F238E27FC236}">
                <a16:creationId xmlns:a16="http://schemas.microsoft.com/office/drawing/2014/main" id="{5AD80E7F-2200-44CA-AF86-B4CE50E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74390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jsPDF</a:t>
            </a:r>
          </a:p>
        </p:txBody>
      </p:sp>
      <p:sp>
        <p:nvSpPr>
          <p:cNvPr id="170" name="Text 111: PDF reports">
            <a:extLst xmlns:a="http://schemas.openxmlformats.org/drawingml/2006/main">
              <a:ext uri="{FF2B5EF4-FFF2-40B4-BE49-F238E27FC236}">
                <a16:creationId xmlns:a16="http://schemas.microsoft.com/office/drawing/2014/main" id="{6417928A-6D78-426F-A3D2-FB21283D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78486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PDF reports</a:t>
            </a:r>
          </a:p>
        </p:txBody>
      </p:sp>
      <p:sp>
        <p:nvSpPr>
          <p:cNvPr id="171" name="Panel 112">
            <a:extLst xmlns:a="http://schemas.openxmlformats.org/drawingml/2006/main">
              <a:ext uri="{FF2B5EF4-FFF2-40B4-BE49-F238E27FC236}">
                <a16:creationId xmlns:a16="http://schemas.microsoft.com/office/drawing/2014/main" id="{41C21419-0888-4723-A45C-2791F3B6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181850"/>
            <a:ext cx="1685925" cy="11049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002037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</p:sp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cd9e89f4549fe"/>
          <a:stretch xmlns:a="http://schemas.openxmlformats.org/drawingml/2006/main"/>
        </p:blipFill>
        <p:spPr>
          <a:xfrm xmlns:a="http://schemas.openxmlformats.org/drawingml/2006/main">
            <a:off x="14011275" y="7349620"/>
            <a:ext cx="371475" cy="388360"/>
          </a:xfrm>
          <a:prstGeom xmlns:a="http://schemas.openxmlformats.org/drawingml/2006/main" prst="rect">
            <a:avLst/>
          </a:prstGeom>
        </p:spPr>
      </p:pic>
      <p:sp>
        <p:nvSpPr>
          <p:cNvPr id="173" name="Text 113: Render">
            <a:extLst xmlns:a="http://schemas.openxmlformats.org/drawingml/2006/main">
              <a:ext uri="{FF2B5EF4-FFF2-40B4-BE49-F238E27FC236}">
                <a16:creationId xmlns:a16="http://schemas.microsoft.com/office/drawing/2014/main" id="{E3ED496D-D4F3-4093-9701-3AC5C34A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425" y="7439025"/>
            <a:ext cx="1095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Render</a:t>
            </a:r>
          </a:p>
        </p:txBody>
      </p:sp>
      <p:sp>
        <p:nvSpPr>
          <p:cNvPr id="174" name="Text 114: Hosting and deployment">
            <a:extLst xmlns:a="http://schemas.openxmlformats.org/drawingml/2006/main">
              <a:ext uri="{FF2B5EF4-FFF2-40B4-BE49-F238E27FC236}">
                <a16:creationId xmlns:a16="http://schemas.microsoft.com/office/drawing/2014/main" id="{CAA7205B-DC97-4F4E-A234-5CDD324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7848600"/>
            <a:ext cx="1504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Hosting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765064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e06f4da74078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c7da2d5fa477c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3bf77412b48fa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fbf748e4b41ea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ce7cf312848f4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2dd18754a4767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74cfc2bd24fe3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bae0292f1436f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4850e3f8f4281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03baea0c34fca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bc506cab746d9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6b8e354ad4dc6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d66faa2374821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5f0de7c8d4ac0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ad2c6ef93446f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0488d40144ac8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54e6c1824d1f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4857c8b38487c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78a28a25d4c74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ff6c23a274b00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7dfbe5e594142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435b1ba924fe0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d707f13df41f2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6e22238f848bc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1321237754eec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c165c52284023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86557ad7248f7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fdd609e4a4f5f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b3f9956814f2c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3379eda934fcd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feecb0ab84aa0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a09c1e993458a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115: AthletixAI">
            <a:extLst xmlns:a="http://schemas.openxmlformats.org/drawingml/2006/main">
              <a:ext uri="{FF2B5EF4-FFF2-40B4-BE49-F238E27FC236}">
                <a16:creationId xmlns:a16="http://schemas.microsoft.com/office/drawing/2014/main" id="{9FE380F4-8F76-4B58-9E17-4C1BB30F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116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B4F42B56-5FD4-4EB3-80BA-A8167EE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117: UNIQUE SELLING PROPOSITION (USP)">
            <a:extLst xmlns:a="http://schemas.openxmlformats.org/drawingml/2006/main">
              <a:ext uri="{FF2B5EF4-FFF2-40B4-BE49-F238E27FC236}">
                <a16:creationId xmlns:a16="http://schemas.microsoft.com/office/drawing/2014/main" id="{A8946F9C-660B-46F5-9025-B680801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19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1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UNIQUE SELLING PROPOSITION (USP)</a:t>
            </a:r>
          </a:p>
        </p:txBody>
      </p:sp>
      <p:sp>
        <p:nvSpPr>
          <p:cNvPr id="36" name="Text 118: One platform for athlete assessment, progress and coach discovery">
            <a:extLst xmlns:a="http://schemas.openxmlformats.org/drawingml/2006/main">
              <a:ext uri="{FF2B5EF4-FFF2-40B4-BE49-F238E27FC236}">
                <a16:creationId xmlns:a16="http://schemas.microsoft.com/office/drawing/2014/main" id="{27687BA3-F7BC-4018-A861-40AAB6F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953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One platform for athlete assessment, progress and coach discovery</a:t>
            </a:r>
          </a:p>
        </p:txBody>
      </p:sp>
      <p:sp>
        <p:nvSpPr>
          <p:cNvPr id="37" name="Panel 119">
            <a:extLst xmlns:a="http://schemas.openxmlformats.org/drawingml/2006/main">
              <a:ext uri="{FF2B5EF4-FFF2-40B4-BE49-F238E27FC236}">
                <a16:creationId xmlns:a16="http://schemas.microsoft.com/office/drawing/2014/main" id="{CF451386-EC56-4C10-A807-4B4C0FE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04800"/>
            <a:ext cx="2971800" cy="381000"/>
          </a:xfrm>
          <a:prstGeom xmlns:a="http://schemas.openxmlformats.org/drawingml/2006/main" prst="roundRect">
            <a:avLst>
              <a:gd name="adj" fmla="val 4250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56B92"/>
            </a:solidFill>
            <a:prstDash val="solid"/>
          </a:ln>
        </p:spPr>
      </p:sp>
      <p:sp>
        <p:nvSpPr>
          <p:cNvPr id="38" name="Text 120: WORKING PROTOTYPE / DEMO DATA">
            <a:extLst xmlns:a="http://schemas.openxmlformats.org/drawingml/2006/main">
              <a:ext uri="{FF2B5EF4-FFF2-40B4-BE49-F238E27FC236}">
                <a16:creationId xmlns:a16="http://schemas.microsoft.com/office/drawing/2014/main" id="{E7D61595-1B46-4539-A853-ABCB166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47675"/>
            <a:ext cx="2695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WORKING PROTOTYPE / DEMO DATA</a:t>
            </a:r>
          </a:p>
        </p:txBody>
      </p:sp>
      <p:sp>
        <p:nvSpPr>
          <p:cNvPr id="39" name="Panel 121">
            <a:extLst xmlns:a="http://schemas.openxmlformats.org/drawingml/2006/main">
              <a:ext uri="{FF2B5EF4-FFF2-40B4-BE49-F238E27FC236}">
                <a16:creationId xmlns:a16="http://schemas.microsoft.com/office/drawing/2014/main" id="{FB6A4D50-42F8-4B45-9601-F3262762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Panel 122">
            <a:extLst xmlns:a="http://schemas.openxmlformats.org/drawingml/2006/main">
              <a:ext uri="{FF2B5EF4-FFF2-40B4-BE49-F238E27FC236}">
                <a16:creationId xmlns:a16="http://schemas.microsoft.com/office/drawing/2014/main" id="{E1C878D0-362D-4945-9FB1-F667C7CE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123950"/>
            <a:ext cx="5143500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1" name="Panel 123">
            <a:extLst xmlns:a="http://schemas.openxmlformats.org/drawingml/2006/main">
              <a:ext uri="{FF2B5EF4-FFF2-40B4-BE49-F238E27FC236}">
                <a16:creationId xmlns:a16="http://schemas.microsoft.com/office/drawing/2014/main" id="{33A26698-E9A4-4A24-B770-CB61BB4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123950"/>
            <a:ext cx="5029200" cy="3743325"/>
          </a:xfrm>
          <a:prstGeom xmlns:a="http://schemas.openxmlformats.org/drawingml/2006/main" prst="roundRect">
            <a:avLst>
              <a:gd name="adj" fmla="val 4071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2" name="Panel 124">
            <a:extLst xmlns:a="http://schemas.openxmlformats.org/drawingml/2006/main">
              <a:ext uri="{FF2B5EF4-FFF2-40B4-BE49-F238E27FC236}">
                <a16:creationId xmlns:a16="http://schemas.microsoft.com/office/drawing/2014/main" id="{76D97208-0C83-4343-A214-FD618DC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00625"/>
            <a:ext cx="48768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3" name="Panel 125">
            <a:extLst xmlns:a="http://schemas.openxmlformats.org/drawingml/2006/main">
              <a:ext uri="{FF2B5EF4-FFF2-40B4-BE49-F238E27FC236}">
                <a16:creationId xmlns:a16="http://schemas.microsoft.com/office/drawing/2014/main" id="{345F9B5D-A094-4A25-B6DA-EAA9A34E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53721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4" name="Panel 126">
            <a:extLst xmlns:a="http://schemas.openxmlformats.org/drawingml/2006/main">
              <a:ext uri="{FF2B5EF4-FFF2-40B4-BE49-F238E27FC236}">
                <a16:creationId xmlns:a16="http://schemas.microsoft.com/office/drawing/2014/main" id="{DCF2AD15-13B0-4EFB-B68D-E16A68B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000625"/>
            <a:ext cx="4991100" cy="3171825"/>
          </a:xfrm>
          <a:prstGeom xmlns:a="http://schemas.openxmlformats.org/drawingml/2006/main" prst="roundRect">
            <a:avLst>
              <a:gd name="adj" fmla="val 4805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45" name="Section number 127">
            <a:extLst xmlns:a="http://schemas.openxmlformats.org/drawingml/2006/main">
              <a:ext uri="{FF2B5EF4-FFF2-40B4-BE49-F238E27FC236}">
                <a16:creationId xmlns:a16="http://schemas.microsoft.com/office/drawing/2014/main" id="{58893A32-1419-4872-8327-57F5AEEE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6" name="Text 128: 01">
            <a:extLst xmlns:a="http://schemas.openxmlformats.org/drawingml/2006/main">
              <a:ext uri="{FF2B5EF4-FFF2-40B4-BE49-F238E27FC236}">
                <a16:creationId xmlns:a16="http://schemas.microsoft.com/office/drawing/2014/main" id="{2F1005E0-2AFE-42CC-9640-DC70072D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7" name="Section number 129">
            <a:extLst xmlns:a="http://schemas.openxmlformats.org/drawingml/2006/main">
              <a:ext uri="{FF2B5EF4-FFF2-40B4-BE49-F238E27FC236}">
                <a16:creationId xmlns:a16="http://schemas.microsoft.com/office/drawing/2014/main" id="{E1B3874A-5EE5-4CDD-9A93-9D916E2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8" name="Text 130: 02">
            <a:extLst xmlns:a="http://schemas.openxmlformats.org/drawingml/2006/main">
              <a:ext uri="{FF2B5EF4-FFF2-40B4-BE49-F238E27FC236}">
                <a16:creationId xmlns:a16="http://schemas.microsoft.com/office/drawing/2014/main" id="{27F54F88-9B73-4CE8-99F3-8F9C6110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9" name="Section number 131">
            <a:extLst xmlns:a="http://schemas.openxmlformats.org/drawingml/2006/main">
              <a:ext uri="{FF2B5EF4-FFF2-40B4-BE49-F238E27FC236}">
                <a16:creationId xmlns:a16="http://schemas.microsoft.com/office/drawing/2014/main" id="{8F23FE69-D61E-4070-B15F-47D729EF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0" name="Text 132: 03">
            <a:extLst xmlns:a="http://schemas.openxmlformats.org/drawingml/2006/main">
              <a:ext uri="{FF2B5EF4-FFF2-40B4-BE49-F238E27FC236}">
                <a16:creationId xmlns:a16="http://schemas.microsoft.com/office/drawing/2014/main" id="{5D4C94DC-8D71-44AE-A3EA-4970E67A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51" name="Section number 133">
            <a:extLst xmlns:a="http://schemas.openxmlformats.org/drawingml/2006/main">
              <a:ext uri="{FF2B5EF4-FFF2-40B4-BE49-F238E27FC236}">
                <a16:creationId xmlns:a16="http://schemas.microsoft.com/office/drawing/2014/main" id="{FEC370EC-A76E-425E-8837-5108C05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52" name="Text 134: 04">
            <a:extLst xmlns:a="http://schemas.openxmlformats.org/drawingml/2006/main">
              <a:ext uri="{FF2B5EF4-FFF2-40B4-BE49-F238E27FC236}">
                <a16:creationId xmlns:a16="http://schemas.microsoft.com/office/drawing/2014/main" id="{EB777DFD-36D0-4F8B-9D8B-A0EB97F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53" name="Section number 135">
            <a:extLst xmlns:a="http://schemas.openxmlformats.org/drawingml/2006/main">
              <a:ext uri="{FF2B5EF4-FFF2-40B4-BE49-F238E27FC236}">
                <a16:creationId xmlns:a16="http://schemas.microsoft.com/office/drawing/2014/main" id="{FEC11E99-EEBC-423E-B1DB-EC909A27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D044"/>
            </a:solidFill>
            <a:prstDash val="solid"/>
          </a:ln>
        </p:spPr>
      </p:sp>
      <p:sp>
        <p:nvSpPr>
          <p:cNvPr id="54" name="Text 136: 05">
            <a:extLst xmlns:a="http://schemas.openxmlformats.org/drawingml/2006/main">
              <a:ext uri="{FF2B5EF4-FFF2-40B4-BE49-F238E27FC236}">
                <a16:creationId xmlns:a16="http://schemas.microsoft.com/office/drawing/2014/main" id="{9A7CBD33-413D-4E82-B614-CBF89B5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sp>
        <p:nvSpPr>
          <p:cNvPr id="55" name="Section number 137">
            <a:extLst xmlns:a="http://schemas.openxmlformats.org/drawingml/2006/main">
              <a:ext uri="{FF2B5EF4-FFF2-40B4-BE49-F238E27FC236}">
                <a16:creationId xmlns:a16="http://schemas.microsoft.com/office/drawing/2014/main" id="{A1570A8D-8BE0-47EC-A4AC-03392509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00650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56" name="Text 138: 06">
            <a:extLst xmlns:a="http://schemas.openxmlformats.org/drawingml/2006/main">
              <a:ext uri="{FF2B5EF4-FFF2-40B4-BE49-F238E27FC236}">
                <a16:creationId xmlns:a16="http://schemas.microsoft.com/office/drawing/2014/main" id="{DD07A4C7-FF68-4257-962F-B69112E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29225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677614d6443fd"/>
          <a:stretch xmlns:a="http://schemas.openxmlformats.org/drawingml/2006/main"/>
        </p:blipFill>
        <p:spPr>
          <a:xfrm xmlns:a="http://schemas.openxmlformats.org/drawingml/2006/main">
            <a:off x="1200150" y="1238250"/>
            <a:ext cx="895350" cy="1114425"/>
          </a:xfrm>
          <a:prstGeom xmlns:a="http://schemas.openxmlformats.org/drawingml/2006/main" prst="rect">
            <a:avLst/>
          </a:prstGeom>
        </p:spPr>
      </p:pic>
      <p:sp>
        <p:nvSpPr>
          <p:cNvPr id="58" name="Text 139: PHONE-FIRST ACCESS">
            <a:extLst xmlns:a="http://schemas.openxmlformats.org/drawingml/2006/main">
              <a:ext uri="{FF2B5EF4-FFF2-40B4-BE49-F238E27FC236}">
                <a16:creationId xmlns:a16="http://schemas.microsoft.com/office/drawing/2014/main" id="{3C1615EE-4703-4259-9D2F-D1CB934B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525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PHONE-FIRST ACCESS</a:t>
            </a:r>
          </a:p>
        </p:txBody>
      </p:sp>
      <p:sp>
        <p:nvSpPr>
          <p:cNvPr id="59" name="Text 140: Practice video or live camera. No specialist wearables.">
            <a:extLst xmlns:a="http://schemas.openxmlformats.org/drawingml/2006/main">
              <a:ext uri="{FF2B5EF4-FFF2-40B4-BE49-F238E27FC236}">
                <a16:creationId xmlns:a16="http://schemas.microsoft.com/office/drawing/2014/main" id="{FE662E05-3BD3-4A49-B172-8979117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video or live camera.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No specialist wearables.</a:t>
            </a:r>
          </a:p>
        </p:txBody>
      </p:sp>
      <p:sp>
        <p:nvSpPr>
          <p:cNvPr id="60" name="Panel 141">
            <a:extLst xmlns:a="http://schemas.openxmlformats.org/drawingml/2006/main">
              <a:ext uri="{FF2B5EF4-FFF2-40B4-BE49-F238E27FC236}">
                <a16:creationId xmlns:a16="http://schemas.microsoft.com/office/drawing/2014/main" id="{48CB86BD-5C66-408D-A079-2EB0D09E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4800600" cy="2371725"/>
          </a:xfrm>
          <a:prstGeom xmlns:a="http://schemas.openxmlformats.org/drawingml/2006/main" prst="roundRect">
            <a:avLst>
              <a:gd name="adj" fmla="val 5622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sp>
        <p:nvSpPr>
          <p:cNvPr id="61" name="Text 142: Upload &amp; Analyze">
            <a:extLst xmlns:a="http://schemas.openxmlformats.org/drawingml/2006/main">
              <a:ext uri="{FF2B5EF4-FFF2-40B4-BE49-F238E27FC236}">
                <a16:creationId xmlns:a16="http://schemas.microsoft.com/office/drawing/2014/main" id="{E2B9D126-FA10-4950-A076-1254861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390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Upload &amp; Analyze</a:t>
            </a:r>
          </a:p>
        </p:txBody>
      </p:sp>
      <p:sp>
        <p:nvSpPr>
          <p:cNvPr id="62" name="Text 143: Record and analyse a session">
            <a:extLst xmlns:a="http://schemas.openxmlformats.org/drawingml/2006/main">
              <a:ext uri="{FF2B5EF4-FFF2-40B4-BE49-F238E27FC236}">
                <a16:creationId xmlns:a16="http://schemas.microsoft.com/office/drawing/2014/main" id="{2D7CFE88-800E-4D9F-BF66-6262821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5100"/>
            <a:ext cx="2371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Record and analyse a session</a:t>
            </a:r>
          </a:p>
        </p:txBody>
      </p:sp>
      <p:sp>
        <p:nvSpPr>
          <p:cNvPr id="63" name="Panel 144">
            <a:extLst xmlns:a="http://schemas.openxmlformats.org/drawingml/2006/main">
              <a:ext uri="{FF2B5EF4-FFF2-40B4-BE49-F238E27FC236}">
                <a16:creationId xmlns:a16="http://schemas.microsoft.com/office/drawing/2014/main" id="{7430753A-0E4E-43A6-B0EC-C58580C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57500"/>
            <a:ext cx="2505075" cy="1819275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082F42"/>
          </a:solidFill>
          <a:ln xmlns:a="http://schemas.openxmlformats.org/drawingml/2006/main" w="5715">
            <a:solidFill>
              <a:srgbClr val="1F607A"/>
            </a:solidFill>
            <a:prstDash val="solid"/>
          </a:ln>
        </p:spPr>
      </p:sp>
      <p:sp>
        <p:nvSpPr>
          <p:cNvPr id="64" name="Panel 145">
            <a:extLst xmlns:a="http://schemas.openxmlformats.org/drawingml/2006/main">
              <a:ext uri="{FF2B5EF4-FFF2-40B4-BE49-F238E27FC236}">
                <a16:creationId xmlns:a16="http://schemas.microsoft.com/office/drawing/2014/main" id="{72D523A4-5144-4E5E-880D-6E62CEF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23241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384C"/>
          </a:solidFill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a95a31ed047b2"/>
          <a:stretch xmlns:a="http://schemas.openxmlformats.org/drawingml/2006/main"/>
        </p:blipFill>
        <p:spPr>
          <a:xfrm xmlns:a="http://schemas.openxmlformats.org/drawingml/2006/main">
            <a:off x="1390650" y="3190875"/>
            <a:ext cx="619125" cy="542925"/>
          </a:xfrm>
          <a:prstGeom xmlns:a="http://schemas.openxmlformats.org/drawingml/2006/main" prst="rect">
            <a:avLst/>
          </a:prstGeom>
        </p:spPr>
      </p:pic>
      <p:sp>
        <p:nvSpPr>
          <p:cNvPr id="66" name="Text 146: Click to select your sports video">
            <a:extLst xmlns:a="http://schemas.openxmlformats.org/drawingml/2006/main">
              <a:ext uri="{FF2B5EF4-FFF2-40B4-BE49-F238E27FC236}">
                <a16:creationId xmlns:a16="http://schemas.microsoft.com/office/drawing/2014/main" id="{751B906B-2C54-4435-B607-CC9E35D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Click to select your sports video</a:t>
            </a:r>
          </a:p>
        </p:txBody>
      </p:sp>
      <p:sp>
        <p:nvSpPr>
          <p:cNvPr id="67" name="Text 147: MP4 / MOV / AVI · max 200MB · 10–60 seconds recommended">
            <a:extLst xmlns:a="http://schemas.openxmlformats.org/drawingml/2006/main">
              <a:ext uri="{FF2B5EF4-FFF2-40B4-BE49-F238E27FC236}">
                <a16:creationId xmlns:a16="http://schemas.microsoft.com/office/drawing/2014/main" id="{560E680B-EF23-4558-BC9C-2062F93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2907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MP4 / MOV / AVI · max 200MB · 10–60 seconds recommended</a:t>
            </a:r>
          </a:p>
        </p:txBody>
      </p:sp>
      <p:sp>
        <p:nvSpPr>
          <p:cNvPr id="68" name="Panel 148">
            <a:extLst xmlns:a="http://schemas.openxmlformats.org/drawingml/2006/main">
              <a:ext uri="{FF2B5EF4-FFF2-40B4-BE49-F238E27FC236}">
                <a16:creationId xmlns:a16="http://schemas.microsoft.com/office/drawing/2014/main" id="{AA1F4F45-754C-44BE-B106-AC2FB0A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20193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0C263D"/>
          </a:solidFill>
          <a:ln xmlns:a="http://schemas.openxmlformats.org/drawingml/2006/main" w="5715">
            <a:solidFill>
              <a:srgbClr val="1F607A"/>
            </a:solidFill>
            <a:prstDash val="solid"/>
          </a:ln>
        </p:spPr>
      </p:sp>
      <p:sp>
        <p:nvSpPr>
          <p:cNvPr id="69" name="Text 149: How it works">
            <a:extLst xmlns:a="http://schemas.openxmlformats.org/drawingml/2006/main">
              <a:ext uri="{FF2B5EF4-FFF2-40B4-BE49-F238E27FC236}">
                <a16:creationId xmlns:a16="http://schemas.microsoft.com/office/drawing/2014/main" id="{81CB6A5E-416D-47B9-A9A2-BE0441EF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How it works</a:t>
            </a:r>
          </a:p>
        </p:txBody>
      </p:sp>
      <p:sp>
        <p:nvSpPr>
          <p:cNvPr id="70" name="Text 150: ✦">
            <a:extLst xmlns:a="http://schemas.openxmlformats.org/drawingml/2006/main">
              <a:ext uri="{FF2B5EF4-FFF2-40B4-BE49-F238E27FC236}">
                <a16:creationId xmlns:a16="http://schemas.microsoft.com/office/drawing/2014/main" id="{EE7268E4-4B3D-4FA0-96AF-0C9BB95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71" name="Circle 151">
            <a:extLst xmlns:a="http://schemas.openxmlformats.org/drawingml/2006/main">
              <a:ext uri="{FF2B5EF4-FFF2-40B4-BE49-F238E27FC236}">
                <a16:creationId xmlns:a16="http://schemas.microsoft.com/office/drawing/2014/main" id="{AE80757D-FBFE-4297-955D-15B367FC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28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2" name="Text 152: 1">
            <a:extLst xmlns:a="http://schemas.openxmlformats.org/drawingml/2006/main">
              <a:ext uri="{FF2B5EF4-FFF2-40B4-BE49-F238E27FC236}">
                <a16:creationId xmlns:a16="http://schemas.microsoft.com/office/drawing/2014/main" id="{8C61F214-EB2E-4AB5-B939-6533086B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4802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sp>
        <p:nvSpPr>
          <p:cNvPr id="73" name="Text 153: Record — your practice/exercise video in good light">
            <a:extLst xmlns:a="http://schemas.openxmlformats.org/drawingml/2006/main">
              <a:ext uri="{FF2B5EF4-FFF2-40B4-BE49-F238E27FC236}">
                <a16:creationId xmlns:a16="http://schemas.microsoft.com/office/drawing/2014/main" id="{61C09FD6-8A5F-4F11-9E31-52357123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289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Record — your practice/exercise video in good light</a:t>
            </a:r>
          </a:p>
        </p:txBody>
      </p:sp>
      <p:sp>
        <p:nvSpPr>
          <p:cNvPr id="74" name="Circle 154">
            <a:extLst xmlns:a="http://schemas.openxmlformats.org/drawingml/2006/main">
              <a:ext uri="{FF2B5EF4-FFF2-40B4-BE49-F238E27FC236}">
                <a16:creationId xmlns:a16="http://schemas.microsoft.com/office/drawing/2014/main" id="{E5A30828-A550-47ED-8EED-E1E5713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5" name="Text 155: 2">
            <a:extLst xmlns:a="http://schemas.openxmlformats.org/drawingml/2006/main">
              <a:ext uri="{FF2B5EF4-FFF2-40B4-BE49-F238E27FC236}">
                <a16:creationId xmlns:a16="http://schemas.microsoft.com/office/drawing/2014/main" id="{CAFFFF17-7A5E-4DE7-BD42-7D1DF71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sp>
        <p:nvSpPr>
          <p:cNvPr id="76" name="Text 156: Upload daily — one video per session">
            <a:extLst xmlns:a="http://schemas.openxmlformats.org/drawingml/2006/main">
              <a:ext uri="{FF2B5EF4-FFF2-40B4-BE49-F238E27FC236}">
                <a16:creationId xmlns:a16="http://schemas.microsoft.com/office/drawing/2014/main" id="{2F527798-639F-411F-8487-11D55C60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Upload daily — one video per session</a:t>
            </a:r>
          </a:p>
        </p:txBody>
      </p:sp>
      <p:sp>
        <p:nvSpPr>
          <p:cNvPr id="77" name="Circle 157">
            <a:extLst xmlns:a="http://schemas.openxmlformats.org/drawingml/2006/main">
              <a:ext uri="{FF2B5EF4-FFF2-40B4-BE49-F238E27FC236}">
                <a16:creationId xmlns:a16="http://schemas.microsoft.com/office/drawing/2014/main" id="{1A7FC439-B20C-48E8-9411-A1A56FE3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78" name="Text 158: 3">
            <a:extLst xmlns:a="http://schemas.openxmlformats.org/drawingml/2006/main">
              <a:ext uri="{FF2B5EF4-FFF2-40B4-BE49-F238E27FC236}">
                <a16:creationId xmlns:a16="http://schemas.microsoft.com/office/drawing/2014/main" id="{08C5E5F4-14B9-43D1-946A-0FF4A66A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0047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sp>
        <p:nvSpPr>
          <p:cNvPr id="79" name="Text 159: AI analyses — speed, agility, strength, stamina &amp; technique">
            <a:extLst xmlns:a="http://schemas.openxmlformats.org/drawingml/2006/main">
              <a:ext uri="{FF2B5EF4-FFF2-40B4-BE49-F238E27FC236}">
                <a16:creationId xmlns:a16="http://schemas.microsoft.com/office/drawing/2014/main" id="{A6D81858-B655-4A39-AC9E-1D81293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8142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analyses — speed, agility, strength, stamina &amp; technique</a:t>
            </a:r>
          </a:p>
        </p:txBody>
      </p:sp>
      <p:sp>
        <p:nvSpPr>
          <p:cNvPr id="80" name="Circle 160">
            <a:extLst xmlns:a="http://schemas.openxmlformats.org/drawingml/2006/main">
              <a:ext uri="{FF2B5EF4-FFF2-40B4-BE49-F238E27FC236}">
                <a16:creationId xmlns:a16="http://schemas.microsoft.com/office/drawing/2014/main" id="{38F35582-2175-4852-AEE4-FCE6BE36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81" name="Text 161: 4">
            <a:extLst xmlns:a="http://schemas.openxmlformats.org/drawingml/2006/main">
              <a:ext uri="{FF2B5EF4-FFF2-40B4-BE49-F238E27FC236}">
                <a16:creationId xmlns:a16="http://schemas.microsoft.com/office/drawing/2014/main" id="{71D0F0F7-1513-4F2A-985B-1975CE93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sp>
        <p:nvSpPr>
          <p:cNvPr id="82" name="Text 162: Report generated — strengths, weaknesses &amp; tips">
            <a:extLst xmlns:a="http://schemas.openxmlformats.org/drawingml/2006/main">
              <a:ext uri="{FF2B5EF4-FFF2-40B4-BE49-F238E27FC236}">
                <a16:creationId xmlns:a16="http://schemas.microsoft.com/office/drawing/2014/main" id="{675FB5C7-4B72-4F28-AFD6-76DF9F9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57650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Report generated — strengths, weaknesses &amp; tips</a:t>
            </a:r>
          </a:p>
        </p:txBody>
      </p:sp>
      <p:sp>
        <p:nvSpPr>
          <p:cNvPr id="83" name="Circle 163">
            <a:extLst xmlns:a="http://schemas.openxmlformats.org/drawingml/2006/main">
              <a:ext uri="{FF2B5EF4-FFF2-40B4-BE49-F238E27FC236}">
                <a16:creationId xmlns:a16="http://schemas.microsoft.com/office/drawing/2014/main" id="{D08114BE-DC58-4E01-B7B2-AAAB734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33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D7E7"/>
          </a:solidFill>
          <a:ln xmlns:a="http://schemas.openxmlformats.org/drawingml/2006/main" w="0">
            <a:noFill/>
          </a:ln>
        </p:spPr>
      </p:sp>
      <p:sp>
        <p:nvSpPr>
          <p:cNvPr id="84" name="Text 164: 5">
            <a:extLst xmlns:a="http://schemas.openxmlformats.org/drawingml/2006/main">
              <a:ext uri="{FF2B5EF4-FFF2-40B4-BE49-F238E27FC236}">
                <a16:creationId xmlns:a16="http://schemas.microsoft.com/office/drawing/2014/main" id="{C5F7B3A6-2C97-42A7-953D-DA481F17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52925"/>
            <a:ext cx="19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</a:t>
            </a:r>
          </a:p>
        </p:txBody>
      </p:sp>
      <p:sp>
        <p:nvSpPr>
          <p:cNvPr id="85" name="Text 165: Progress tracked — improve to earn leaderboard points">
            <a:extLst xmlns:a="http://schemas.openxmlformats.org/drawingml/2006/main">
              <a:ext uri="{FF2B5EF4-FFF2-40B4-BE49-F238E27FC236}">
                <a16:creationId xmlns:a16="http://schemas.microsoft.com/office/drawing/2014/main" id="{0E9879BC-55C7-46B1-B32A-EEC008BC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38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638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Progress tracked — improve to earn leaderboard points</a:t>
            </a:r>
          </a:p>
        </p:txBody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d9c755568469a"/>
          <a:stretch xmlns:a="http://schemas.openxmlformats.org/drawingml/2006/main"/>
        </p:blipFill>
        <p:spPr>
          <a:xfrm xmlns:a="http://schemas.openxmlformats.org/drawingml/2006/main">
            <a:off x="6486525" y="1276350"/>
            <a:ext cx="1143000" cy="1200150"/>
          </a:xfrm>
          <a:prstGeom xmlns:a="http://schemas.openxmlformats.org/drawingml/2006/main" prst="rect">
            <a:avLst/>
          </a:prstGeom>
        </p:spPr>
      </p:pic>
      <p:sp>
        <p:nvSpPr>
          <p:cNvPr id="87" name="Text 166: ON-DEVICE PRIVACY">
            <a:extLst xmlns:a="http://schemas.openxmlformats.org/drawingml/2006/main">
              <a:ext uri="{FF2B5EF4-FFF2-40B4-BE49-F238E27FC236}">
                <a16:creationId xmlns:a16="http://schemas.microsoft.com/office/drawing/2014/main" id="{A6A8237C-99CB-464D-92C4-FF21323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525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ON-DEVICE PRIVACY</a:t>
            </a:r>
          </a:p>
        </p:txBody>
      </p:sp>
      <p:sp>
        <p:nvSpPr>
          <p:cNvPr id="88" name="Text 167: Pose analysis runs in your browser. Raw video stays on your devic">
            <a:extLst xmlns:a="http://schemas.openxmlformats.org/drawingml/2006/main">
              <a:ext uri="{FF2B5EF4-FFF2-40B4-BE49-F238E27FC236}">
                <a16:creationId xmlns:a16="http://schemas.microsoft.com/office/drawing/2014/main" id="{D91246A3-6535-43C8-BCCB-EAD29E37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7145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analysis runs in your browser.</a:t>
            </a:r>
          </a:p>
          <a:p xmlns:a="http://schemas.openxmlformats.org/drawingml/2006/main">
            <a:pPr algn="l">
              <a:def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 stays on your device.</a:t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9237589374af3"/>
          <a:stretch xmlns:a="http://schemas.openxmlformats.org/drawingml/2006/main"/>
        </p:blipFill>
        <p:spPr>
          <a:xfrm xmlns:a="http://schemas.openxmlformats.org/drawingml/2006/main">
            <a:off x="5905500" y="2647950"/>
            <a:ext cx="790575" cy="895350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050981693445a"/>
          <a:stretch xmlns:a="http://schemas.openxmlformats.org/drawingml/2006/main"/>
        </p:blipFill>
        <p:spPr>
          <a:xfrm xmlns:a="http://schemas.openxmlformats.org/drawingml/2006/main">
            <a:off x="7372350" y="2609850"/>
            <a:ext cx="1114425" cy="923925"/>
          </a:xfrm>
          <a:prstGeom xmlns:a="http://schemas.openxmlformats.org/drawingml/2006/main" prst="rect">
            <a:avLst/>
          </a:prstGeom>
        </p:spPr>
      </p:pic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41eaad39940e8"/>
          <a:stretch xmlns:a="http://schemas.openxmlformats.org/drawingml/2006/main"/>
        </p:blipFill>
        <p:spPr>
          <a:xfrm xmlns:a="http://schemas.openxmlformats.org/drawingml/2006/main">
            <a:off x="8963025" y="2619375"/>
            <a:ext cx="1285875" cy="971550"/>
          </a:xfrm>
          <a:prstGeom xmlns:a="http://schemas.openxmlformats.org/drawingml/2006/main" prst="rect">
            <a:avLst/>
          </a:prstGeom>
        </p:spPr>
      </p:pic>
      <p:sp>
        <p:nvSpPr>
          <p:cNvPr id="92" name="Text 168: MediaPipe">
            <a:extLst xmlns:a="http://schemas.openxmlformats.org/drawingml/2006/main">
              <a:ext uri="{FF2B5EF4-FFF2-40B4-BE49-F238E27FC236}">
                <a16:creationId xmlns:a16="http://schemas.microsoft.com/office/drawing/2014/main" id="{0A7D9777-B9CB-4A1B-B001-E14A529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76650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sp>
        <p:nvSpPr>
          <p:cNvPr id="93" name="Text 169: Runs in your browser">
            <a:extLst xmlns:a="http://schemas.openxmlformats.org/drawingml/2006/main">
              <a:ext uri="{FF2B5EF4-FFF2-40B4-BE49-F238E27FC236}">
                <a16:creationId xmlns:a16="http://schemas.microsoft.com/office/drawing/2014/main" id="{8236C93C-5EE5-47EB-B28B-67332FB5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67125"/>
            <a:ext cx="1504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Runs in</a:t>
            </a:r>
          </a:p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your browser</a:t>
            </a:r>
          </a:p>
        </p:txBody>
      </p:sp>
      <p:sp>
        <p:nvSpPr>
          <p:cNvPr id="94" name="Text 170: Raw video stays on device">
            <a:extLst xmlns:a="http://schemas.openxmlformats.org/drawingml/2006/main">
              <a:ext uri="{FF2B5EF4-FFF2-40B4-BE49-F238E27FC236}">
                <a16:creationId xmlns:a16="http://schemas.microsoft.com/office/drawing/2014/main" id="{F279FA0E-C7A5-4676-85A7-561325C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552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Raw video</a:t>
            </a:r>
          </a:p>
          <a:p xmlns:a="http://schemas.openxmlformats.org/drawingml/2006/main">
            <a:pPr algn="ctr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stays on device</a:t>
            </a:r>
          </a:p>
        </p:txBody>
      </p:sp>
      <p:sp>
        <p:nvSpPr>
          <p:cNvPr id="95" name="Divider 171">
            <a:extLst xmlns:a="http://schemas.openxmlformats.org/drawingml/2006/main">
              <a:ext uri="{FF2B5EF4-FFF2-40B4-BE49-F238E27FC236}">
                <a16:creationId xmlns:a16="http://schemas.microsoft.com/office/drawing/2014/main" id="{00166B30-6643-4581-A013-9EF705AE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10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E7FA"/>
            </a:solidFill>
            <a:prstDash val="solid"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bb0fbc86e463f"/>
          <a:stretch xmlns:a="http://schemas.openxmlformats.org/drawingml/2006/main"/>
        </p:blipFill>
        <p:spPr>
          <a:xfrm xmlns:a="http://schemas.openxmlformats.org/drawingml/2006/main">
            <a:off x="5991225" y="4324350"/>
            <a:ext cx="333375" cy="409575"/>
          </a:xfrm>
          <a:prstGeom xmlns:a="http://schemas.openxmlformats.org/drawingml/2006/main" prst="rect">
            <a:avLst/>
          </a:prstGeom>
        </p:spPr>
      </p:pic>
      <p:sp>
        <p:nvSpPr>
          <p:cNvPr id="97" name="Text 172: Athlete controls:">
            <a:extLst xmlns:a="http://schemas.openxmlformats.org/drawingml/2006/main">
              <a:ext uri="{FF2B5EF4-FFF2-40B4-BE49-F238E27FC236}">
                <a16:creationId xmlns:a16="http://schemas.microsoft.com/office/drawing/2014/main" id="{FD0F057F-375D-4A4D-92BD-179E9B0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29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Athlete controls:</a:t>
            </a:r>
          </a:p>
        </p:txBody>
      </p:sp>
      <p:sp>
        <p:nvSpPr>
          <p:cNvPr id="98" name="Text 173: consent, export, delete">
            <a:extLst xmlns:a="http://schemas.openxmlformats.org/drawingml/2006/main">
              <a:ext uri="{FF2B5EF4-FFF2-40B4-BE49-F238E27FC236}">
                <a16:creationId xmlns:a16="http://schemas.microsoft.com/office/drawing/2014/main" id="{C850941C-CB27-4F8B-BDF3-5D55DCB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consent, export, delete</a:t>
            </a:r>
          </a:p>
        </p:txBody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2200fc3174222"/>
          <a:stretch xmlns:a="http://schemas.openxmlformats.org/drawingml/2006/main"/>
        </p:blipFill>
        <p:spPr>
          <a:xfrm xmlns:a="http://schemas.openxmlformats.org/drawingml/2006/main">
            <a:off x="11677650" y="1304925"/>
            <a:ext cx="1047750" cy="866775"/>
          </a:xfrm>
          <a:prstGeom xmlns:a="http://schemas.openxmlformats.org/drawingml/2006/main" prst="rect">
            <a:avLst/>
          </a:prstGeom>
        </p:spPr>
      </p:pic>
      <p:sp>
        <p:nvSpPr>
          <p:cNvPr id="100" name="Text 174: SPORT-AWARE INSIGHTS">
            <a:extLst xmlns:a="http://schemas.openxmlformats.org/drawingml/2006/main">
              <a:ext uri="{FF2B5EF4-FFF2-40B4-BE49-F238E27FC236}">
                <a16:creationId xmlns:a16="http://schemas.microsoft.com/office/drawing/2014/main" id="{3196B09C-B9A5-4AE6-B59C-C8454E9E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3430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SPORT-AWARE INSIGHTS</a:t>
            </a:r>
          </a:p>
        </p:txBody>
      </p:sp>
      <p:sp>
        <p:nvSpPr>
          <p:cNvPr id="101" name="Text 175: Five movement metrics with sport-specific scoring rules.">
            <a:extLst xmlns:a="http://schemas.openxmlformats.org/drawingml/2006/main">
              <a:ext uri="{FF2B5EF4-FFF2-40B4-BE49-F238E27FC236}">
                <a16:creationId xmlns:a16="http://schemas.microsoft.com/office/drawing/2014/main" id="{F9994A8E-EB2F-4E8D-A1BC-D3AB6B85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714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Five movement metrics with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scoring rules.</a:t>
            </a:r>
          </a:p>
        </p:txBody>
      </p:sp>
      <p:sp>
        <p:nvSpPr>
          <p:cNvPr id="102" name="Panel 176">
            <a:extLst xmlns:a="http://schemas.openxmlformats.org/drawingml/2006/main">
              <a:ext uri="{FF2B5EF4-FFF2-40B4-BE49-F238E27FC236}">
                <a16:creationId xmlns:a16="http://schemas.microsoft.com/office/drawing/2014/main" id="{63C4F200-6A48-43FC-A8E7-73655B5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343150"/>
            <a:ext cx="4743450" cy="2428875"/>
          </a:xfrm>
          <a:prstGeom xmlns:a="http://schemas.openxmlformats.org/drawingml/2006/main" prst="roundRect">
            <a:avLst>
              <a:gd name="adj" fmla="val 5098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6B9FA"/>
            </a:solidFill>
            <a:prstDash val="solid"/>
          </a:ln>
        </p:spPr>
      </p:sp>
      <p:sp>
        <p:nvSpPr>
          <p:cNvPr id="103" name="Text 177: AI Metric Scores">
            <a:extLst xmlns:a="http://schemas.openxmlformats.org/drawingml/2006/main">
              <a:ext uri="{FF2B5EF4-FFF2-40B4-BE49-F238E27FC236}">
                <a16:creationId xmlns:a16="http://schemas.microsoft.com/office/drawing/2014/main" id="{E9EEB5A3-4A9A-4491-8FAF-BC875229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476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Metric Scores</a:t>
            </a:r>
          </a:p>
        </p:txBody>
      </p:sp>
      <p:sp>
        <p:nvSpPr>
          <p:cNvPr id="104" name="Text 178: ▣">
            <a:extLst xmlns:a="http://schemas.openxmlformats.org/drawingml/2006/main">
              <a:ext uri="{FF2B5EF4-FFF2-40B4-BE49-F238E27FC236}">
                <a16:creationId xmlns:a16="http://schemas.microsoft.com/office/drawing/2014/main" id="{FCF488D4-6361-4098-9D11-8424036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476500"/>
            <a:ext cx="19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▣</a:t>
            </a:r>
          </a:p>
        </p:txBody>
      </p:sp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23479d5f74adf"/>
          <a:stretch xmlns:a="http://schemas.openxmlformats.org/drawingml/2006/main"/>
        </p:blipFill>
        <p:spPr>
          <a:xfrm xmlns:a="http://schemas.openxmlformats.org/drawingml/2006/main">
            <a:off x="11029950" y="2752725"/>
            <a:ext cx="180975" cy="228600"/>
          </a:xfrm>
          <a:prstGeom xmlns:a="http://schemas.openxmlformats.org/drawingml/2006/main" prst="rect">
            <a:avLst/>
          </a:prstGeom>
        </p:spPr>
      </p:pic>
      <p:sp>
        <p:nvSpPr>
          <p:cNvPr id="106" name="Text 179: Swing Speed">
            <a:extLst xmlns:a="http://schemas.openxmlformats.org/drawingml/2006/main">
              <a:ext uri="{FF2B5EF4-FFF2-40B4-BE49-F238E27FC236}">
                <a16:creationId xmlns:a16="http://schemas.microsoft.com/office/drawing/2014/main" id="{E61E1385-8186-4705-B619-B4CF7555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908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Swing Speed</a:t>
            </a:r>
          </a:p>
        </p:txBody>
      </p:sp>
      <p:sp>
        <p:nvSpPr>
          <p:cNvPr id="107" name="Text 180: 76/100 (+3)">
            <a:extLst xmlns:a="http://schemas.openxmlformats.org/drawingml/2006/main">
              <a:ext uri="{FF2B5EF4-FFF2-40B4-BE49-F238E27FC236}">
                <a16:creationId xmlns:a16="http://schemas.microsoft.com/office/drawing/2014/main" id="{E8EF0DD0-E5EB-462F-AF22-536419DB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7908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76/100 (+3)</a:t>
            </a:r>
          </a:p>
        </p:txBody>
      </p:sp>
      <p:sp>
        <p:nvSpPr>
          <p:cNvPr id="108" name="Panel 181">
            <a:extLst xmlns:a="http://schemas.openxmlformats.org/drawingml/2006/main">
              <a:ext uri="{FF2B5EF4-FFF2-40B4-BE49-F238E27FC236}">
                <a16:creationId xmlns:a16="http://schemas.microsoft.com/office/drawing/2014/main" id="{BCBAA467-055C-4679-B542-BBC5D35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908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nel 182">
            <a:extLst xmlns:a="http://schemas.openxmlformats.org/drawingml/2006/main">
              <a:ext uri="{FF2B5EF4-FFF2-40B4-BE49-F238E27FC236}">
                <a16:creationId xmlns:a16="http://schemas.microsoft.com/office/drawing/2014/main" id="{2C7E4373-58B9-4FFB-8548-7BD67C6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90850"/>
            <a:ext cx="332994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423816a8b4c28"/>
          <a:stretch xmlns:a="http://schemas.openxmlformats.org/drawingml/2006/main"/>
        </p:blipFill>
        <p:spPr>
          <a:xfrm xmlns:a="http://schemas.openxmlformats.org/drawingml/2006/main">
            <a:off x="11029950" y="3190875"/>
            <a:ext cx="190500" cy="209550"/>
          </a:xfrm>
          <a:prstGeom xmlns:a="http://schemas.openxmlformats.org/drawingml/2006/main" prst="rect">
            <a:avLst/>
          </a:prstGeom>
        </p:spPr>
      </p:pic>
      <p:sp>
        <p:nvSpPr>
          <p:cNvPr id="111" name="Text 183: Footwork &amp; Reflex">
            <a:extLst xmlns:a="http://schemas.openxmlformats.org/drawingml/2006/main">
              <a:ext uri="{FF2B5EF4-FFF2-40B4-BE49-F238E27FC236}">
                <a16:creationId xmlns:a16="http://schemas.microsoft.com/office/drawing/2014/main" id="{C93204DF-4FF3-476E-82D7-CA7CA8D7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Footwork &amp; Reflex</a:t>
            </a:r>
          </a:p>
        </p:txBody>
      </p:sp>
      <p:sp>
        <p:nvSpPr>
          <p:cNvPr id="112" name="Text 184: 90/100 (+5)">
            <a:extLst xmlns:a="http://schemas.openxmlformats.org/drawingml/2006/main">
              <a:ext uri="{FF2B5EF4-FFF2-40B4-BE49-F238E27FC236}">
                <a16:creationId xmlns:a16="http://schemas.microsoft.com/office/drawing/2014/main" id="{DA373879-F3F9-4031-AB34-B6AE010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1908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90/100 (+5)</a:t>
            </a:r>
          </a:p>
        </p:txBody>
      </p:sp>
      <p:sp>
        <p:nvSpPr>
          <p:cNvPr id="113" name="Panel 185">
            <a:extLst xmlns:a="http://schemas.openxmlformats.org/drawingml/2006/main">
              <a:ext uri="{FF2B5EF4-FFF2-40B4-BE49-F238E27FC236}">
                <a16:creationId xmlns:a16="http://schemas.microsoft.com/office/drawing/2014/main" id="{2B853231-7B7B-485C-B17D-958B046E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9090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nel 186">
            <a:extLst xmlns:a="http://schemas.openxmlformats.org/drawingml/2006/main">
              <a:ext uri="{FF2B5EF4-FFF2-40B4-BE49-F238E27FC236}">
                <a16:creationId xmlns:a16="http://schemas.microsoft.com/office/drawing/2014/main" id="{BF718B66-6400-4B12-B4C2-A5EFE873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390900"/>
            <a:ext cx="394335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e587b00f3402b"/>
          <a:stretch xmlns:a="http://schemas.openxmlformats.org/drawingml/2006/main"/>
        </p:blipFill>
        <p:spPr>
          <a:xfrm xmlns:a="http://schemas.openxmlformats.org/drawingml/2006/main">
            <a:off x="11020425" y="3590925"/>
            <a:ext cx="200025" cy="209550"/>
          </a:xfrm>
          <a:prstGeom xmlns:a="http://schemas.openxmlformats.org/drawingml/2006/main" prst="rect">
            <a:avLst/>
          </a:prstGeom>
        </p:spPr>
      </p:pic>
      <p:sp>
        <p:nvSpPr>
          <p:cNvPr id="116" name="Text 187: Hitting Power">
            <a:extLst xmlns:a="http://schemas.openxmlformats.org/drawingml/2006/main">
              <a:ext uri="{FF2B5EF4-FFF2-40B4-BE49-F238E27FC236}">
                <a16:creationId xmlns:a16="http://schemas.microsoft.com/office/drawing/2014/main" id="{F5A16671-5738-49D4-B355-1D61AE7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909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Hitting Power</a:t>
            </a:r>
          </a:p>
        </p:txBody>
      </p:sp>
      <p:sp>
        <p:nvSpPr>
          <p:cNvPr id="117" name="Text 188: 70/100 (0)">
            <a:extLst xmlns:a="http://schemas.openxmlformats.org/drawingml/2006/main">
              <a:ext uri="{FF2B5EF4-FFF2-40B4-BE49-F238E27FC236}">
                <a16:creationId xmlns:a16="http://schemas.microsoft.com/office/drawing/2014/main" id="{2BA7C02D-8EF9-43A9-B384-2AC29E1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5909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70/100 (0)</a:t>
            </a:r>
          </a:p>
        </p:txBody>
      </p:sp>
      <p:sp>
        <p:nvSpPr>
          <p:cNvPr id="118" name="Panel 189">
            <a:extLst xmlns:a="http://schemas.openxmlformats.org/drawingml/2006/main">
              <a:ext uri="{FF2B5EF4-FFF2-40B4-BE49-F238E27FC236}">
                <a16:creationId xmlns:a16="http://schemas.microsoft.com/office/drawing/2014/main" id="{BC7B9EDA-881E-4ECC-971F-8281E33A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7909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nel 190">
            <a:extLst xmlns:a="http://schemas.openxmlformats.org/drawingml/2006/main">
              <a:ext uri="{FF2B5EF4-FFF2-40B4-BE49-F238E27FC236}">
                <a16:creationId xmlns:a16="http://schemas.microsoft.com/office/drawing/2014/main" id="{1527380F-D903-4151-BCD8-6C870BC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790950"/>
            <a:ext cx="306705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0cb86a8814dcd"/>
          <a:stretch xmlns:a="http://schemas.openxmlformats.org/drawingml/2006/main"/>
        </p:blipFill>
        <p:spPr>
          <a:xfrm xmlns:a="http://schemas.openxmlformats.org/drawingml/2006/main">
            <a:off x="11020425" y="3981450"/>
            <a:ext cx="200025" cy="219075"/>
          </a:xfrm>
          <a:prstGeom xmlns:a="http://schemas.openxmlformats.org/drawingml/2006/main" prst="rect">
            <a:avLst/>
          </a:prstGeom>
        </p:spPr>
      </p:pic>
      <p:sp>
        <p:nvSpPr>
          <p:cNvPr id="121" name="Text 191: Session Stamina">
            <a:extLst xmlns:a="http://schemas.openxmlformats.org/drawingml/2006/main">
              <a:ext uri="{FF2B5EF4-FFF2-40B4-BE49-F238E27FC236}">
                <a16:creationId xmlns:a16="http://schemas.microsoft.com/office/drawing/2014/main" id="{0221E5B9-96E9-49C8-A55E-D305AD0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909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Session Stamina</a:t>
            </a:r>
          </a:p>
        </p:txBody>
      </p:sp>
      <p:sp>
        <p:nvSpPr>
          <p:cNvPr id="122" name="Text 192: 74/100 (0)">
            <a:extLst xmlns:a="http://schemas.openxmlformats.org/drawingml/2006/main">
              <a:ext uri="{FF2B5EF4-FFF2-40B4-BE49-F238E27FC236}">
                <a16:creationId xmlns:a16="http://schemas.microsoft.com/office/drawing/2014/main" id="{DDDEEFC7-CBB3-4F47-A913-233E68CD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99097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74/100 (0)</a:t>
            </a:r>
          </a:p>
        </p:txBody>
      </p:sp>
      <p:sp>
        <p:nvSpPr>
          <p:cNvPr id="123" name="Panel 193">
            <a:extLst xmlns:a="http://schemas.openxmlformats.org/drawingml/2006/main">
              <a:ext uri="{FF2B5EF4-FFF2-40B4-BE49-F238E27FC236}">
                <a16:creationId xmlns:a16="http://schemas.microsoft.com/office/drawing/2014/main" id="{D7605E69-5384-4141-8561-23EB0AEA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19100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nel 194">
            <a:extLst xmlns:a="http://schemas.openxmlformats.org/drawingml/2006/main">
              <a:ext uri="{FF2B5EF4-FFF2-40B4-BE49-F238E27FC236}">
                <a16:creationId xmlns:a16="http://schemas.microsoft.com/office/drawing/2014/main" id="{CE6225EA-C220-4AFE-8A56-9FA4E2B8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191000"/>
            <a:ext cx="3242310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c551d5bbc43e9"/>
          <a:stretch xmlns:a="http://schemas.openxmlformats.org/drawingml/2006/main"/>
        </p:blipFill>
        <p:spPr>
          <a:xfrm xmlns:a="http://schemas.openxmlformats.org/drawingml/2006/main">
            <a:off x="11029950" y="43719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26" name="Text 195: Shot Technique">
            <a:extLst xmlns:a="http://schemas.openxmlformats.org/drawingml/2006/main">
              <a:ext uri="{FF2B5EF4-FFF2-40B4-BE49-F238E27FC236}">
                <a16:creationId xmlns:a16="http://schemas.microsoft.com/office/drawing/2014/main" id="{D8252412-FD2F-4F5A-BE2F-9531D021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Shot Technique</a:t>
            </a:r>
          </a:p>
        </p:txBody>
      </p:sp>
      <p:sp>
        <p:nvSpPr>
          <p:cNvPr id="127" name="Text 196: 77/100 (+4)">
            <a:extLst xmlns:a="http://schemas.openxmlformats.org/drawingml/2006/main">
              <a:ext uri="{FF2B5EF4-FFF2-40B4-BE49-F238E27FC236}">
                <a16:creationId xmlns:a16="http://schemas.microsoft.com/office/drawing/2014/main" id="{55BA781D-9327-400E-A816-E0EA758F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4391025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77/100 (+4)</a:t>
            </a:r>
          </a:p>
        </p:txBody>
      </p:sp>
      <p:sp>
        <p:nvSpPr>
          <p:cNvPr id="128" name="Panel 197">
            <a:extLst xmlns:a="http://schemas.openxmlformats.org/drawingml/2006/main">
              <a:ext uri="{FF2B5EF4-FFF2-40B4-BE49-F238E27FC236}">
                <a16:creationId xmlns:a16="http://schemas.microsoft.com/office/drawing/2014/main" id="{BDB7C360-8B6C-4358-B599-AB5775A1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591050"/>
            <a:ext cx="4381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3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nel 198">
            <a:extLst xmlns:a="http://schemas.openxmlformats.org/drawingml/2006/main">
              <a:ext uri="{FF2B5EF4-FFF2-40B4-BE49-F238E27FC236}">
                <a16:creationId xmlns:a16="http://schemas.microsoft.com/office/drawing/2014/main" id="{FAC74FEC-1CA2-4439-8B37-5E23B23E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591050"/>
            <a:ext cx="3373755" cy="1047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6ECF5"/>
              </a:gs>
              <a:gs pos="100000">
                <a:srgbClr val="0BA7C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0691cf20941fa"/>
          <a:stretch xmlns:a="http://schemas.openxmlformats.org/drawingml/2006/main"/>
        </p:blipFill>
        <p:spPr>
          <a:xfrm xmlns:a="http://schemas.openxmlformats.org/drawingml/2006/main">
            <a:off x="1266825" y="5153025"/>
            <a:ext cx="1000125" cy="1076325"/>
          </a:xfrm>
          <a:prstGeom xmlns:a="http://schemas.openxmlformats.org/drawingml/2006/main" prst="rect">
            <a:avLst/>
          </a:prstGeom>
        </p:spPr>
      </p:pic>
      <p:sp>
        <p:nvSpPr>
          <p:cNvPr id="131" name="Text 199: PROGRESS EVIDENCE">
            <a:extLst xmlns:a="http://schemas.openxmlformats.org/drawingml/2006/main">
              <a:ext uri="{FF2B5EF4-FFF2-40B4-BE49-F238E27FC236}">
                <a16:creationId xmlns:a16="http://schemas.microsoft.com/office/drawing/2014/main" id="{EEC32C27-B1F4-4E99-AB00-5A32451B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19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PROGRESS EVIDENCE</a:t>
            </a:r>
          </a:p>
        </p:txBody>
      </p:sp>
      <p:sp>
        <p:nvSpPr>
          <p:cNvPr id="132" name="Text 200: Track session history and export PDF reports.">
            <a:extLst xmlns:a="http://schemas.openxmlformats.org/drawingml/2006/main">
              <a:ext uri="{FF2B5EF4-FFF2-40B4-BE49-F238E27FC236}">
                <a16:creationId xmlns:a16="http://schemas.microsoft.com/office/drawing/2014/main" id="{8AC11AF1-AA5D-45A7-8D02-CF1E98A8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Track session history and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export PDF reports.</a:t>
            </a:r>
          </a:p>
        </p:txBody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4013ce59e4d13"/>
          <a:stretch xmlns:a="http://schemas.openxmlformats.org/drawingml/2006/main"/>
        </p:blipFill>
        <p:spPr>
          <a:xfrm xmlns:a="http://schemas.openxmlformats.org/drawingml/2006/main">
            <a:off x="638175" y="6448425"/>
            <a:ext cx="1190625" cy="1419225"/>
          </a:xfrm>
          <a:prstGeom xmlns:a="http://schemas.openxmlformats.org/drawingml/2006/main" prst="rect">
            <a:avLst/>
          </a:prstGeom>
        </p:spPr>
      </p:pic>
      <p:sp>
        <p:nvSpPr>
          <p:cNvPr id="134" name="Editable flow arrow 201">
            <a:extLst xmlns:a="http://schemas.openxmlformats.org/drawingml/2006/main">
              <a:ext uri="{FF2B5EF4-FFF2-40B4-BE49-F238E27FC236}">
                <a16:creationId xmlns:a16="http://schemas.microsoft.com/office/drawing/2014/main" id="{170CBD55-4BF3-47DD-A885-D96D201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981825"/>
            <a:ext cx="55245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9FA"/>
          </a:solidFill>
          <a:ln xmlns:a="http://schemas.openxmlformats.org/drawingml/2006/main" w="0">
            <a:noFill/>
          </a:ln>
        </p:spPr>
      </p:sp>
      <p:pic>
        <p:nvPicPr>
          <p:cNvPr id="3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fb7b5dfd74efc"/>
          <a:stretch xmlns:a="http://schemas.openxmlformats.org/drawingml/2006/main"/>
        </p:blipFill>
        <p:spPr>
          <a:xfrm xmlns:a="http://schemas.openxmlformats.org/drawingml/2006/main">
            <a:off x="2733675" y="6667500"/>
            <a:ext cx="866775" cy="838200"/>
          </a:xfrm>
          <a:prstGeom xmlns:a="http://schemas.openxmlformats.org/drawingml/2006/main" prst="rect">
            <a:avLst/>
          </a:prstGeom>
        </p:spPr>
      </p:pic>
      <p:sp>
        <p:nvSpPr>
          <p:cNvPr id="136" name="Text 202: jsPDF">
            <a:extLst xmlns:a="http://schemas.openxmlformats.org/drawingml/2006/main">
              <a:ext uri="{FF2B5EF4-FFF2-40B4-BE49-F238E27FC236}">
                <a16:creationId xmlns:a16="http://schemas.microsoft.com/office/drawing/2014/main" id="{C94E92D3-45AF-4693-8238-FCEEB416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915150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jsPDF</a:t>
            </a:r>
          </a:p>
        </p:txBody>
      </p:sp>
      <p:pic>
        <p:nvPicPr>
          <p:cNvPr id="3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1499407a54a02"/>
          <a:stretch xmlns:a="http://schemas.openxmlformats.org/drawingml/2006/main"/>
        </p:blipFill>
        <p:spPr>
          <a:xfrm xmlns:a="http://schemas.openxmlformats.org/drawingml/2006/main">
            <a:off x="6210300" y="5143500"/>
            <a:ext cx="1019175" cy="933450"/>
          </a:xfrm>
          <a:prstGeom xmlns:a="http://schemas.openxmlformats.org/drawingml/2006/main" prst="rect">
            <a:avLst/>
          </a:prstGeom>
        </p:spPr>
      </p:pic>
      <p:sp>
        <p:nvSpPr>
          <p:cNvPr id="138" name="Text 203: COACH VISIBILITY">
            <a:extLst xmlns:a="http://schemas.openxmlformats.org/drawingml/2006/main">
              <a:ext uri="{FF2B5EF4-FFF2-40B4-BE49-F238E27FC236}">
                <a16:creationId xmlns:a16="http://schemas.microsoft.com/office/drawing/2014/main" id="{01026DBA-63AD-4E6B-ADFF-2DA81FAC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2292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VISIBILITY</a:t>
            </a:r>
          </a:p>
        </p:txBody>
      </p:sp>
      <p:sp>
        <p:nvSpPr>
          <p:cNvPr id="139" name="Text 204: Coaches search athlete profiles and connect through messages.">
            <a:extLst xmlns:a="http://schemas.openxmlformats.org/drawingml/2006/main">
              <a:ext uri="{FF2B5EF4-FFF2-40B4-BE49-F238E27FC236}">
                <a16:creationId xmlns:a16="http://schemas.microsoft.com/office/drawing/2014/main" id="{DEFFC1EC-A204-437C-99A7-30818DA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60070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search athlete profiles</a:t>
            </a:r>
          </a:p>
          <a:p xmlns:a="http://schemas.openxmlformats.org/drawingml/2006/main">
            <a:pPr algn="l">
              <a:def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connect through messages.</a:t>
            </a:r>
          </a:p>
        </p:txBody>
      </p:sp>
      <p:sp>
        <p:nvSpPr>
          <p:cNvPr id="140" name="Panel 205">
            <a:extLst xmlns:a="http://schemas.openxmlformats.org/drawingml/2006/main">
              <a:ext uri="{FF2B5EF4-FFF2-40B4-BE49-F238E27FC236}">
                <a16:creationId xmlns:a16="http://schemas.microsoft.com/office/drawing/2014/main" id="{794CA7B7-5688-45E4-968D-124698D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43625"/>
            <a:ext cx="5105400" cy="1971675"/>
          </a:xfrm>
          <a:prstGeom xmlns:a="http://schemas.openxmlformats.org/drawingml/2006/main" prst="roundRect">
            <a:avLst>
              <a:gd name="adj" fmla="val 6280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116282"/>
            </a:solidFill>
            <a:prstDash val="solid"/>
          </a:ln>
        </p:spPr>
      </p:sp>
      <p:sp>
        <p:nvSpPr>
          <p:cNvPr id="141" name="Text 206: Recruiter Hub">
            <a:extLst xmlns:a="http://schemas.openxmlformats.org/drawingml/2006/main">
              <a:ext uri="{FF2B5EF4-FFF2-40B4-BE49-F238E27FC236}">
                <a16:creationId xmlns:a16="http://schemas.microsoft.com/office/drawing/2014/main" id="{A6AFCBAA-0277-4A46-BE6A-52BC7CA0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191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Recruiter Hub</a:t>
            </a:r>
          </a:p>
        </p:txBody>
      </p:sp>
      <p:sp>
        <p:nvSpPr>
          <p:cNvPr id="142" name="Text 207: Search the talent pool + AI Scout recommends athletes to you">
            <a:extLst xmlns:a="http://schemas.openxmlformats.org/drawingml/2006/main">
              <a:ext uri="{FF2B5EF4-FFF2-40B4-BE49-F238E27FC236}">
                <a16:creationId xmlns:a16="http://schemas.microsoft.com/office/drawing/2014/main" id="{032AFBDB-3D5A-4660-83D5-D114696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41032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the talent pool + AI Scout recommends athletes to you</a:t>
            </a:r>
          </a:p>
        </p:txBody>
      </p:sp>
      <p:sp>
        <p:nvSpPr>
          <p:cNvPr id="143" name="Text 208: Search Athletes">
            <a:extLst xmlns:a="http://schemas.openxmlformats.org/drawingml/2006/main">
              <a:ext uri="{FF2B5EF4-FFF2-40B4-BE49-F238E27FC236}">
                <a16:creationId xmlns:a16="http://schemas.microsoft.com/office/drawing/2014/main" id="{F11D361F-048A-4343-BD8F-3B44A54F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629400"/>
            <a:ext cx="454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Search Athletes</a:t>
            </a:r>
          </a:p>
        </p:txBody>
      </p:sp>
      <p:sp>
        <p:nvSpPr>
          <p:cNvPr id="144" name="Text 209: ⌕">
            <a:extLst xmlns:a="http://schemas.openxmlformats.org/drawingml/2006/main">
              <a:ext uri="{FF2B5EF4-FFF2-40B4-BE49-F238E27FC236}">
                <a16:creationId xmlns:a16="http://schemas.microsoft.com/office/drawing/2014/main" id="{03E7BEA0-8D49-4502-9160-33A9D597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610350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⌕</a:t>
            </a:r>
          </a:p>
        </p:txBody>
      </p:sp>
      <p:sp>
        <p:nvSpPr>
          <p:cNvPr id="145" name="Text 210: SPORT">
            <a:extLst xmlns:a="http://schemas.openxmlformats.org/drawingml/2006/main">
              <a:ext uri="{FF2B5EF4-FFF2-40B4-BE49-F238E27FC236}">
                <a16:creationId xmlns:a16="http://schemas.microsoft.com/office/drawing/2014/main" id="{AFFA2A9D-2A5A-44AF-A424-B047E44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838950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SPORT</a:t>
            </a:r>
          </a:p>
        </p:txBody>
      </p:sp>
      <p:sp>
        <p:nvSpPr>
          <p:cNvPr id="146" name="Panel 211">
            <a:extLst xmlns:a="http://schemas.openxmlformats.org/drawingml/2006/main">
              <a:ext uri="{FF2B5EF4-FFF2-40B4-BE49-F238E27FC236}">
                <a16:creationId xmlns:a16="http://schemas.microsoft.com/office/drawing/2014/main" id="{82A0D874-E579-4AEF-8285-2F88E34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962775"/>
            <a:ext cx="106680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47" name="Text 212: All Sports">
            <a:extLst xmlns:a="http://schemas.openxmlformats.org/drawingml/2006/main">
              <a:ext uri="{FF2B5EF4-FFF2-40B4-BE49-F238E27FC236}">
                <a16:creationId xmlns:a16="http://schemas.microsoft.com/office/drawing/2014/main" id="{1AC71D36-B5C1-40AC-A6B2-B26568E9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19925"/>
            <a:ext cx="923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 Sports</a:t>
            </a:r>
          </a:p>
        </p:txBody>
      </p:sp>
      <p:sp>
        <p:nvSpPr>
          <p:cNvPr id="148" name="Text 213: MIN SCORE">
            <a:extLst xmlns:a="http://schemas.openxmlformats.org/drawingml/2006/main">
              <a:ext uri="{FF2B5EF4-FFF2-40B4-BE49-F238E27FC236}">
                <a16:creationId xmlns:a16="http://schemas.microsoft.com/office/drawing/2014/main" id="{82419887-F44E-4664-9B1B-39614A6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MIN SCORE</a:t>
            </a:r>
          </a:p>
        </p:txBody>
      </p:sp>
      <p:sp>
        <p:nvSpPr>
          <p:cNvPr id="149" name="Panel 214">
            <a:extLst xmlns:a="http://schemas.openxmlformats.org/drawingml/2006/main">
              <a:ext uri="{FF2B5EF4-FFF2-40B4-BE49-F238E27FC236}">
                <a16:creationId xmlns:a16="http://schemas.microsoft.com/office/drawing/2014/main" id="{802640D7-6A1F-4219-8D01-3E75757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0" name="Text 215: 0">
            <a:extLst xmlns:a="http://schemas.openxmlformats.org/drawingml/2006/main">
              <a:ext uri="{FF2B5EF4-FFF2-40B4-BE49-F238E27FC236}">
                <a16:creationId xmlns:a16="http://schemas.microsoft.com/office/drawing/2014/main" id="{E07992E7-9464-4E1A-8904-1E2715D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0</a:t>
            </a:r>
          </a:p>
        </p:txBody>
      </p:sp>
      <p:sp>
        <p:nvSpPr>
          <p:cNvPr id="151" name="Text 216: AGE MIN">
            <a:extLst xmlns:a="http://schemas.openxmlformats.org/drawingml/2006/main">
              <a:ext uri="{FF2B5EF4-FFF2-40B4-BE49-F238E27FC236}">
                <a16:creationId xmlns:a16="http://schemas.microsoft.com/office/drawing/2014/main" id="{A5DC2167-2664-400A-9EAC-3E61DFDB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AGE MIN</a:t>
            </a:r>
          </a:p>
        </p:txBody>
      </p:sp>
      <p:sp>
        <p:nvSpPr>
          <p:cNvPr id="152" name="Panel 217">
            <a:extLst xmlns:a="http://schemas.openxmlformats.org/drawingml/2006/main">
              <a:ext uri="{FF2B5EF4-FFF2-40B4-BE49-F238E27FC236}">
                <a16:creationId xmlns:a16="http://schemas.microsoft.com/office/drawing/2014/main" id="{2569AF29-ECFB-405C-90A6-AED31B2F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3" name="Text 218: 8">
            <a:extLst xmlns:a="http://schemas.openxmlformats.org/drawingml/2006/main">
              <a:ext uri="{FF2B5EF4-FFF2-40B4-BE49-F238E27FC236}">
                <a16:creationId xmlns:a16="http://schemas.microsoft.com/office/drawing/2014/main" id="{4133C2C5-D307-443A-8B71-733F16C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8</a:t>
            </a:r>
          </a:p>
        </p:txBody>
      </p:sp>
      <p:sp>
        <p:nvSpPr>
          <p:cNvPr id="154" name="Text 219: AGE MAX">
            <a:extLst xmlns:a="http://schemas.openxmlformats.org/drawingml/2006/main">
              <a:ext uri="{FF2B5EF4-FFF2-40B4-BE49-F238E27FC236}">
                <a16:creationId xmlns:a16="http://schemas.microsoft.com/office/drawing/2014/main" id="{F9E38729-B26B-4354-9DF9-E11D4CC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838950"/>
            <a:ext cx="742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AGE MAX</a:t>
            </a:r>
          </a:p>
        </p:txBody>
      </p:sp>
      <p:sp>
        <p:nvSpPr>
          <p:cNvPr id="155" name="Panel 220">
            <a:extLst xmlns:a="http://schemas.openxmlformats.org/drawingml/2006/main">
              <a:ext uri="{FF2B5EF4-FFF2-40B4-BE49-F238E27FC236}">
                <a16:creationId xmlns:a16="http://schemas.microsoft.com/office/drawing/2014/main" id="{B897CBF7-8CAA-4C51-8B72-F6A48A34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962775"/>
            <a:ext cx="7429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6" name="Text 221: 40">
            <a:extLst xmlns:a="http://schemas.openxmlformats.org/drawingml/2006/main">
              <a:ext uri="{FF2B5EF4-FFF2-40B4-BE49-F238E27FC236}">
                <a16:creationId xmlns:a16="http://schemas.microsoft.com/office/drawing/2014/main" id="{A211503E-07D3-4A73-88D3-5931309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19925"/>
            <a:ext cx="600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40</a:t>
            </a:r>
          </a:p>
        </p:txBody>
      </p:sp>
      <p:sp>
        <p:nvSpPr>
          <p:cNvPr id="157" name="Text 222: LOCATION">
            <a:extLst xmlns:a="http://schemas.openxmlformats.org/drawingml/2006/main">
              <a:ext uri="{FF2B5EF4-FFF2-40B4-BE49-F238E27FC236}">
                <a16:creationId xmlns:a16="http://schemas.microsoft.com/office/drawing/2014/main" id="{3D825635-8A9F-4D07-A98B-E42A4031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83895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LOCATION</a:t>
            </a:r>
          </a:p>
        </p:txBody>
      </p:sp>
      <p:sp>
        <p:nvSpPr>
          <p:cNvPr id="158" name="Panel 223">
            <a:extLst xmlns:a="http://schemas.openxmlformats.org/drawingml/2006/main">
              <a:ext uri="{FF2B5EF4-FFF2-40B4-BE49-F238E27FC236}">
                <a16:creationId xmlns:a16="http://schemas.microsoft.com/office/drawing/2014/main" id="{7E81719C-D569-4761-A446-DDDEF4D5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962775"/>
            <a:ext cx="1190625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1827"/>
          </a:solidFill>
          <a:ln xmlns:a="http://schemas.openxmlformats.org/drawingml/2006/main" w="5715">
            <a:solidFill>
              <a:srgbClr val="2A435A"/>
            </a:solidFill>
            <a:prstDash val="solid"/>
          </a:ln>
        </p:spPr>
      </p:sp>
      <p:sp>
        <p:nvSpPr>
          <p:cNvPr id="159" name="Text 224: All">
            <a:extLst xmlns:a="http://schemas.openxmlformats.org/drawingml/2006/main">
              <a:ext uri="{FF2B5EF4-FFF2-40B4-BE49-F238E27FC236}">
                <a16:creationId xmlns:a16="http://schemas.microsoft.com/office/drawing/2014/main" id="{604FEE9F-BB25-4465-983F-05129D4F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7019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All</a:t>
            </a:r>
          </a:p>
        </p:txBody>
      </p:sp>
      <p:graphicFrame>
        <p:nvGraphicFramePr>
          <p:cNvPr id="344" name=""/>
          <p:cNvGraphicFramePr/>
          <p:nvPr/>
        </p:nvGraphicFramePr>
        <p:xfrm>
          <a:off xmlns:a="http://schemas.openxmlformats.org/drawingml/2006/main" x="5467350" y="7277100"/>
          <a:ext xmlns:a="http://schemas.openxmlformats.org/drawingml/2006/main" cx="4876800" cy="800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333375"/>
                <a:gridCol w="704850"/>
                <a:gridCol w="590550"/>
                <a:gridCol w="485775"/>
                <a:gridCol w="723900"/>
                <a:gridCol w="838200"/>
              </a:tblGrid>
              <a:tr h="200025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ATHLETE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AGE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SPORT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LOCATION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LATEST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PROGRESS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91B3D0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ACTIONS</a:t>
                      </a:r>
                    </a:p>
                  </a:txBody>
                  <a:tcPr marL="28575" marR="19050" marT="19050" marB="19050">
                    <a:solidFill>
                      <a:srgbClr val="071A2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Divya Mishra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17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Athletics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Urban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87.4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+15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Sneha Gupta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17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Athletics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Urban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80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+8.6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Pooja Nair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16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Kabaddi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Rural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8FAFF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78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D044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▲ +8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D9EAF8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Profile</a:t>
                      </a:r>
                    </a:p>
                  </a:txBody>
                  <a:tcPr marL="28575" marR="19050" marT="19050" marB="19050">
                    <a:solidFill>
                      <a:srgbClr val="081F34"/>
                    </a:solidFill>
                  </a:tcPr>
                </a:tc>
              </a:tr>
            </a:tbl>
          </a:graphicData>
        </a:graphic>
      </p:graphicFrame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a7aa94f9445b9"/>
          <a:stretch xmlns:a="http://schemas.openxmlformats.org/drawingml/2006/main"/>
        </p:blipFill>
        <p:spPr>
          <a:xfrm xmlns:a="http://schemas.openxmlformats.org/drawingml/2006/main">
            <a:off x="11811000" y="5143500"/>
            <a:ext cx="866775" cy="1009650"/>
          </a:xfrm>
          <a:prstGeom xmlns:a="http://schemas.openxmlformats.org/drawingml/2006/main" prst="rect">
            <a:avLst/>
          </a:prstGeom>
        </p:spPr>
      </p:pic>
      <p:sp>
        <p:nvSpPr>
          <p:cNvPr id="162" name="Text 225: COMPARE TWO ATHLETES">
            <a:extLst xmlns:a="http://schemas.openxmlformats.org/drawingml/2006/main">
              <a:ext uri="{FF2B5EF4-FFF2-40B4-BE49-F238E27FC236}">
                <a16:creationId xmlns:a16="http://schemas.microsoft.com/office/drawing/2014/main" id="{9C2FB100-0D33-4A14-ADCB-E7CBFED6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229225"/>
            <a:ext cx="2752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TWO ATHLETES</a:t>
            </a:r>
          </a:p>
        </p:txBody>
      </p:sp>
      <p:sp>
        <p:nvSpPr>
          <p:cNvPr id="163" name="Text 226: Coaches review athletes side by side using metric comparisons.">
            <a:extLst xmlns:a="http://schemas.openxmlformats.org/drawingml/2006/main">
              <a:ext uri="{FF2B5EF4-FFF2-40B4-BE49-F238E27FC236}">
                <a16:creationId xmlns:a16="http://schemas.microsoft.com/office/drawing/2014/main" id="{D9F61227-EFAD-4C91-8CB7-A97402D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600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Coaches review athletes side by side</a:t>
            </a:r>
          </a:p>
          <a:p xmlns:a="http://schemas.openxmlformats.org/drawingml/2006/main">
            <a:pPr algn="l">
              <a:def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88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using metric comparisons.</a:t>
            </a:r>
          </a:p>
        </p:txBody>
      </p:sp>
      <p:sp>
        <p:nvSpPr>
          <p:cNvPr id="164" name="Panel 227">
            <a:extLst xmlns:a="http://schemas.openxmlformats.org/drawingml/2006/main">
              <a:ext uri="{FF2B5EF4-FFF2-40B4-BE49-F238E27FC236}">
                <a16:creationId xmlns:a16="http://schemas.microsoft.com/office/drawing/2014/main" id="{169897F8-E5D5-4FD4-AC14-9415097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6238875"/>
            <a:ext cx="4629150" cy="1800225"/>
          </a:xfrm>
          <a:prstGeom xmlns:a="http://schemas.openxmlformats.org/drawingml/2006/main" prst="roundRect">
            <a:avLst>
              <a:gd name="adj" fmla="val 899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446885"/>
            </a:solidFill>
            <a:prstDash val="solid"/>
          </a:ln>
        </p:spPr>
      </p:sp>
      <p:sp>
        <p:nvSpPr>
          <p:cNvPr id="165" name="Text 228: Compare Athletes">
            <a:extLst xmlns:a="http://schemas.openxmlformats.org/drawingml/2006/main">
              <a:ext uri="{FF2B5EF4-FFF2-40B4-BE49-F238E27FC236}">
                <a16:creationId xmlns:a16="http://schemas.microsoft.com/office/drawing/2014/main" id="{D1D3C3C5-C1A6-4C1F-986E-6A778E7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53175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Compare Athletes</a:t>
            </a:r>
          </a:p>
        </p:txBody>
      </p:sp>
      <p:sp>
        <p:nvSpPr>
          <p:cNvPr id="166" name="Text 229: Head-to-head radar comparison of any two athletes">
            <a:extLst xmlns:a="http://schemas.openxmlformats.org/drawingml/2006/main">
              <a:ext uri="{FF2B5EF4-FFF2-40B4-BE49-F238E27FC236}">
                <a16:creationId xmlns:a16="http://schemas.microsoft.com/office/drawing/2014/main" id="{DC0DAF75-D7E0-412E-A8FE-5079636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4181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Head-to-head radar comparison of any two athletes</a:t>
            </a:r>
          </a:p>
        </p:txBody>
      </p:sp>
      <p:sp>
        <p:nvSpPr>
          <p:cNvPr id="167" name="Panel 230">
            <a:extLst xmlns:a="http://schemas.openxmlformats.org/drawingml/2006/main">
              <a:ext uri="{FF2B5EF4-FFF2-40B4-BE49-F238E27FC236}">
                <a16:creationId xmlns:a16="http://schemas.microsoft.com/office/drawing/2014/main" id="{FC4773E0-8E6C-4196-B2D7-D32F1FDA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819900"/>
            <a:ext cx="214312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2C43"/>
          </a:solidFill>
          <a:ln xmlns:a="http://schemas.openxmlformats.org/drawingml/2006/main" w="5715">
            <a:solidFill>
              <a:srgbClr val="27455B"/>
            </a:solidFill>
            <a:prstDash val="solid"/>
          </a:ln>
        </p:spPr>
      </p:sp>
      <p:sp>
        <p:nvSpPr>
          <p:cNvPr id="168" name="Panel 231">
            <a:extLst xmlns:a="http://schemas.openxmlformats.org/drawingml/2006/main">
              <a:ext uri="{FF2B5EF4-FFF2-40B4-BE49-F238E27FC236}">
                <a16:creationId xmlns:a16="http://schemas.microsoft.com/office/drawing/2014/main" id="{881B147D-C248-4B6C-BFBF-733236A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81990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2C43"/>
          </a:solidFill>
          <a:ln xmlns:a="http://schemas.openxmlformats.org/drawingml/2006/main" w="5715">
            <a:solidFill>
              <a:srgbClr val="27455B"/>
            </a:solidFill>
            <a:prstDash val="solid"/>
          </a:ln>
        </p:spPr>
      </p:sp>
      <p:sp>
        <p:nvSpPr>
          <p:cNvPr id="169" name="Text 232: Athlete A">
            <a:extLst xmlns:a="http://schemas.openxmlformats.org/drawingml/2006/main">
              <a:ext uri="{FF2B5EF4-FFF2-40B4-BE49-F238E27FC236}">
                <a16:creationId xmlns:a16="http://schemas.microsoft.com/office/drawing/2014/main" id="{AF4BAC5A-3C6D-4DF3-AF88-F1C1CC3E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924675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 A</a:t>
            </a:r>
          </a:p>
        </p:txBody>
      </p:sp>
      <p:sp>
        <p:nvSpPr>
          <p:cNvPr id="170" name="Text 233: Athlete B">
            <a:extLst xmlns:a="http://schemas.openxmlformats.org/drawingml/2006/main">
              <a:ext uri="{FF2B5EF4-FFF2-40B4-BE49-F238E27FC236}">
                <a16:creationId xmlns:a16="http://schemas.microsoft.com/office/drawing/2014/main" id="{E5FD024D-93BD-4AE1-905D-50C91E69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92467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 B</a:t>
            </a:r>
          </a:p>
        </p:txBody>
      </p:sp>
      <p:sp>
        <p:nvSpPr>
          <p:cNvPr id="171" name="Panel 234">
            <a:extLst xmlns:a="http://schemas.openxmlformats.org/drawingml/2006/main">
              <a:ext uri="{FF2B5EF4-FFF2-40B4-BE49-F238E27FC236}">
                <a16:creationId xmlns:a16="http://schemas.microsoft.com/office/drawing/2014/main" id="{EAE2197F-9D2A-434E-B128-6EC6A789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7115175"/>
            <a:ext cx="200977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6D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nel 235">
            <a:extLst xmlns:a="http://schemas.openxmlformats.org/drawingml/2006/main">
              <a:ext uri="{FF2B5EF4-FFF2-40B4-BE49-F238E27FC236}">
                <a16:creationId xmlns:a16="http://schemas.microsoft.com/office/drawing/2014/main" id="{230FDFA0-8017-4284-BE2D-077F278A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7115175"/>
            <a:ext cx="1914525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6D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Text 236: Arjun Singh (Cricket)  ▾">
            <a:extLst xmlns:a="http://schemas.openxmlformats.org/drawingml/2006/main">
              <a:ext uri="{FF2B5EF4-FFF2-40B4-BE49-F238E27FC236}">
                <a16:creationId xmlns:a16="http://schemas.microsoft.com/office/drawing/2014/main" id="{76FF89F1-7667-4FE7-A837-82AFA5F6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162800"/>
            <a:ext cx="1905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7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172337"/>
                </a:solidFill>
                <a:latin typeface="Arial Narrow"/>
                <a:ea typeface="Arial Narrow"/>
                <a:cs typeface="Arial Narrow"/>
              </a:rPr>
              <a:t>Arjun Singh (Cricket)  ▾</a:t>
            </a:r>
          </a:p>
        </p:txBody>
      </p:sp>
      <p:sp>
        <p:nvSpPr>
          <p:cNvPr id="174" name="Text 237: Priya Sharma (Athletics)  ▾">
            <a:extLst xmlns:a="http://schemas.openxmlformats.org/drawingml/2006/main">
              <a:ext uri="{FF2B5EF4-FFF2-40B4-BE49-F238E27FC236}">
                <a16:creationId xmlns:a16="http://schemas.microsoft.com/office/drawing/2014/main" id="{33B41D5B-E1AF-4D0A-A11D-69FA6AE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162800"/>
            <a:ext cx="1819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7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172337"/>
                </a:solidFill>
                <a:latin typeface="Arial Narrow"/>
                <a:ea typeface="Arial Narrow"/>
                <a:cs typeface="Arial Narrow"/>
              </a:rPr>
              <a:t>Priya Sharma (Athletics)  ▾</a:t>
            </a:r>
          </a:p>
        </p:txBody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b805fffdf44ba"/>
          <a:stretch xmlns:a="http://schemas.openxmlformats.org/drawingml/2006/main"/>
        </p:blipFill>
        <p:spPr>
          <a:xfrm xmlns:a="http://schemas.openxmlformats.org/drawingml/2006/main">
            <a:off x="12715875" y="7505700"/>
            <a:ext cx="495300" cy="504825"/>
          </a:xfrm>
          <a:prstGeom xmlns:a="http://schemas.openxmlformats.org/drawingml/2006/main" prst="rect">
            <a:avLst/>
          </a:prstGeom>
        </p:spPr>
      </p:pic>
      <p:sp>
        <p:nvSpPr>
          <p:cNvPr id="176" name="Text 238: VS">
            <a:extLst xmlns:a="http://schemas.openxmlformats.org/drawingml/2006/main">
              <a:ext uri="{FF2B5EF4-FFF2-40B4-BE49-F238E27FC236}">
                <a16:creationId xmlns:a16="http://schemas.microsoft.com/office/drawing/2014/main" id="{38383B54-DF9E-4942-96F3-E56E420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591425"/>
            <a:ext cx="771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B9FA"/>
                </a:solidFill>
                <a:latin typeface="Arial Narrow"/>
                <a:ea typeface="Arial Narrow"/>
                <a:cs typeface="Arial Narrow"/>
              </a:defRPr>
            </a:pPr>
            <a:r>
              <a:rPr sz="2850" b="1">
                <a:solidFill>
                  <a:srgbClr val="06B9FA"/>
                </a:solidFill>
                <a:latin typeface="Arial Narrow"/>
                <a:ea typeface="Arial Narrow"/>
                <a:cs typeface="Arial Narrow"/>
              </a:rPr>
              <a:t>VS</a:t>
            </a:r>
          </a:p>
        </p:txBody>
      </p:sp>
      <p:sp>
        <p:nvSpPr>
          <p:cNvPr id="177" name="Footer 239">
            <a:extLst xmlns:a="http://schemas.openxmlformats.org/drawingml/2006/main">
              <a:ext uri="{FF2B5EF4-FFF2-40B4-BE49-F238E27FC236}">
                <a16:creationId xmlns:a16="http://schemas.microsoft.com/office/drawing/2014/main" id="{E8165043-B2FF-4CFF-87FA-34936E0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76521a4a54741"/>
          <a:stretch xmlns:a="http://schemas.openxmlformats.org/drawingml/2006/main"/>
        </p:blipFill>
        <p:spPr>
          <a:xfrm xmlns:a="http://schemas.openxmlformats.org/drawingml/2006/main">
            <a:off x="409575" y="8355521"/>
            <a:ext cx="409575" cy="376809"/>
          </a:xfrm>
          <a:prstGeom xmlns:a="http://schemas.openxmlformats.org/drawingml/2006/main" prst="rect">
            <a:avLst/>
          </a:prstGeom>
        </p:spPr>
      </p:pic>
      <p:sp>
        <p:nvSpPr>
          <p:cNvPr id="179" name="Text 240: QUALITY FIRST">
            <a:extLst xmlns:a="http://schemas.openxmlformats.org/drawingml/2006/main">
              <a:ext uri="{FF2B5EF4-FFF2-40B4-BE49-F238E27FC236}">
                <a16:creationId xmlns:a16="http://schemas.microsoft.com/office/drawing/2014/main" id="{36C49ABE-C73E-4F6C-86B2-0E555E87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429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QUALITY FIRST</a:t>
            </a:r>
          </a:p>
        </p:txBody>
      </p:sp>
      <p:sp>
        <p:nvSpPr>
          <p:cNvPr id="180" name="Divider 241">
            <a:extLst xmlns:a="http://schemas.openxmlformats.org/drawingml/2006/main">
              <a:ext uri="{FF2B5EF4-FFF2-40B4-BE49-F238E27FC236}">
                <a16:creationId xmlns:a16="http://schemas.microsoft.com/office/drawing/2014/main" id="{00F5204C-56BB-4FBD-AC9C-F8ACD370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81" name="Text 242: Insufficient movement data prompts a retry.">
            <a:extLst xmlns:a="http://schemas.openxmlformats.org/drawingml/2006/main">
              <a:ext uri="{FF2B5EF4-FFF2-40B4-BE49-F238E27FC236}">
                <a16:creationId xmlns:a16="http://schemas.microsoft.com/office/drawing/2014/main" id="{64EDA0BC-14FE-49A7-BCC1-684C3F2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46772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Insufficient movement data prompts a retry.</a:t>
            </a:r>
          </a:p>
        </p:txBody>
      </p:sp>
      <p:sp>
        <p:nvSpPr>
          <p:cNvPr id="182" name="Divider 243">
            <a:extLst xmlns:a="http://schemas.openxmlformats.org/drawingml/2006/main">
              <a:ext uri="{FF2B5EF4-FFF2-40B4-BE49-F238E27FC236}">
                <a16:creationId xmlns:a16="http://schemas.microsoft.com/office/drawing/2014/main" id="{134E63CE-6CE3-4FA2-A2E9-990F05D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83" name="Text 244: ↗">
            <a:extLst xmlns:a="http://schemas.openxmlformats.org/drawingml/2006/main">
              <a:ext uri="{FF2B5EF4-FFF2-40B4-BE49-F238E27FC236}">
                <a16:creationId xmlns:a16="http://schemas.microsoft.com/office/drawing/2014/main" id="{1D8AB44D-3A0C-48DD-B2AB-69B0FDCB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3915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84" name="Text 245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D30B08CC-4152-4A1B-BAC1-4492B4D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720e9056c2144581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2087728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c9b726b0c4a43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38a0a777344e4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8c7a5a2440ec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ab518d91b4cfe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b1bbd0c524f41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e1cb35f394d77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e7c878a0a41ce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ce0e78575478e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58a0c85674e77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3f4398aa648a2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902dce2ee4bc5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642092cf24e84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c129372e74d53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b1832bfbf4ef7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452669c5b4768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036d55df941ea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eb210f685483b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ab11aba374217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04d4e69e7425b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3e35f09bf4af2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3f1f434e54abd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51ed22ef14e13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b590cab224787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3795bf35a43df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972dfec494148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f0cc5f50b4af6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1cffa3bda4b48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3bcc219754bfc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0df3b8ab44bd9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2d9c2e9394bb3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df7cc4d854415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45e3a10c7495f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246: AthletixAI">
            <a:extLst xmlns:a="http://schemas.openxmlformats.org/drawingml/2006/main">
              <a:ext uri="{FF2B5EF4-FFF2-40B4-BE49-F238E27FC236}">
                <a16:creationId xmlns:a16="http://schemas.microsoft.com/office/drawing/2014/main" id="{A7E9E0FB-17C5-4567-AA8B-F4C6C86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247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5FCC77AE-2EE0-46E1-A37B-E826816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248: FEASIBILITY · VIABILITY · IMPACT &amp; BENEFITS">
            <a:extLst xmlns:a="http://schemas.openxmlformats.org/drawingml/2006/main">
              <a:ext uri="{FF2B5EF4-FFF2-40B4-BE49-F238E27FC236}">
                <a16:creationId xmlns:a16="http://schemas.microsoft.com/office/drawing/2014/main" id="{58EAC5ED-7644-4161-9A51-CDDC8F6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"/>
            <a:ext cx="11287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0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FEASIBILITY · VIABILITY · IMPACT &amp; BENEFITS</a:t>
            </a:r>
          </a:p>
        </p:txBody>
      </p:sp>
      <p:sp>
        <p:nvSpPr>
          <p:cNvPr id="36" name="Text 249: Prototype readiness, sustainability and expected benefits">
            <a:extLst xmlns:a="http://schemas.openxmlformats.org/drawingml/2006/main">
              <a:ext uri="{FF2B5EF4-FFF2-40B4-BE49-F238E27FC236}">
                <a16:creationId xmlns:a16="http://schemas.microsoft.com/office/drawing/2014/main" id="{2960B601-9EF8-47A4-B367-7B7E6D31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95325"/>
            <a:ext cx="1128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Prototype readiness, sustainability and expected benefits</a:t>
            </a:r>
          </a:p>
        </p:txBody>
      </p:sp>
      <p:sp>
        <p:nvSpPr>
          <p:cNvPr id="37" name="Panel 250">
            <a:extLst xmlns:a="http://schemas.openxmlformats.org/drawingml/2006/main">
              <a:ext uri="{FF2B5EF4-FFF2-40B4-BE49-F238E27FC236}">
                <a16:creationId xmlns:a16="http://schemas.microsoft.com/office/drawing/2014/main" id="{22B69D15-73DC-4E89-BC8E-F8005CD1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251">
            <a:extLst xmlns:a="http://schemas.openxmlformats.org/drawingml/2006/main">
              <a:ext uri="{FF2B5EF4-FFF2-40B4-BE49-F238E27FC236}">
                <a16:creationId xmlns:a16="http://schemas.microsoft.com/office/drawing/2014/main" id="{D987A851-488A-4B1E-B817-54456EFF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252">
            <a:extLst xmlns:a="http://schemas.openxmlformats.org/drawingml/2006/main">
              <a:ext uri="{FF2B5EF4-FFF2-40B4-BE49-F238E27FC236}">
                <a16:creationId xmlns:a16="http://schemas.microsoft.com/office/drawing/2014/main" id="{22DC5D50-EFD9-46DF-9215-01F92CA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23950"/>
            <a:ext cx="5086350" cy="70675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50F4BC"/>
            </a:solidFill>
            <a:prstDash val="solid"/>
          </a:ln>
        </p:spPr>
      </p:sp>
      <p:sp>
        <p:nvSpPr>
          <p:cNvPr id="40" name="Section number 253">
            <a:extLst xmlns:a="http://schemas.openxmlformats.org/drawingml/2006/main">
              <a:ext uri="{FF2B5EF4-FFF2-40B4-BE49-F238E27FC236}">
                <a16:creationId xmlns:a16="http://schemas.microsoft.com/office/drawing/2014/main" id="{236E72BC-6C0D-486C-8D34-066D70B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254: 01">
            <a:extLst xmlns:a="http://schemas.openxmlformats.org/drawingml/2006/main">
              <a:ext uri="{FF2B5EF4-FFF2-40B4-BE49-F238E27FC236}">
                <a16:creationId xmlns:a16="http://schemas.microsoft.com/office/drawing/2014/main" id="{AD287AFE-6592-4E07-9D52-8E5ACDD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255">
            <a:extLst xmlns:a="http://schemas.openxmlformats.org/drawingml/2006/main">
              <a:ext uri="{FF2B5EF4-FFF2-40B4-BE49-F238E27FC236}">
                <a16:creationId xmlns:a16="http://schemas.microsoft.com/office/drawing/2014/main" id="{DA985AA9-3D38-401B-8212-2267469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256: 02">
            <a:extLst xmlns:a="http://schemas.openxmlformats.org/drawingml/2006/main">
              <a:ext uri="{FF2B5EF4-FFF2-40B4-BE49-F238E27FC236}">
                <a16:creationId xmlns:a16="http://schemas.microsoft.com/office/drawing/2014/main" id="{A0D0675B-E44F-4F36-B194-A025FC01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257">
            <a:extLst xmlns:a="http://schemas.openxmlformats.org/drawingml/2006/main">
              <a:ext uri="{FF2B5EF4-FFF2-40B4-BE49-F238E27FC236}">
                <a16:creationId xmlns:a16="http://schemas.microsoft.com/office/drawing/2014/main" id="{2FABCE45-5BEA-489B-B700-EAF6B3A1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50F4BC"/>
            </a:solidFill>
            <a:prstDash val="solid"/>
          </a:ln>
        </p:spPr>
      </p:sp>
      <p:sp>
        <p:nvSpPr>
          <p:cNvPr id="45" name="Text 258: 03">
            <a:extLst xmlns:a="http://schemas.openxmlformats.org/drawingml/2006/main">
              <a:ext uri="{FF2B5EF4-FFF2-40B4-BE49-F238E27FC236}">
                <a16:creationId xmlns:a16="http://schemas.microsoft.com/office/drawing/2014/main" id="{82A7270A-F856-4700-AF86-EA0E5F8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259: FEASIBILITY">
            <a:extLst xmlns:a="http://schemas.openxmlformats.org/drawingml/2006/main">
              <a:ext uri="{FF2B5EF4-FFF2-40B4-BE49-F238E27FC236}">
                <a16:creationId xmlns:a16="http://schemas.microsoft.com/office/drawing/2014/main" id="{F64BA485-2CD9-476B-812F-C188B36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33500"/>
            <a:ext cx="3705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FEASIBILITY</a:t>
            </a:r>
          </a:p>
        </p:txBody>
      </p:sp>
      <p:sp>
        <p:nvSpPr>
          <p:cNvPr id="47" name="Text 260: Working browser prototype">
            <a:extLst xmlns:a="http://schemas.openxmlformats.org/drawingml/2006/main">
              <a:ext uri="{FF2B5EF4-FFF2-40B4-BE49-F238E27FC236}">
                <a16:creationId xmlns:a16="http://schemas.microsoft.com/office/drawing/2014/main" id="{9298BF6A-B321-4FB2-995B-3F6A0AE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Working browser prototype</a:t>
            </a:r>
          </a:p>
        </p:txBody>
      </p:sp>
      <p:sp>
        <p:nvSpPr>
          <p:cNvPr id="48" name="Text 261: VIABILITY">
            <a:extLst xmlns:a="http://schemas.openxmlformats.org/drawingml/2006/main">
              <a:ext uri="{FF2B5EF4-FFF2-40B4-BE49-F238E27FC236}">
                <a16:creationId xmlns:a16="http://schemas.microsoft.com/office/drawing/2014/main" id="{5EFD72D5-701E-4EE8-A916-C9F7934F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333500"/>
            <a:ext cx="3743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VIABILITY</a:t>
            </a:r>
          </a:p>
        </p:txBody>
      </p:sp>
      <p:sp>
        <p:nvSpPr>
          <p:cNvPr id="49" name="Text 262: Proposed sustainability model">
            <a:extLst xmlns:a="http://schemas.openxmlformats.org/drawingml/2006/main">
              <a:ext uri="{FF2B5EF4-FFF2-40B4-BE49-F238E27FC236}">
                <a16:creationId xmlns:a16="http://schemas.microsoft.com/office/drawing/2014/main" id="{27EB6930-DFC3-43BB-8D0B-5A25262A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52600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sustainability model</a:t>
            </a:r>
          </a:p>
        </p:txBody>
      </p:sp>
      <p:sp>
        <p:nvSpPr>
          <p:cNvPr id="50" name="Text 263: IMPACT &amp; BENEFITS">
            <a:extLst xmlns:a="http://schemas.openxmlformats.org/drawingml/2006/main">
              <a:ext uri="{FF2B5EF4-FFF2-40B4-BE49-F238E27FC236}">
                <a16:creationId xmlns:a16="http://schemas.microsoft.com/office/drawing/2014/main" id="{43146A41-AEA7-4753-B3D6-AC9DE79B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333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IMPACT &amp; BENEFITS</a:t>
            </a:r>
          </a:p>
        </p:txBody>
      </p:sp>
      <p:sp>
        <p:nvSpPr>
          <p:cNvPr id="51" name="Text 264: Expected outcomes to test in pilots">
            <a:extLst xmlns:a="http://schemas.openxmlformats.org/drawingml/2006/main">
              <a:ext uri="{FF2B5EF4-FFF2-40B4-BE49-F238E27FC236}">
                <a16:creationId xmlns:a16="http://schemas.microsoft.com/office/drawing/2014/main" id="{4F207028-4CA5-43D4-9816-5B0C8BC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1752600"/>
            <a:ext cx="3752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Expected outcomes to test in pilots</a:t>
            </a:r>
          </a:p>
        </p:txBody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d92eca1f4d2d"/>
          <a:stretch xmlns:a="http://schemas.openxmlformats.org/drawingml/2006/main"/>
        </p:blipFill>
        <p:spPr>
          <a:xfrm xmlns:a="http://schemas.openxmlformats.org/drawingml/2006/main">
            <a:off x="1504950" y="2076450"/>
            <a:ext cx="2790825" cy="2105025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b8b9f4bd74f07"/>
          <a:stretch xmlns:a="http://schemas.openxmlformats.org/drawingml/2006/main"/>
        </p:blipFill>
        <p:spPr>
          <a:xfrm xmlns:a="http://schemas.openxmlformats.org/drawingml/2006/main">
            <a:off x="5810250" y="2076450"/>
            <a:ext cx="4381500" cy="2095500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bccda2f34042"/>
          <a:stretch xmlns:a="http://schemas.openxmlformats.org/drawingml/2006/main"/>
        </p:blipFill>
        <p:spPr>
          <a:xfrm xmlns:a="http://schemas.openxmlformats.org/drawingml/2006/main">
            <a:off x="10829925" y="2095500"/>
            <a:ext cx="4743450" cy="2095500"/>
          </a:xfrm>
          <a:prstGeom xmlns:a="http://schemas.openxmlformats.org/drawingml/2006/main" prst="rect">
            <a:avLst/>
          </a:prstGeom>
        </p:spPr>
      </p:pic>
      <p:sp>
        <p:nvSpPr>
          <p:cNvPr id="55" name="Divider 265">
            <a:extLst xmlns:a="http://schemas.openxmlformats.org/drawingml/2006/main">
              <a:ext uri="{FF2B5EF4-FFF2-40B4-BE49-F238E27FC236}">
                <a16:creationId xmlns:a16="http://schemas.microsoft.com/office/drawing/2014/main" id="{52E94FD8-F53C-4470-812C-3248481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6" name="Divider 266">
            <a:extLst xmlns:a="http://schemas.openxmlformats.org/drawingml/2006/main">
              <a:ext uri="{FF2B5EF4-FFF2-40B4-BE49-F238E27FC236}">
                <a16:creationId xmlns:a16="http://schemas.microsoft.com/office/drawing/2014/main" id="{8DEC7EAD-7322-4DDE-B43D-E34C3EFC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00525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57" name="Divider 267">
            <a:extLst xmlns:a="http://schemas.openxmlformats.org/drawingml/2006/main">
              <a:ext uri="{FF2B5EF4-FFF2-40B4-BE49-F238E27FC236}">
                <a16:creationId xmlns:a16="http://schemas.microsoft.com/office/drawing/2014/main" id="{C8971A64-8955-45BB-8651-447E2884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200525"/>
            <a:ext cx="4752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257a0af4e47e2"/>
          <a:stretch xmlns:a="http://schemas.openxmlformats.org/drawingml/2006/main"/>
        </p:blipFill>
        <p:spPr>
          <a:xfrm xmlns:a="http://schemas.openxmlformats.org/drawingml/2006/main">
            <a:off x="523875" y="4371975"/>
            <a:ext cx="1181100" cy="866775"/>
          </a:xfrm>
          <a:prstGeom xmlns:a="http://schemas.openxmlformats.org/drawingml/2006/main" prst="rect">
            <a:avLst/>
          </a:prstGeom>
        </p:spPr>
      </p:pic>
      <p:sp>
        <p:nvSpPr>
          <p:cNvPr id="59" name="Text 268: PHONE CAMERA INPUT">
            <a:extLst xmlns:a="http://schemas.openxmlformats.org/drawingml/2006/main">
              <a:ext uri="{FF2B5EF4-FFF2-40B4-BE49-F238E27FC236}">
                <a16:creationId xmlns:a16="http://schemas.microsoft.com/office/drawing/2014/main" id="{94498174-DCBB-4066-AF6B-8E9E4207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1960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 CAMERA INPUT</a:t>
            </a:r>
          </a:p>
        </p:txBody>
      </p:sp>
      <p:sp>
        <p:nvSpPr>
          <p:cNvPr id="60" name="Text 269: Practice clips or live camera, without specialist wearables">
            <a:extLst xmlns:a="http://schemas.openxmlformats.org/drawingml/2006/main">
              <a:ext uri="{FF2B5EF4-FFF2-40B4-BE49-F238E27FC236}">
                <a16:creationId xmlns:a16="http://schemas.microsoft.com/office/drawing/2014/main" id="{93003BC3-D015-4D3E-9ABA-A9A0E301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Practice clips or live camera,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without specialist wearables</a:t>
            </a:r>
          </a:p>
        </p:txBody>
      </p:sp>
      <p:sp>
        <p:nvSpPr>
          <p:cNvPr id="61" name="Divider 270">
            <a:extLst xmlns:a="http://schemas.openxmlformats.org/drawingml/2006/main">
              <a:ext uri="{FF2B5EF4-FFF2-40B4-BE49-F238E27FC236}">
                <a16:creationId xmlns:a16="http://schemas.microsoft.com/office/drawing/2014/main" id="{B9CEC647-2DC4-4183-810C-4D7949D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9590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cb41f3cd481d"/>
          <a:stretch xmlns:a="http://schemas.openxmlformats.org/drawingml/2006/main"/>
        </p:blipFill>
        <p:spPr>
          <a:xfrm xmlns:a="http://schemas.openxmlformats.org/drawingml/2006/main">
            <a:off x="495300" y="5438775"/>
            <a:ext cx="1162050" cy="866775"/>
          </a:xfrm>
          <a:prstGeom xmlns:a="http://schemas.openxmlformats.org/drawingml/2006/main" prst="rect">
            <a:avLst/>
          </a:prstGeom>
        </p:spPr>
      </p:pic>
      <p:sp>
        <p:nvSpPr>
          <p:cNvPr id="63" name="Text 271: LOCAL ANALYSIS">
            <a:extLst xmlns:a="http://schemas.openxmlformats.org/drawingml/2006/main">
              <a:ext uri="{FF2B5EF4-FFF2-40B4-BE49-F238E27FC236}">
                <a16:creationId xmlns:a16="http://schemas.microsoft.com/office/drawing/2014/main" id="{F6563237-CA8E-4260-92A9-CED539D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05450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LOCAL ANALYSIS</a:t>
            </a:r>
          </a:p>
        </p:txBody>
      </p:sp>
      <p:sp>
        <p:nvSpPr>
          <p:cNvPr id="64" name="Text 272: MediaPipe pose detection and rule-based scoring in the browser">
            <a:extLst xmlns:a="http://schemas.openxmlformats.org/drawingml/2006/main">
              <a:ext uri="{FF2B5EF4-FFF2-40B4-BE49-F238E27FC236}">
                <a16:creationId xmlns:a16="http://schemas.microsoft.com/office/drawing/2014/main" id="{E310C0B6-EB37-4BBE-8F46-8222B606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48350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MediaPipe pose detection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rule-based scoring in the browser</a:t>
            </a:r>
          </a:p>
        </p:txBody>
      </p:sp>
      <p:sp>
        <p:nvSpPr>
          <p:cNvPr id="65" name="Divider 273">
            <a:extLst xmlns:a="http://schemas.openxmlformats.org/drawingml/2006/main">
              <a:ext uri="{FF2B5EF4-FFF2-40B4-BE49-F238E27FC236}">
                <a16:creationId xmlns:a16="http://schemas.microsoft.com/office/drawing/2014/main" id="{4F9BF730-7E13-4EC3-8517-F82B4FD8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381750"/>
            <a:ext cx="460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be7d7b9614ffc"/>
          <a:stretch xmlns:a="http://schemas.openxmlformats.org/drawingml/2006/main"/>
        </p:blipFill>
        <p:spPr>
          <a:xfrm xmlns:a="http://schemas.openxmlformats.org/drawingml/2006/main">
            <a:off x="742950" y="6524625"/>
            <a:ext cx="838200" cy="781050"/>
          </a:xfrm>
          <a:prstGeom xmlns:a="http://schemas.openxmlformats.org/drawingml/2006/main" prst="rect">
            <a:avLst/>
          </a:prstGeom>
        </p:spPr>
      </p:pic>
      <p:sp>
        <p:nvSpPr>
          <p:cNvPr id="67" name="Text 274: QUALITY CHECKS">
            <a:extLst xmlns:a="http://schemas.openxmlformats.org/drawingml/2006/main">
              <a:ext uri="{FF2B5EF4-FFF2-40B4-BE49-F238E27FC236}">
                <a16:creationId xmlns:a16="http://schemas.microsoft.com/office/drawing/2014/main" id="{48BD97E2-40EC-443F-AAC0-8AE89EDC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00825"/>
            <a:ext cx="3171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QUALITY CHECKS</a:t>
            </a:r>
          </a:p>
        </p:txBody>
      </p:sp>
      <p:sp>
        <p:nvSpPr>
          <p:cNvPr id="68" name="Text 275: Insufficient visibility or movement prompts a retry">
            <a:extLst xmlns:a="http://schemas.openxmlformats.org/drawingml/2006/main">
              <a:ext uri="{FF2B5EF4-FFF2-40B4-BE49-F238E27FC236}">
                <a16:creationId xmlns:a16="http://schemas.microsoft.com/office/drawing/2014/main" id="{CE4B8586-E376-4BF6-81E8-BD79F3C2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943725"/>
            <a:ext cx="3171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Insufficient visibility or movement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prompts a retry</a:t>
            </a:r>
          </a:p>
        </p:txBody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c51906df246be"/>
          <a:stretch xmlns:a="http://schemas.openxmlformats.org/drawingml/2006/main"/>
        </p:blipFill>
        <p:spPr>
          <a:xfrm xmlns:a="http://schemas.openxmlformats.org/drawingml/2006/main">
            <a:off x="5715000" y="4219575"/>
            <a:ext cx="1181100" cy="1085850"/>
          </a:xfrm>
          <a:prstGeom xmlns:a="http://schemas.openxmlformats.org/drawingml/2006/main" prst="rect">
            <a:avLst/>
          </a:prstGeom>
        </p:spPr>
      </p:pic>
      <p:sp>
        <p:nvSpPr>
          <p:cNvPr id="70" name="Text 276: FREE ATHLETE ACCESS">
            <a:extLst xmlns:a="http://schemas.openxmlformats.org/drawingml/2006/main">
              <a:ext uri="{FF2B5EF4-FFF2-40B4-BE49-F238E27FC236}">
                <a16:creationId xmlns:a16="http://schemas.microsoft.com/office/drawing/2014/main" id="{CD321FD7-CAE4-485C-ACB4-45D1B48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4196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FREE ATHLETE ACCESS</a:t>
            </a:r>
          </a:p>
        </p:txBody>
      </p:sp>
      <p:sp>
        <p:nvSpPr>
          <p:cNvPr id="71" name="Text 277: Keep the core athlete experience free">
            <a:extLst xmlns:a="http://schemas.openxmlformats.org/drawingml/2006/main">
              <a:ext uri="{FF2B5EF4-FFF2-40B4-BE49-F238E27FC236}">
                <a16:creationId xmlns:a16="http://schemas.microsoft.com/office/drawing/2014/main" id="{10F7B406-745C-49B4-9129-6EEB822E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762500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Keep the core athlete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experience free</a:t>
            </a:r>
          </a:p>
        </p:txBody>
      </p:sp>
      <p:sp>
        <p:nvSpPr>
          <p:cNvPr id="72" name="Divider 278">
            <a:extLst xmlns:a="http://schemas.openxmlformats.org/drawingml/2006/main">
              <a:ext uri="{FF2B5EF4-FFF2-40B4-BE49-F238E27FC236}">
                <a16:creationId xmlns:a16="http://schemas.microsoft.com/office/drawing/2014/main" id="{5722DAA7-BAEC-4B6C-9B8C-247CD93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0542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79cf0556d4707"/>
          <a:stretch xmlns:a="http://schemas.openxmlformats.org/drawingml/2006/main"/>
        </p:blipFill>
        <p:spPr>
          <a:xfrm xmlns:a="http://schemas.openxmlformats.org/drawingml/2006/main">
            <a:off x="5657850" y="5410200"/>
            <a:ext cx="1400175" cy="942975"/>
          </a:xfrm>
          <a:prstGeom xmlns:a="http://schemas.openxmlformats.org/drawingml/2006/main" prst="rect">
            <a:avLst/>
          </a:prstGeom>
        </p:spPr>
      </p:pic>
      <p:sp>
        <p:nvSpPr>
          <p:cNvPr id="74" name="Text 279: INSTITUTIONAL REVENUE">
            <a:extLst xmlns:a="http://schemas.openxmlformats.org/drawingml/2006/main">
              <a:ext uri="{FF2B5EF4-FFF2-40B4-BE49-F238E27FC236}">
                <a16:creationId xmlns:a16="http://schemas.microsoft.com/office/drawing/2014/main" id="{34F656DF-B2A7-455E-8825-38E0F4AF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054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INSTITUTIONAL REVENUE</a:t>
            </a:r>
          </a:p>
        </p:txBody>
      </p:sp>
      <p:sp>
        <p:nvSpPr>
          <p:cNvPr id="75" name="Text 280: Proposed academy subscriptions and coach workspace plans">
            <a:extLst xmlns:a="http://schemas.openxmlformats.org/drawingml/2006/main">
              <a:ext uri="{FF2B5EF4-FFF2-40B4-BE49-F238E27FC236}">
                <a16:creationId xmlns:a16="http://schemas.microsoft.com/office/drawing/2014/main" id="{BC25AEE6-E4E5-4EBA-942A-0770246F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48350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academy subscriptions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and coach workspace plans</a:t>
            </a:r>
          </a:p>
        </p:txBody>
      </p:sp>
      <p:sp>
        <p:nvSpPr>
          <p:cNvPr id="76" name="Divider 281">
            <a:extLst xmlns:a="http://schemas.openxmlformats.org/drawingml/2006/main">
              <a:ext uri="{FF2B5EF4-FFF2-40B4-BE49-F238E27FC236}">
                <a16:creationId xmlns:a16="http://schemas.microsoft.com/office/drawing/2014/main" id="{0148EE1E-E285-4665-B4CD-62D21FC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391275"/>
            <a:ext cx="461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d931da40d46c6"/>
          <a:stretch xmlns:a="http://schemas.openxmlformats.org/drawingml/2006/main"/>
        </p:blipFill>
        <p:spPr>
          <a:xfrm xmlns:a="http://schemas.openxmlformats.org/drawingml/2006/main">
            <a:off x="5934075" y="6496050"/>
            <a:ext cx="1085850" cy="933450"/>
          </a:xfrm>
          <a:prstGeom xmlns:a="http://schemas.openxmlformats.org/drawingml/2006/main" prst="rect">
            <a:avLst/>
          </a:prstGeom>
        </p:spPr>
      </p:pic>
      <p:sp>
        <p:nvSpPr>
          <p:cNvPr id="78" name="Text 282: PILOT-FIRST ROLLOUT">
            <a:extLst xmlns:a="http://schemas.openxmlformats.org/drawingml/2006/main">
              <a:ext uri="{FF2B5EF4-FFF2-40B4-BE49-F238E27FC236}">
                <a16:creationId xmlns:a16="http://schemas.microsoft.com/office/drawing/2014/main" id="{C8220BE4-63E9-42E4-95C2-7D5E76AA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6008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PILOT-FIRST ROLLOUT</a:t>
            </a:r>
          </a:p>
        </p:txBody>
      </p:sp>
      <p:sp>
        <p:nvSpPr>
          <p:cNvPr id="79" name="Text 283: Test willingness to pay and retention with local academies">
            <a:extLst xmlns:a="http://schemas.openxmlformats.org/drawingml/2006/main">
              <a:ext uri="{FF2B5EF4-FFF2-40B4-BE49-F238E27FC236}">
                <a16:creationId xmlns:a16="http://schemas.microsoft.com/office/drawing/2014/main" id="{5A6122D9-EA4A-4343-B663-D69D7EAF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6943725"/>
            <a:ext cx="31146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Test willingness to pay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retention with local academies</a:t>
            </a:r>
          </a:p>
        </p:txBody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da1f3d6b14127"/>
          <a:stretch xmlns:a="http://schemas.openxmlformats.org/drawingml/2006/main"/>
        </p:blipFill>
        <p:spPr>
          <a:xfrm xmlns:a="http://schemas.openxmlformats.org/drawingml/2006/main">
            <a:off x="11115675" y="4267200"/>
            <a:ext cx="942975" cy="914400"/>
          </a:xfrm>
          <a:prstGeom xmlns:a="http://schemas.openxmlformats.org/drawingml/2006/main" prst="rect">
            <a:avLst/>
          </a:prstGeom>
        </p:spPr>
      </p:pic>
      <p:sp>
        <p:nvSpPr>
          <p:cNvPr id="81" name="Text 284: ATHLETE PROGRESS">
            <a:extLst xmlns:a="http://schemas.openxmlformats.org/drawingml/2006/main">
              <a:ext uri="{FF2B5EF4-FFF2-40B4-BE49-F238E27FC236}">
                <a16:creationId xmlns:a16="http://schemas.microsoft.com/office/drawing/2014/main" id="{994177B3-AFEA-4DBF-B596-3CC2A4ED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41960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ATHLETE PROGRESS</a:t>
            </a:r>
          </a:p>
        </p:txBody>
      </p:sp>
      <p:sp>
        <p:nvSpPr>
          <p:cNvPr id="82" name="Text 285: Session history and reports support training reviews">
            <a:extLst xmlns:a="http://schemas.openxmlformats.org/drawingml/2006/main">
              <a:ext uri="{FF2B5EF4-FFF2-40B4-BE49-F238E27FC236}">
                <a16:creationId xmlns:a16="http://schemas.microsoft.com/office/drawing/2014/main" id="{FE4D3028-8B67-4382-BE82-464F2C5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762500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Session history and reports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support training reviews</a:t>
            </a:r>
          </a:p>
        </p:txBody>
      </p:sp>
      <p:sp>
        <p:nvSpPr>
          <p:cNvPr id="83" name="Divider 286">
            <a:extLst xmlns:a="http://schemas.openxmlformats.org/drawingml/2006/main">
              <a:ext uri="{FF2B5EF4-FFF2-40B4-BE49-F238E27FC236}">
                <a16:creationId xmlns:a16="http://schemas.microsoft.com/office/drawing/2014/main" id="{6AA7EB66-1630-430C-BB98-CC58F1A8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30542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760e939324b05"/>
          <a:stretch xmlns:a="http://schemas.openxmlformats.org/drawingml/2006/main"/>
        </p:blipFill>
        <p:spPr>
          <a:xfrm xmlns:a="http://schemas.openxmlformats.org/drawingml/2006/main">
            <a:off x="11125200" y="5391150"/>
            <a:ext cx="1057275" cy="962025"/>
          </a:xfrm>
          <a:prstGeom xmlns:a="http://schemas.openxmlformats.org/drawingml/2006/main" prst="rect">
            <a:avLst/>
          </a:prstGeom>
        </p:spPr>
      </p:pic>
      <p:sp>
        <p:nvSpPr>
          <p:cNvPr id="85" name="Text 287: COACH DECISIONS">
            <a:extLst xmlns:a="http://schemas.openxmlformats.org/drawingml/2006/main">
              <a:ext uri="{FF2B5EF4-FFF2-40B4-BE49-F238E27FC236}">
                <a16:creationId xmlns:a16="http://schemas.microsoft.com/office/drawing/2014/main" id="{A2235368-0E87-48BA-9138-1E4AE7A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505450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COACH DECISIONS</a:t>
            </a:r>
          </a:p>
        </p:txBody>
      </p:sp>
      <p:sp>
        <p:nvSpPr>
          <p:cNvPr id="86" name="Text 288: Search profiles and compare two athletes in one place">
            <a:extLst xmlns:a="http://schemas.openxmlformats.org/drawingml/2006/main">
              <a:ext uri="{FF2B5EF4-FFF2-40B4-BE49-F238E27FC236}">
                <a16:creationId xmlns:a16="http://schemas.microsoft.com/office/drawing/2014/main" id="{32472F4F-D162-432E-A673-B426F575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848350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Search profiles and compare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two athletes in one place</a:t>
            </a:r>
          </a:p>
        </p:txBody>
      </p:sp>
      <p:sp>
        <p:nvSpPr>
          <p:cNvPr id="87" name="Divider 289">
            <a:extLst xmlns:a="http://schemas.openxmlformats.org/drawingml/2006/main">
              <a:ext uri="{FF2B5EF4-FFF2-40B4-BE49-F238E27FC236}">
                <a16:creationId xmlns:a16="http://schemas.microsoft.com/office/drawing/2014/main" id="{0AADF522-FA3F-4C74-A8E0-ECC9FA04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6391275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14c4127ca4d9a"/>
          <a:stretch xmlns:a="http://schemas.openxmlformats.org/drawingml/2006/main"/>
        </p:blipFill>
        <p:spPr>
          <a:xfrm xmlns:a="http://schemas.openxmlformats.org/drawingml/2006/main">
            <a:off x="11049000" y="6496050"/>
            <a:ext cx="1057275" cy="1009650"/>
          </a:xfrm>
          <a:prstGeom xmlns:a="http://schemas.openxmlformats.org/drawingml/2006/main" prst="rect">
            <a:avLst/>
          </a:prstGeom>
        </p:spPr>
      </p:pic>
      <p:sp>
        <p:nvSpPr>
          <p:cNvPr id="89" name="Text 290: GRASSROOTS VISIBILITY">
            <a:extLst xmlns:a="http://schemas.openxmlformats.org/drawingml/2006/main">
              <a:ext uri="{FF2B5EF4-FFF2-40B4-BE49-F238E27FC236}">
                <a16:creationId xmlns:a16="http://schemas.microsoft.com/office/drawing/2014/main" id="{C22769BA-4554-497A-B9A5-8B8753DE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600825"/>
            <a:ext cx="3124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GRASSROOTS VISIBILITY</a:t>
            </a:r>
          </a:p>
        </p:txBody>
      </p:sp>
      <p:sp>
        <p:nvSpPr>
          <p:cNvPr id="90" name="Text 291: Aim to connect more athletes with coaches beyond local networks">
            <a:extLst xmlns:a="http://schemas.openxmlformats.org/drawingml/2006/main">
              <a:ext uri="{FF2B5EF4-FFF2-40B4-BE49-F238E27FC236}">
                <a16:creationId xmlns:a16="http://schemas.microsoft.com/office/drawing/2014/main" id="{4EF6826A-B7D5-4A9A-BF9F-15CF2197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6943725"/>
            <a:ext cx="31242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Aim to connect more athletes</a:t>
            </a:r>
          </a:p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with coaches beyond local networks</a:t>
            </a:r>
          </a:p>
        </p:txBody>
      </p:sp>
      <p:sp>
        <p:nvSpPr>
          <p:cNvPr id="91" name="Panel 292">
            <a:extLst xmlns:a="http://schemas.openxmlformats.org/drawingml/2006/main">
              <a:ext uri="{FF2B5EF4-FFF2-40B4-BE49-F238E27FC236}">
                <a16:creationId xmlns:a16="http://schemas.microsoft.com/office/drawing/2014/main" id="{A744EA4F-D619-47B8-898E-450AC277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496175"/>
            <a:ext cx="4914900" cy="638175"/>
          </a:xfrm>
          <a:prstGeom xmlns:a="http://schemas.openxmlformats.org/drawingml/2006/main" prst="roundRect">
            <a:avLst>
              <a:gd name="adj" fmla="val 2089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acce874da42dc"/>
          <a:stretch xmlns:a="http://schemas.openxmlformats.org/drawingml/2006/main"/>
        </p:blipFill>
        <p:spPr>
          <a:xfrm xmlns:a="http://schemas.openxmlformats.org/drawingml/2006/main">
            <a:off x="552450" y="7591425"/>
            <a:ext cx="428625" cy="466725"/>
          </a:xfrm>
          <a:prstGeom xmlns:a="http://schemas.openxmlformats.org/drawingml/2006/main" prst="rect">
            <a:avLst/>
          </a:prstGeom>
        </p:spPr>
      </p:pic>
      <p:sp>
        <p:nvSpPr>
          <p:cNvPr id="93" name="Text 293: MediaPipe">
            <a:extLst xmlns:a="http://schemas.openxmlformats.org/drawingml/2006/main">
              <a:ext uri="{FF2B5EF4-FFF2-40B4-BE49-F238E27FC236}">
                <a16:creationId xmlns:a16="http://schemas.microsoft.com/office/drawing/2014/main" id="{872C94A8-5607-479F-A577-05E4D374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696200"/>
            <a:ext cx="1266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c11ada5bb4ebe"/>
          <a:stretch xmlns:a="http://schemas.openxmlformats.org/drawingml/2006/main"/>
        </p:blipFill>
        <p:spPr>
          <a:xfrm xmlns:a="http://schemas.openxmlformats.org/drawingml/2006/main">
            <a:off x="2476500" y="7581900"/>
            <a:ext cx="419100" cy="485775"/>
          </a:xfrm>
          <a:prstGeom xmlns:a="http://schemas.openxmlformats.org/drawingml/2006/main" prst="rect">
            <a:avLst/>
          </a:prstGeom>
        </p:spPr>
      </p:pic>
      <p:sp>
        <p:nvSpPr>
          <p:cNvPr id="95" name="Text 294: Flask">
            <a:extLst xmlns:a="http://schemas.openxmlformats.org/drawingml/2006/main">
              <a:ext uri="{FF2B5EF4-FFF2-40B4-BE49-F238E27FC236}">
                <a16:creationId xmlns:a16="http://schemas.microsoft.com/office/drawing/2014/main" id="{3D57B44C-39A8-483E-8CF1-E085A952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68667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75" b="0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Flask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132ffc0ad4283"/>
          <a:stretch xmlns:a="http://schemas.openxmlformats.org/drawingml/2006/main"/>
        </p:blipFill>
        <p:spPr>
          <a:xfrm xmlns:a="http://schemas.openxmlformats.org/drawingml/2006/main">
            <a:off x="3867150" y="7562850"/>
            <a:ext cx="390525" cy="495300"/>
          </a:xfrm>
          <a:prstGeom xmlns:a="http://schemas.openxmlformats.org/drawingml/2006/main" prst="rect">
            <a:avLst/>
          </a:prstGeom>
        </p:spPr>
      </p:pic>
      <p:sp>
        <p:nvSpPr>
          <p:cNvPr id="97" name="Text 295: SQLite">
            <a:extLst xmlns:a="http://schemas.openxmlformats.org/drawingml/2006/main">
              <a:ext uri="{FF2B5EF4-FFF2-40B4-BE49-F238E27FC236}">
                <a16:creationId xmlns:a16="http://schemas.microsoft.com/office/drawing/2014/main" id="{5EDD3F36-AC06-45A5-B2F8-62C5BF6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7715250"/>
            <a:ext cx="781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SQLite</a:t>
            </a:r>
          </a:p>
        </p:txBody>
      </p:sp>
      <p:sp>
        <p:nvSpPr>
          <p:cNvPr id="98" name="Panel 296">
            <a:extLst xmlns:a="http://schemas.openxmlformats.org/drawingml/2006/main">
              <a:ext uri="{FF2B5EF4-FFF2-40B4-BE49-F238E27FC236}">
                <a16:creationId xmlns:a16="http://schemas.microsoft.com/office/drawing/2014/main" id="{394CA414-AC85-43D5-B6CB-41C728F4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524750"/>
            <a:ext cx="48387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211b5973749d7"/>
          <a:stretch xmlns:a="http://schemas.openxmlformats.org/drawingml/2006/main"/>
        </p:blipFill>
        <p:spPr>
          <a:xfrm xmlns:a="http://schemas.openxmlformats.org/drawingml/2006/main">
            <a:off x="5857875" y="7600950"/>
            <a:ext cx="552450" cy="485775"/>
          </a:xfrm>
          <a:prstGeom xmlns:a="http://schemas.openxmlformats.org/drawingml/2006/main" prst="rect">
            <a:avLst/>
          </a:prstGeom>
        </p:spPr>
      </p:pic>
      <p:sp>
        <p:nvSpPr>
          <p:cNvPr id="100" name="Text 297: Pricing and demand remain unvalidated">
            <a:extLst xmlns:a="http://schemas.openxmlformats.org/drawingml/2006/main">
              <a:ext uri="{FF2B5EF4-FFF2-40B4-BE49-F238E27FC236}">
                <a16:creationId xmlns:a16="http://schemas.microsoft.com/office/drawing/2014/main" id="{BBA6DF6D-5B79-4070-934C-B4337346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53350"/>
            <a:ext cx="3724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Pricing and demand remain unvalidated</a:t>
            </a:r>
          </a:p>
        </p:txBody>
      </p:sp>
      <p:sp>
        <p:nvSpPr>
          <p:cNvPr id="101" name="Panel 298">
            <a:extLst xmlns:a="http://schemas.openxmlformats.org/drawingml/2006/main">
              <a:ext uri="{FF2B5EF4-FFF2-40B4-BE49-F238E27FC236}">
                <a16:creationId xmlns:a16="http://schemas.microsoft.com/office/drawing/2014/main" id="{8ECA8D10-EC76-4323-886F-9C312B1D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534275"/>
            <a:ext cx="4829175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002F29"/>
          </a:solidFill>
          <a:ln xmlns:a="http://schemas.openxmlformats.org/drawingml/2006/main" w="13335">
            <a:solidFill>
              <a:srgbClr val="50F4BC"/>
            </a:solidFill>
            <a:prstDash val="solid"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0795d60904efa"/>
          <a:stretch xmlns:a="http://schemas.openxmlformats.org/drawingml/2006/main"/>
        </p:blipFill>
        <p:spPr>
          <a:xfrm xmlns:a="http://schemas.openxmlformats.org/drawingml/2006/main">
            <a:off x="11201400" y="7572375"/>
            <a:ext cx="514350" cy="485775"/>
          </a:xfrm>
          <a:prstGeom xmlns:a="http://schemas.openxmlformats.org/drawingml/2006/main" prst="rect">
            <a:avLst/>
          </a:prstGeom>
        </p:spPr>
      </p:pic>
      <p:sp>
        <p:nvSpPr>
          <p:cNvPr id="103" name="Text 299: Raw training video stays on the device">
            <a:extLst xmlns:a="http://schemas.openxmlformats.org/drawingml/2006/main">
              <a:ext uri="{FF2B5EF4-FFF2-40B4-BE49-F238E27FC236}">
                <a16:creationId xmlns:a16="http://schemas.microsoft.com/office/drawing/2014/main" id="{C6B51578-F0F5-4FD9-935D-92C1C61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77533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Raw training video stays on the device</a:t>
            </a:r>
          </a:p>
        </p:txBody>
      </p:sp>
      <p:sp>
        <p:nvSpPr>
          <p:cNvPr id="104" name="Footer 300">
            <a:extLst xmlns:a="http://schemas.openxmlformats.org/drawingml/2006/main">
              <a:ext uri="{FF2B5EF4-FFF2-40B4-BE49-F238E27FC236}">
                <a16:creationId xmlns:a16="http://schemas.microsoft.com/office/drawing/2014/main" id="{C34DBD1A-88D1-4DBA-B290-9AE9EE0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4288">
            <a:solidFill>
              <a:srgbClr val="20E7FA"/>
            </a:solidFill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cb412a54a41"/>
          <a:stretch xmlns:a="http://schemas.openxmlformats.org/drawingml/2006/main"/>
        </p:blipFill>
        <p:spPr>
          <a:xfrm xmlns:a="http://schemas.openxmlformats.org/drawingml/2006/main">
            <a:off x="409575" y="8355521"/>
            <a:ext cx="409575" cy="376809"/>
          </a:xfrm>
          <a:prstGeom xmlns:a="http://schemas.openxmlformats.org/drawingml/2006/main" prst="rect">
            <a:avLst/>
          </a:prstGeom>
        </p:spPr>
      </p:pic>
      <p:sp>
        <p:nvSpPr>
          <p:cNvPr id="106" name="Text 301: VALIDATE NEXT">
            <a:extLst xmlns:a="http://schemas.openxmlformats.org/drawingml/2006/main">
              <a:ext uri="{FF2B5EF4-FFF2-40B4-BE49-F238E27FC236}">
                <a16:creationId xmlns:a16="http://schemas.microsoft.com/office/drawing/2014/main" id="{67E8FF05-9A92-4880-BC92-BAB20E26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4296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VALIDATE NEXT</a:t>
            </a:r>
          </a:p>
        </p:txBody>
      </p:sp>
      <p:sp>
        <p:nvSpPr>
          <p:cNvPr id="107" name="Divider 302">
            <a:extLst xmlns:a="http://schemas.openxmlformats.org/drawingml/2006/main">
              <a:ext uri="{FF2B5EF4-FFF2-40B4-BE49-F238E27FC236}">
                <a16:creationId xmlns:a16="http://schemas.microsoft.com/office/drawing/2014/main" id="{CDFA8EB1-2A6D-4722-BDE5-4C80685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08" name="Text 303: Score calibration, device performance and pilot outcomes">
            <a:extLst xmlns:a="http://schemas.openxmlformats.org/drawingml/2006/main">
              <a:ext uri="{FF2B5EF4-FFF2-40B4-BE49-F238E27FC236}">
                <a16:creationId xmlns:a16="http://schemas.microsoft.com/office/drawing/2014/main" id="{9B3BFFA8-8237-4C6F-9A77-821434D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467725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Score calibration, device performance and pilot outcomes</a:t>
            </a:r>
          </a:p>
        </p:txBody>
      </p:sp>
      <p:sp>
        <p:nvSpPr>
          <p:cNvPr id="109" name="Divider 304">
            <a:extLst xmlns:a="http://schemas.openxmlformats.org/drawingml/2006/main">
              <a:ext uri="{FF2B5EF4-FFF2-40B4-BE49-F238E27FC236}">
                <a16:creationId xmlns:a16="http://schemas.microsoft.com/office/drawing/2014/main" id="{4335788A-943F-445D-8E63-51775D35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10" name="Text 305: ↗">
            <a:extLst xmlns:a="http://schemas.openxmlformats.org/drawingml/2006/main">
              <a:ext uri="{FF2B5EF4-FFF2-40B4-BE49-F238E27FC236}">
                <a16:creationId xmlns:a16="http://schemas.microsoft.com/office/drawing/2014/main" id="{B1F1CFA8-4235-4E24-8D74-9AF19DD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391525"/>
            <a:ext cx="361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11" name="Text 306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C987D3A9-3849-4EED-9903-F75D38AB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c809835c557841d5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221042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92dcf7583473c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cf03c88e34492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88be463644fb0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ca253ef75402b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2d6a019374efd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b313adcb842b3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ff948fc7f4f9d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53468616c4628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f9493e4d4430b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7fe3d1c03415c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70d866d44f0b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465e807ab4837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8ed088de94e76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ea8612ca44bf7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67e11e246409b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59e89415f48f2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2935183ec4f34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4c6c250284cc9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e381d54be4514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7646f526d4045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eb005316e4468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8edd0462944dd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daccbfd324c1f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2ecdc8b9f443e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489c451854d6c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a34c2e7ef433f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89223c9d34fab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353df9ac34968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46d065eb442ed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4cd7cfc6948dc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156795e44dcd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ef03a91e74332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307: AthletixAI">
            <a:extLst xmlns:a="http://schemas.openxmlformats.org/drawingml/2006/main">
              <a:ext uri="{FF2B5EF4-FFF2-40B4-BE49-F238E27FC236}">
                <a16:creationId xmlns:a16="http://schemas.microsoft.com/office/drawing/2014/main" id="{B9163F25-E106-472C-B099-6F227004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308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F8B1BC0D-7D4C-4E02-A180-665ABDF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09: BUSINESS MODEL · MARKET OPPORTUNITY · FUTURE ROADMAP">
            <a:extLst xmlns:a="http://schemas.openxmlformats.org/drawingml/2006/main">
              <a:ext uri="{FF2B5EF4-FFF2-40B4-BE49-F238E27FC236}">
                <a16:creationId xmlns:a16="http://schemas.microsoft.com/office/drawing/2014/main" id="{FF2BEC66-35F6-4317-ACC7-0EDD7168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BUSINESS MODEL · MARKET OPPORTUNITY · FUTURE ROADMAP</a:t>
            </a:r>
          </a:p>
        </p:txBody>
      </p:sp>
      <p:sp>
        <p:nvSpPr>
          <p:cNvPr id="36" name="Text 310: Proposed business strategy and product roadmap">
            <a:extLst xmlns:a="http://schemas.openxmlformats.org/drawingml/2006/main">
              <a:ext uri="{FF2B5EF4-FFF2-40B4-BE49-F238E27FC236}">
                <a16:creationId xmlns:a16="http://schemas.microsoft.com/office/drawing/2014/main" id="{0C70922E-ED96-4AC8-AA80-396A0CFA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5325"/>
            <a:ext cx="1119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business strategy and product roadmap</a:t>
            </a:r>
          </a:p>
        </p:txBody>
      </p:sp>
      <p:sp>
        <p:nvSpPr>
          <p:cNvPr id="37" name="Panel 311">
            <a:extLst xmlns:a="http://schemas.openxmlformats.org/drawingml/2006/main">
              <a:ext uri="{FF2B5EF4-FFF2-40B4-BE49-F238E27FC236}">
                <a16:creationId xmlns:a16="http://schemas.microsoft.com/office/drawing/2014/main" id="{ABBDEE17-3EEB-4E24-98D3-9F79F34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8" name="Panel 312">
            <a:extLst xmlns:a="http://schemas.openxmlformats.org/drawingml/2006/main">
              <a:ext uri="{FF2B5EF4-FFF2-40B4-BE49-F238E27FC236}">
                <a16:creationId xmlns:a16="http://schemas.microsoft.com/office/drawing/2014/main" id="{D07BDCB2-9659-450E-A527-9B45BC9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23950"/>
            <a:ext cx="5114925" cy="7067550"/>
          </a:xfrm>
          <a:prstGeom xmlns:a="http://schemas.openxmlformats.org/drawingml/2006/main" prst="roundRect">
            <a:avLst>
              <a:gd name="adj" fmla="val 2980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39" name="Panel 313">
            <a:extLst xmlns:a="http://schemas.openxmlformats.org/drawingml/2006/main">
              <a:ext uri="{FF2B5EF4-FFF2-40B4-BE49-F238E27FC236}">
                <a16:creationId xmlns:a16="http://schemas.microsoft.com/office/drawing/2014/main" id="{E026CB7A-C444-4067-823E-ED49C7D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123950"/>
            <a:ext cx="5086350" cy="7067550"/>
          </a:xfrm>
          <a:prstGeom xmlns:a="http://schemas.openxmlformats.org/drawingml/2006/main" prst="roundRect">
            <a:avLst>
              <a:gd name="adj" fmla="val 2996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FF6386"/>
            </a:solidFill>
            <a:prstDash val="solid"/>
          </a:ln>
        </p:spPr>
      </p:sp>
      <p:sp>
        <p:nvSpPr>
          <p:cNvPr id="40" name="Section number 314">
            <a:extLst xmlns:a="http://schemas.openxmlformats.org/drawingml/2006/main">
              <a:ext uri="{FF2B5EF4-FFF2-40B4-BE49-F238E27FC236}">
                <a16:creationId xmlns:a16="http://schemas.microsoft.com/office/drawing/2014/main" id="{7F887CE7-2043-474B-9724-F583492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1" name="Text 315: 01">
            <a:extLst xmlns:a="http://schemas.openxmlformats.org/drawingml/2006/main">
              <a:ext uri="{FF2B5EF4-FFF2-40B4-BE49-F238E27FC236}">
                <a16:creationId xmlns:a16="http://schemas.microsoft.com/office/drawing/2014/main" id="{28A24930-EF12-4057-9F72-E80CF625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2" name="Section number 316">
            <a:extLst xmlns:a="http://schemas.openxmlformats.org/drawingml/2006/main">
              <a:ext uri="{FF2B5EF4-FFF2-40B4-BE49-F238E27FC236}">
                <a16:creationId xmlns:a16="http://schemas.microsoft.com/office/drawing/2014/main" id="{3288DE2C-92EE-4A36-9A5B-472C5564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43" name="Text 317: 02">
            <a:extLst xmlns:a="http://schemas.openxmlformats.org/drawingml/2006/main">
              <a:ext uri="{FF2B5EF4-FFF2-40B4-BE49-F238E27FC236}">
                <a16:creationId xmlns:a16="http://schemas.microsoft.com/office/drawing/2014/main" id="{90DB649B-EBA9-4A76-8A92-E84DD45E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44" name="Section number 318">
            <a:extLst xmlns:a="http://schemas.openxmlformats.org/drawingml/2006/main">
              <a:ext uri="{FF2B5EF4-FFF2-40B4-BE49-F238E27FC236}">
                <a16:creationId xmlns:a16="http://schemas.microsoft.com/office/drawing/2014/main" id="{25E2F7E1-CBD3-4F0A-AA55-814486F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285875"/>
            <a:ext cx="647700" cy="561975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FF6386"/>
            </a:solidFill>
            <a:prstDash val="solid"/>
          </a:ln>
        </p:spPr>
      </p:sp>
      <p:sp>
        <p:nvSpPr>
          <p:cNvPr id="45" name="Text 319: 03">
            <a:extLst xmlns:a="http://schemas.openxmlformats.org/drawingml/2006/main">
              <a:ext uri="{FF2B5EF4-FFF2-40B4-BE49-F238E27FC236}">
                <a16:creationId xmlns:a16="http://schemas.microsoft.com/office/drawing/2014/main" id="{908FD887-86C5-41A8-97C9-72E123F1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314450"/>
            <a:ext cx="647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defRPr>
            </a:pPr>
            <a:r>
              <a:rPr sz="3225" b="1">
                <a:solidFill>
                  <a:srgbClr val="FF6386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46" name="Text 320: BUSINESS MODEL">
            <a:extLst xmlns:a="http://schemas.openxmlformats.org/drawingml/2006/main">
              <a:ext uri="{FF2B5EF4-FFF2-40B4-BE49-F238E27FC236}">
                <a16:creationId xmlns:a16="http://schemas.microsoft.com/office/drawing/2014/main" id="{5ECE1280-5123-454D-997A-78BA97CD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343025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BUSINESS MODEL</a:t>
            </a:r>
          </a:p>
        </p:txBody>
      </p:sp>
      <p:sp>
        <p:nvSpPr>
          <p:cNvPr id="47" name="Text 321: Proposed revenue streams">
            <a:extLst xmlns:a="http://schemas.openxmlformats.org/drawingml/2006/main">
              <a:ext uri="{FF2B5EF4-FFF2-40B4-BE49-F238E27FC236}">
                <a16:creationId xmlns:a16="http://schemas.microsoft.com/office/drawing/2014/main" id="{F320B0E2-7B47-4876-BAFF-B889A08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621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Proposed revenue streams</a:t>
            </a:r>
          </a:p>
        </p:txBody>
      </p:sp>
      <p:sp>
        <p:nvSpPr>
          <p:cNvPr id="48" name="Text 322: MARKET OPPORTUNITY">
            <a:extLst xmlns:a="http://schemas.openxmlformats.org/drawingml/2006/main">
              <a:ext uri="{FF2B5EF4-FFF2-40B4-BE49-F238E27FC236}">
                <a16:creationId xmlns:a16="http://schemas.microsoft.com/office/drawing/2014/main" id="{5A85ABB3-FF97-4D9D-BAC0-23E8892E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430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MARKET OPPORTUNITY</a:t>
            </a:r>
          </a:p>
        </p:txBody>
      </p:sp>
      <p:sp>
        <p:nvSpPr>
          <p:cNvPr id="49" name="Text 323: India-first target segments">
            <a:extLst xmlns:a="http://schemas.openxmlformats.org/drawingml/2006/main">
              <a:ext uri="{FF2B5EF4-FFF2-40B4-BE49-F238E27FC236}">
                <a16:creationId xmlns:a16="http://schemas.microsoft.com/office/drawing/2014/main" id="{A5A4F0CD-6CB6-44E5-B597-9294A9A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21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India-first target segments</a:t>
            </a:r>
          </a:p>
        </p:txBody>
      </p:sp>
      <p:sp>
        <p:nvSpPr>
          <p:cNvPr id="50" name="Text 324: FUTURE ROADMAP">
            <a:extLst xmlns:a="http://schemas.openxmlformats.org/drawingml/2006/main">
              <a:ext uri="{FF2B5EF4-FFF2-40B4-BE49-F238E27FC236}">
                <a16:creationId xmlns:a16="http://schemas.microsoft.com/office/drawing/2014/main" id="{BAE1CDDC-3370-446F-90F0-D6D2D4FB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13430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FUTURE ROADMAP</a:t>
            </a:r>
          </a:p>
        </p:txBody>
      </p:sp>
      <p:sp>
        <p:nvSpPr>
          <p:cNvPr id="51" name="Text 325: Planned after the working prototype">
            <a:extLst xmlns:a="http://schemas.openxmlformats.org/drawingml/2006/main">
              <a:ext uri="{FF2B5EF4-FFF2-40B4-BE49-F238E27FC236}">
                <a16:creationId xmlns:a16="http://schemas.microsoft.com/office/drawing/2014/main" id="{CE3C56FD-B79D-446C-A413-94C47CDA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1752600"/>
            <a:ext cx="289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Planned after the working prototype</a:t>
            </a:r>
          </a:p>
        </p:txBody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ba546ba39445c"/>
          <a:stretch xmlns:a="http://schemas.openxmlformats.org/drawingml/2006/main"/>
        </p:blipFill>
        <p:spPr>
          <a:xfrm xmlns:a="http://schemas.openxmlformats.org/drawingml/2006/main">
            <a:off x="1819275" y="2095500"/>
            <a:ext cx="2419350" cy="1504950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caf07fe5f45e8"/>
          <a:stretch xmlns:a="http://schemas.openxmlformats.org/drawingml/2006/main"/>
        </p:blipFill>
        <p:spPr>
          <a:xfrm xmlns:a="http://schemas.openxmlformats.org/drawingml/2006/main">
            <a:off x="6600825" y="2085975"/>
            <a:ext cx="3105150" cy="1590675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0f080396342e4"/>
          <a:stretch xmlns:a="http://schemas.openxmlformats.org/drawingml/2006/main"/>
        </p:blipFill>
        <p:spPr>
          <a:xfrm xmlns:a="http://schemas.openxmlformats.org/drawingml/2006/main">
            <a:off x="11534775" y="1266825"/>
            <a:ext cx="1076325" cy="657225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a3e7693e24aa4"/>
          <a:stretch xmlns:a="http://schemas.openxmlformats.org/drawingml/2006/main"/>
        </p:blipFill>
        <p:spPr>
          <a:xfrm xmlns:a="http://schemas.openxmlformats.org/drawingml/2006/main">
            <a:off x="11287125" y="1924050"/>
            <a:ext cx="1323975" cy="704850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6674d118e4202"/>
          <a:stretch xmlns:a="http://schemas.openxmlformats.org/drawingml/2006/main"/>
        </p:blipFill>
        <p:spPr>
          <a:xfrm xmlns:a="http://schemas.openxmlformats.org/drawingml/2006/main">
            <a:off x="533400" y="3714750"/>
            <a:ext cx="1295400" cy="1038225"/>
          </a:xfrm>
          <a:prstGeom xmlns:a="http://schemas.openxmlformats.org/drawingml/2006/main" prst="rect">
            <a:avLst/>
          </a:prstGeom>
        </p:spPr>
      </p:pic>
      <p:sp>
        <p:nvSpPr>
          <p:cNvPr id="57" name="Text 326: Academy &amp; school subscriptions">
            <a:extLst xmlns:a="http://schemas.openxmlformats.org/drawingml/2006/main">
              <a:ext uri="{FF2B5EF4-FFF2-40B4-BE49-F238E27FC236}">
                <a16:creationId xmlns:a16="http://schemas.microsoft.com/office/drawing/2014/main" id="{7FE46049-664B-4A96-A1D4-D9ABE0E2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Academy &amp; school subscriptions</a:t>
            </a:r>
          </a:p>
        </p:txBody>
      </p:sp>
      <p:sp>
        <p:nvSpPr>
          <p:cNvPr id="58" name="Text 327: Team dashboards and batch assessment tools">
            <a:extLst xmlns:a="http://schemas.openxmlformats.org/drawingml/2006/main">
              <a:ext uri="{FF2B5EF4-FFF2-40B4-BE49-F238E27FC236}">
                <a16:creationId xmlns:a16="http://schemas.microsoft.com/office/drawing/2014/main" id="{C88448C4-30AB-4CDE-88D2-4A94773E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21957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Team dashboards and batch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assessment tools</a:t>
            </a:r>
          </a:p>
        </p:txBody>
      </p:sp>
      <p:sp>
        <p:nvSpPr>
          <p:cNvPr id="59" name="Divider 328">
            <a:extLst xmlns:a="http://schemas.openxmlformats.org/drawingml/2006/main">
              <a:ext uri="{FF2B5EF4-FFF2-40B4-BE49-F238E27FC236}">
                <a16:creationId xmlns:a16="http://schemas.microsoft.com/office/drawing/2014/main" id="{342A97C2-346D-42CA-A8CE-06444C3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d33dd9b1f4aa7"/>
          <a:stretch xmlns:a="http://schemas.openxmlformats.org/drawingml/2006/main"/>
        </p:blipFill>
        <p:spPr>
          <a:xfrm xmlns:a="http://schemas.openxmlformats.org/drawingml/2006/main">
            <a:off x="504825" y="4962525"/>
            <a:ext cx="1333500" cy="1057275"/>
          </a:xfrm>
          <a:prstGeom xmlns:a="http://schemas.openxmlformats.org/drawingml/2006/main" prst="rect">
            <a:avLst/>
          </a:prstGeom>
        </p:spPr>
      </p:pic>
      <p:sp>
        <p:nvSpPr>
          <p:cNvPr id="61" name="Text 329: Coach workspace plans">
            <a:extLst xmlns:a="http://schemas.openxmlformats.org/drawingml/2006/main">
              <a:ext uri="{FF2B5EF4-FFF2-40B4-BE49-F238E27FC236}">
                <a16:creationId xmlns:a16="http://schemas.microsoft.com/office/drawing/2014/main" id="{80D0E111-30D9-4F04-826B-0AA74B1D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8635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Coach workspace plans</a:t>
            </a:r>
          </a:p>
        </p:txBody>
      </p:sp>
      <p:sp>
        <p:nvSpPr>
          <p:cNvPr id="62" name="Text 330: Advanced scouting and squad management">
            <a:extLst xmlns:a="http://schemas.openxmlformats.org/drawingml/2006/main">
              <a:ext uri="{FF2B5EF4-FFF2-40B4-BE49-F238E27FC236}">
                <a16:creationId xmlns:a16="http://schemas.microsoft.com/office/drawing/2014/main" id="{F7397D8C-EF97-4790-BEBF-7491F5A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97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Advanced scouting and squad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management</a:t>
            </a:r>
          </a:p>
        </p:txBody>
      </p:sp>
      <p:sp>
        <p:nvSpPr>
          <p:cNvPr id="63" name="Divider 331">
            <a:extLst xmlns:a="http://schemas.openxmlformats.org/drawingml/2006/main">
              <a:ext uri="{FF2B5EF4-FFF2-40B4-BE49-F238E27FC236}">
                <a16:creationId xmlns:a16="http://schemas.microsoft.com/office/drawing/2014/main" id="{17028D77-BDC6-406C-8895-0A630DCD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038850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be866563d445d"/>
          <a:stretch xmlns:a="http://schemas.openxmlformats.org/drawingml/2006/main"/>
        </p:blipFill>
        <p:spPr>
          <a:xfrm xmlns:a="http://schemas.openxmlformats.org/drawingml/2006/main">
            <a:off x="514350" y="6286500"/>
            <a:ext cx="1276350" cy="933450"/>
          </a:xfrm>
          <a:prstGeom xmlns:a="http://schemas.openxmlformats.org/drawingml/2006/main" prst="rect">
            <a:avLst/>
          </a:prstGeom>
        </p:spPr>
      </p:pic>
      <p:sp>
        <p:nvSpPr>
          <p:cNvPr id="65" name="Text 332: Sponsored assessment programs">
            <a:extLst xmlns:a="http://schemas.openxmlformats.org/drawingml/2006/main">
              <a:ext uri="{FF2B5EF4-FFF2-40B4-BE49-F238E27FC236}">
                <a16:creationId xmlns:a16="http://schemas.microsoft.com/office/drawing/2014/main" id="{3923C9FE-7468-4B09-8257-3F3C0FC7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267450"/>
            <a:ext cx="3114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Sponsored assessment</a:t>
            </a:r>
          </a:p>
          <a:p xmlns:a="http://schemas.openxmlformats.org/drawingml/2006/main">
            <a:pPr algn="l">
              <a:def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programs</a:t>
            </a:r>
          </a:p>
        </p:txBody>
      </p:sp>
      <p:sp>
        <p:nvSpPr>
          <p:cNvPr id="66" name="Text 333: CSR-funded camps and community access">
            <a:extLst xmlns:a="http://schemas.openxmlformats.org/drawingml/2006/main">
              <a:ext uri="{FF2B5EF4-FFF2-40B4-BE49-F238E27FC236}">
                <a16:creationId xmlns:a16="http://schemas.microsoft.com/office/drawing/2014/main" id="{5664C569-AC06-469C-8408-0F1A15B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8199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CSR-funded camps and</a:t>
            </a:r>
          </a:p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community access</a:t>
            </a:r>
          </a:p>
        </p:txBody>
      </p:sp>
      <p:sp>
        <p:nvSpPr>
          <p:cNvPr id="67" name="Text 334: Pricing and demand to be validated">
            <a:extLst xmlns:a="http://schemas.openxmlformats.org/drawingml/2006/main">
              <a:ext uri="{FF2B5EF4-FFF2-40B4-BE49-F238E27FC236}">
                <a16:creationId xmlns:a16="http://schemas.microsoft.com/office/drawing/2014/main" id="{9538C183-DBFB-4B40-A290-6179DF5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05675"/>
            <a:ext cx="3457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Pricing and demand to be validated</a:t>
            </a:r>
          </a:p>
        </p:txBody>
      </p:sp>
      <p:sp>
        <p:nvSpPr>
          <p:cNvPr id="68" name="Panel 335">
            <a:extLst xmlns:a="http://schemas.openxmlformats.org/drawingml/2006/main">
              <a:ext uri="{FF2B5EF4-FFF2-40B4-BE49-F238E27FC236}">
                <a16:creationId xmlns:a16="http://schemas.microsoft.com/office/drawing/2014/main" id="{4CC6C588-50BE-4617-A612-9612AFD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534275"/>
            <a:ext cx="49149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0302F"/>
          </a:solidFill>
          <a:ln xmlns:a="http://schemas.openxmlformats.org/drawingml/2006/main" w="12383">
            <a:solidFill>
              <a:srgbClr val="50F4BC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c3891d40d4e2a"/>
          <a:stretch xmlns:a="http://schemas.openxmlformats.org/drawingml/2006/main"/>
        </p:blipFill>
        <p:spPr>
          <a:xfrm xmlns:a="http://schemas.openxmlformats.org/drawingml/2006/main">
            <a:off x="752475" y="7591425"/>
            <a:ext cx="552450" cy="495300"/>
          </a:xfrm>
          <a:prstGeom xmlns:a="http://schemas.openxmlformats.org/drawingml/2006/main" prst="rect">
            <a:avLst/>
          </a:prstGeom>
        </p:spPr>
      </p:pic>
      <p:sp>
        <p:nvSpPr>
          <p:cNvPr id="70" name="Text 336: FREE FOR ATHLETES, ALWAYS">
            <a:extLst xmlns:a="http://schemas.openxmlformats.org/drawingml/2006/main">
              <a:ext uri="{FF2B5EF4-FFF2-40B4-BE49-F238E27FC236}">
                <a16:creationId xmlns:a16="http://schemas.microsoft.com/office/drawing/2014/main" id="{8E08E39C-31D8-4F21-A246-C06D008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743825"/>
            <a:ext cx="3533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50F4BC"/>
                </a:solidFill>
                <a:latin typeface="Arial Narrow"/>
                <a:ea typeface="Arial Narrow"/>
                <a:cs typeface="Arial Narrow"/>
              </a:rPr>
              <a:t>FREE FOR ATHLETES, ALWAYS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9f95f6b9d4c3c"/>
          <a:stretch xmlns:a="http://schemas.openxmlformats.org/drawingml/2006/main"/>
        </p:blipFill>
        <p:spPr>
          <a:xfrm xmlns:a="http://schemas.openxmlformats.org/drawingml/2006/main">
            <a:off x="6000750" y="3562350"/>
            <a:ext cx="1343025" cy="1219200"/>
          </a:xfrm>
          <a:prstGeom xmlns:a="http://schemas.openxmlformats.org/drawingml/2006/main" prst="rect">
            <a:avLst/>
          </a:prstGeom>
        </p:spPr>
      </p:pic>
      <p:sp>
        <p:nvSpPr>
          <p:cNvPr id="72" name="Text 337: PRIMARY USERS">
            <a:extLst xmlns:a="http://schemas.openxmlformats.org/drawingml/2006/main">
              <a:ext uri="{FF2B5EF4-FFF2-40B4-BE49-F238E27FC236}">
                <a16:creationId xmlns:a16="http://schemas.microsoft.com/office/drawing/2014/main" id="{DEA0E14C-E440-46B7-B3E2-7135D5A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PRIMARY USERS</a:t>
            </a:r>
          </a:p>
        </p:txBody>
      </p:sp>
      <p:sp>
        <p:nvSpPr>
          <p:cNvPr id="73" name="Text 338: Student and grassroots athletes">
            <a:extLst xmlns:a="http://schemas.openxmlformats.org/drawingml/2006/main">
              <a:ext uri="{FF2B5EF4-FFF2-40B4-BE49-F238E27FC236}">
                <a16:creationId xmlns:a16="http://schemas.microsoft.com/office/drawing/2014/main" id="{5735FC69-D11E-44CF-997F-DF756E6D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3387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Student and grassroots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athletes</a:t>
            </a:r>
          </a:p>
        </p:txBody>
      </p:sp>
      <p:sp>
        <p:nvSpPr>
          <p:cNvPr id="74" name="Divider 339">
            <a:extLst xmlns:a="http://schemas.openxmlformats.org/drawingml/2006/main">
              <a:ext uri="{FF2B5EF4-FFF2-40B4-BE49-F238E27FC236}">
                <a16:creationId xmlns:a16="http://schemas.microsoft.com/office/drawing/2014/main" id="{A5BF831A-3526-43C2-A912-7ED1474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914900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64e1d3e7944a6"/>
          <a:stretch xmlns:a="http://schemas.openxmlformats.org/drawingml/2006/main"/>
        </p:blipFill>
        <p:spPr>
          <a:xfrm xmlns:a="http://schemas.openxmlformats.org/drawingml/2006/main">
            <a:off x="5848350" y="4972050"/>
            <a:ext cx="1438275" cy="1104900"/>
          </a:xfrm>
          <a:prstGeom xmlns:a="http://schemas.openxmlformats.org/drawingml/2006/main" prst="rect">
            <a:avLst/>
          </a:prstGeom>
        </p:spPr>
      </p:pic>
      <p:sp>
        <p:nvSpPr>
          <p:cNvPr id="76" name="Text 340: PAYING CUSTOMERS">
            <a:extLst xmlns:a="http://schemas.openxmlformats.org/drawingml/2006/main">
              <a:ext uri="{FF2B5EF4-FFF2-40B4-BE49-F238E27FC236}">
                <a16:creationId xmlns:a16="http://schemas.microsoft.com/office/drawing/2014/main" id="{07ADFB86-F275-4105-B5A8-4100D277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91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PAYING CUSTOMERS</a:t>
            </a:r>
          </a:p>
        </p:txBody>
      </p:sp>
      <p:sp>
        <p:nvSpPr>
          <p:cNvPr id="77" name="Text 341: Academies, schools and professional coaches">
            <a:extLst xmlns:a="http://schemas.openxmlformats.org/drawingml/2006/main">
              <a:ext uri="{FF2B5EF4-FFF2-40B4-BE49-F238E27FC236}">
                <a16:creationId xmlns:a16="http://schemas.microsoft.com/office/drawing/2014/main" id="{4F074F1F-98ED-42BE-82FD-D90DD23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Academies, schools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professional coaches</a:t>
            </a:r>
          </a:p>
        </p:txBody>
      </p:sp>
      <p:sp>
        <p:nvSpPr>
          <p:cNvPr id="78" name="Divider 342">
            <a:extLst xmlns:a="http://schemas.openxmlformats.org/drawingml/2006/main">
              <a:ext uri="{FF2B5EF4-FFF2-40B4-BE49-F238E27FC236}">
                <a16:creationId xmlns:a16="http://schemas.microsoft.com/office/drawing/2014/main" id="{2613F6BD-9AAD-45EC-856A-C6755D2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1055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0af6db1b34bd9"/>
          <a:stretch xmlns:a="http://schemas.openxmlformats.org/drawingml/2006/main"/>
        </p:blipFill>
        <p:spPr>
          <a:xfrm xmlns:a="http://schemas.openxmlformats.org/drawingml/2006/main">
            <a:off x="5819775" y="6115050"/>
            <a:ext cx="1533525" cy="1200150"/>
          </a:xfrm>
          <a:prstGeom xmlns:a="http://schemas.openxmlformats.org/drawingml/2006/main" prst="rect">
            <a:avLst/>
          </a:prstGeom>
        </p:spPr>
      </p:pic>
      <p:sp>
        <p:nvSpPr>
          <p:cNvPr id="80" name="Text 343: INITIAL ENTRY">
            <a:extLst xmlns:a="http://schemas.openxmlformats.org/drawingml/2006/main">
              <a:ext uri="{FF2B5EF4-FFF2-40B4-BE49-F238E27FC236}">
                <a16:creationId xmlns:a16="http://schemas.microsoft.com/office/drawing/2014/main" id="{1BDAF927-8B36-4FF1-8614-DA24C1FA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410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INITIAL ENTRY</a:t>
            </a:r>
          </a:p>
        </p:txBody>
      </p:sp>
      <p:sp>
        <p:nvSpPr>
          <p:cNvPr id="81" name="Text 344: Pilot with local cricket academies">
            <a:extLst xmlns:a="http://schemas.openxmlformats.org/drawingml/2006/main">
              <a:ext uri="{FF2B5EF4-FFF2-40B4-BE49-F238E27FC236}">
                <a16:creationId xmlns:a16="http://schemas.microsoft.com/office/drawing/2014/main" id="{E14DF9DB-F8A4-463B-B56F-20F2ECE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74370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Pilot with local cricket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academies</a:t>
            </a:r>
          </a:p>
        </p:txBody>
      </p:sp>
      <p:sp>
        <p:nvSpPr>
          <p:cNvPr id="82" name="Panel 345">
            <a:extLst xmlns:a="http://schemas.openxmlformats.org/drawingml/2006/main">
              <a:ext uri="{FF2B5EF4-FFF2-40B4-BE49-F238E27FC236}">
                <a16:creationId xmlns:a16="http://schemas.microsoft.com/office/drawing/2014/main" id="{81534245-2A4D-4C22-89EB-461312E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7343775"/>
            <a:ext cx="4829175" cy="561975"/>
          </a:xfrm>
          <a:prstGeom xmlns:a="http://schemas.openxmlformats.org/drawingml/2006/main" prst="roundRect">
            <a:avLst>
              <a:gd name="adj" fmla="val 22034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ab4e993ba458c"/>
          <a:stretch xmlns:a="http://schemas.openxmlformats.org/drawingml/2006/main"/>
        </p:blipFill>
        <p:spPr>
          <a:xfrm xmlns:a="http://schemas.openxmlformats.org/drawingml/2006/main">
            <a:off x="5791200" y="7400925"/>
            <a:ext cx="495300" cy="457200"/>
          </a:xfrm>
          <a:prstGeom xmlns:a="http://schemas.openxmlformats.org/drawingml/2006/main" prst="rect">
            <a:avLst/>
          </a:prstGeom>
        </p:spPr>
      </p:pic>
      <p:sp>
        <p:nvSpPr>
          <p:cNvPr id="84" name="Text 346: Phone-based assessment with coach discovery">
            <a:extLst xmlns:a="http://schemas.openxmlformats.org/drawingml/2006/main">
              <a:ext uri="{FF2B5EF4-FFF2-40B4-BE49-F238E27FC236}">
                <a16:creationId xmlns:a16="http://schemas.microsoft.com/office/drawing/2014/main" id="{1AC37D35-479D-4068-B827-492BEEF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5152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Phone-based assessment with coach discovery</a:t>
            </a:r>
          </a:p>
        </p:txBody>
      </p:sp>
      <p:sp>
        <p:nvSpPr>
          <p:cNvPr id="85" name="Text 347: Target segments, not validated market size">
            <a:extLst xmlns:a="http://schemas.openxmlformats.org/drawingml/2006/main">
              <a:ext uri="{FF2B5EF4-FFF2-40B4-BE49-F238E27FC236}">
                <a16:creationId xmlns:a16="http://schemas.microsoft.com/office/drawing/2014/main" id="{DD5A64ED-3AD4-473C-A695-05BB925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7962900"/>
            <a:ext cx="3800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Target segments, not validated market size</a:t>
            </a:r>
          </a:p>
        </p:txBody>
      </p:sp>
      <p:sp>
        <p:nvSpPr>
          <p:cNvPr id="86" name="Divider 348">
            <a:extLst xmlns:a="http://schemas.openxmlformats.org/drawingml/2006/main">
              <a:ext uri="{FF2B5EF4-FFF2-40B4-BE49-F238E27FC236}">
                <a16:creationId xmlns:a16="http://schemas.microsoft.com/office/drawing/2014/main" id="{E38547D3-1D59-4522-9516-E08C73DA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09850"/>
            <a:ext cx="0" cy="529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E7FA"/>
            </a:solidFill>
            <a:prstDash val="solid"/>
          </a:ln>
        </p:spPr>
      </p:sp>
      <p:sp>
        <p:nvSpPr>
          <p:cNvPr id="87" name="Circle 349">
            <a:extLst xmlns:a="http://schemas.openxmlformats.org/drawingml/2006/main">
              <a:ext uri="{FF2B5EF4-FFF2-40B4-BE49-F238E27FC236}">
                <a16:creationId xmlns:a16="http://schemas.microsoft.com/office/drawing/2014/main" id="{634B13A9-8B00-42B4-A6EE-97C2975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88" name="Text 350: 1">
            <a:extLst xmlns:a="http://schemas.openxmlformats.org/drawingml/2006/main">
              <a:ext uri="{FF2B5EF4-FFF2-40B4-BE49-F238E27FC236}">
                <a16:creationId xmlns:a16="http://schemas.microsoft.com/office/drawing/2014/main" id="{3AC42F95-4ADE-44B6-B824-C04A9597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0384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1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65c8dd5f24818"/>
          <a:stretch xmlns:a="http://schemas.openxmlformats.org/drawingml/2006/main"/>
        </p:blipFill>
        <p:spPr>
          <a:xfrm xmlns:a="http://schemas.openxmlformats.org/drawingml/2006/main">
            <a:off x="11715750" y="2771775"/>
            <a:ext cx="1143000" cy="1057275"/>
          </a:xfrm>
          <a:prstGeom xmlns:a="http://schemas.openxmlformats.org/drawingml/2006/main" prst="rect">
            <a:avLst/>
          </a:prstGeom>
        </p:spPr>
      </p:pic>
      <p:sp>
        <p:nvSpPr>
          <p:cNvPr id="90" name="Text 351: VALIDATE">
            <a:extLst xmlns:a="http://schemas.openxmlformats.org/drawingml/2006/main">
              <a:ext uri="{FF2B5EF4-FFF2-40B4-BE49-F238E27FC236}">
                <a16:creationId xmlns:a16="http://schemas.microsoft.com/office/drawing/2014/main" id="{E8F91E7E-D16C-46AF-990D-8F04B017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28956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VALIDATE</a:t>
            </a:r>
          </a:p>
        </p:txBody>
      </p:sp>
      <p:sp>
        <p:nvSpPr>
          <p:cNvPr id="91" name="Text 352: Labelled athlete data and score calibration">
            <a:extLst xmlns:a="http://schemas.openxmlformats.org/drawingml/2006/main">
              <a:ext uri="{FF2B5EF4-FFF2-40B4-BE49-F238E27FC236}">
                <a16:creationId xmlns:a16="http://schemas.microsoft.com/office/drawing/2014/main" id="{9BA1C9C3-03A7-4AE8-A6EC-5846C39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3257550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Labelled athlete data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score calibration</a:t>
            </a:r>
          </a:p>
        </p:txBody>
      </p:sp>
      <p:sp>
        <p:nvSpPr>
          <p:cNvPr id="92" name="Divider 353">
            <a:extLst xmlns:a="http://schemas.openxmlformats.org/drawingml/2006/main">
              <a:ext uri="{FF2B5EF4-FFF2-40B4-BE49-F238E27FC236}">
                <a16:creationId xmlns:a16="http://schemas.microsoft.com/office/drawing/2014/main" id="{7D44A765-74FF-457A-8A16-1D2C422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943350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93" name="Circle 354">
            <a:extLst xmlns:a="http://schemas.openxmlformats.org/drawingml/2006/main">
              <a:ext uri="{FF2B5EF4-FFF2-40B4-BE49-F238E27FC236}">
                <a16:creationId xmlns:a16="http://schemas.microsoft.com/office/drawing/2014/main" id="{FF81E31D-E3EB-4163-B677-3DCCD2C8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3719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94" name="Text 355: 2">
            <a:extLst xmlns:a="http://schemas.openxmlformats.org/drawingml/2006/main">
              <a:ext uri="{FF2B5EF4-FFF2-40B4-BE49-F238E27FC236}">
                <a16:creationId xmlns:a16="http://schemas.microsoft.com/office/drawing/2014/main" id="{9CE03E38-62EE-4F60-A206-4BCAA56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410075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2</a:t>
            </a:r>
          </a:p>
        </p:txBody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68cf5659342d8"/>
          <a:stretch xmlns:a="http://schemas.openxmlformats.org/drawingml/2006/main"/>
        </p:blipFill>
        <p:spPr>
          <a:xfrm xmlns:a="http://schemas.openxmlformats.org/drawingml/2006/main">
            <a:off x="11734800" y="4105275"/>
            <a:ext cx="1152525" cy="1009650"/>
          </a:xfrm>
          <a:prstGeom xmlns:a="http://schemas.openxmlformats.org/drawingml/2006/main" prst="rect">
            <a:avLst/>
          </a:prstGeom>
        </p:spPr>
      </p:pic>
      <p:sp>
        <p:nvSpPr>
          <p:cNvPr id="96" name="Text 356: SPECIALISE">
            <a:extLst xmlns:a="http://schemas.openxmlformats.org/drawingml/2006/main">
              <a:ext uri="{FF2B5EF4-FFF2-40B4-BE49-F238E27FC236}">
                <a16:creationId xmlns:a16="http://schemas.microsoft.com/office/drawing/2014/main" id="{8E78F0DE-364B-49D8-8483-C509793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26720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SPECIALISE</a:t>
            </a:r>
          </a:p>
        </p:txBody>
      </p:sp>
      <p:sp>
        <p:nvSpPr>
          <p:cNvPr id="97" name="Text 357: Deep cricket analysis and sport-specific models">
            <a:extLst xmlns:a="http://schemas.openxmlformats.org/drawingml/2006/main">
              <a:ext uri="{FF2B5EF4-FFF2-40B4-BE49-F238E27FC236}">
                <a16:creationId xmlns:a16="http://schemas.microsoft.com/office/drawing/2014/main" id="{C968B849-7107-44C4-8A97-A689DFA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4629150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Deep cricket analysis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sport-specific models</a:t>
            </a:r>
          </a:p>
        </p:txBody>
      </p:sp>
      <p:sp>
        <p:nvSpPr>
          <p:cNvPr id="98" name="Divider 358">
            <a:extLst xmlns:a="http://schemas.openxmlformats.org/drawingml/2006/main">
              <a:ext uri="{FF2B5EF4-FFF2-40B4-BE49-F238E27FC236}">
                <a16:creationId xmlns:a16="http://schemas.microsoft.com/office/drawing/2014/main" id="{C9ABE194-EBD5-4161-8828-F5E8817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14950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99" name="Circle 359">
            <a:extLst xmlns:a="http://schemas.openxmlformats.org/drawingml/2006/main">
              <a:ext uri="{FF2B5EF4-FFF2-40B4-BE49-F238E27FC236}">
                <a16:creationId xmlns:a16="http://schemas.microsoft.com/office/drawing/2014/main" id="{A0945485-8E1F-4C7C-91AE-7CADA2B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715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100" name="Text 360: 3">
            <a:extLst xmlns:a="http://schemas.openxmlformats.org/drawingml/2006/main">
              <a:ext uri="{FF2B5EF4-FFF2-40B4-BE49-F238E27FC236}">
                <a16:creationId xmlns:a16="http://schemas.microsoft.com/office/drawing/2014/main" id="{7F8B74B0-AC36-4678-A9B1-C3EB2123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75310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3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0e4a123504526"/>
          <a:stretch xmlns:a="http://schemas.openxmlformats.org/drawingml/2006/main"/>
        </p:blipFill>
        <p:spPr>
          <a:xfrm xmlns:a="http://schemas.openxmlformats.org/drawingml/2006/main">
            <a:off x="11677650" y="5448300"/>
            <a:ext cx="1304925" cy="971550"/>
          </a:xfrm>
          <a:prstGeom xmlns:a="http://schemas.openxmlformats.org/drawingml/2006/main" prst="rect">
            <a:avLst/>
          </a:prstGeom>
        </p:spPr>
      </p:pic>
      <p:sp>
        <p:nvSpPr>
          <p:cNvPr id="102" name="Text 361: EXPAND">
            <a:extLst xmlns:a="http://schemas.openxmlformats.org/drawingml/2006/main">
              <a:ext uri="{FF2B5EF4-FFF2-40B4-BE49-F238E27FC236}">
                <a16:creationId xmlns:a16="http://schemas.microsoft.com/office/drawing/2014/main" id="{063438C8-F029-4EA5-A506-E3BF5A51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561022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EXPAND</a:t>
            </a:r>
          </a:p>
        </p:txBody>
      </p:sp>
      <p:sp>
        <p:nvSpPr>
          <p:cNvPr id="103" name="Text 362: Academy dashboards and institutional pilots">
            <a:extLst xmlns:a="http://schemas.openxmlformats.org/drawingml/2006/main">
              <a:ext uri="{FF2B5EF4-FFF2-40B4-BE49-F238E27FC236}">
                <a16:creationId xmlns:a16="http://schemas.microsoft.com/office/drawing/2014/main" id="{A33BB012-CF81-4567-802E-33CCFE7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5972175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Academy dashboards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institutional pilots</a:t>
            </a:r>
          </a:p>
        </p:txBody>
      </p:sp>
      <p:sp>
        <p:nvSpPr>
          <p:cNvPr id="104" name="Divider 363">
            <a:extLst xmlns:a="http://schemas.openxmlformats.org/drawingml/2006/main">
              <a:ext uri="{FF2B5EF4-FFF2-40B4-BE49-F238E27FC236}">
                <a16:creationId xmlns:a16="http://schemas.microsoft.com/office/drawing/2014/main" id="{84FE65D9-224D-40CF-9BC2-527BD94B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57975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26282"/>
            </a:solidFill>
            <a:prstDash val="solid"/>
          </a:ln>
        </p:spPr>
      </p:sp>
      <p:sp>
        <p:nvSpPr>
          <p:cNvPr id="105" name="Circle 364">
            <a:extLst xmlns:a="http://schemas.openxmlformats.org/drawingml/2006/main">
              <a:ext uri="{FF2B5EF4-FFF2-40B4-BE49-F238E27FC236}">
                <a16:creationId xmlns:a16="http://schemas.microsoft.com/office/drawing/2014/main" id="{69F4F33D-A2B2-46EA-9164-21DDC649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29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82A"/>
          </a:solidFill>
          <a:ln xmlns:a="http://schemas.openxmlformats.org/drawingml/2006/main" w="28575">
            <a:solidFill>
              <a:srgbClr val="20E7FA"/>
            </a:solidFill>
          </a:ln>
        </p:spPr>
      </p:sp>
      <p:sp>
        <p:nvSpPr>
          <p:cNvPr id="106" name="Text 365: 4">
            <a:extLst xmlns:a="http://schemas.openxmlformats.org/drawingml/2006/main">
              <a:ext uri="{FF2B5EF4-FFF2-40B4-BE49-F238E27FC236}">
                <a16:creationId xmlns:a16="http://schemas.microsoft.com/office/drawing/2014/main" id="{937A7CBF-CC4E-4C02-AAAF-04CB2409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7067550"/>
            <a:ext cx="47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5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4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2dbba12304bc2"/>
          <a:stretch xmlns:a="http://schemas.openxmlformats.org/drawingml/2006/main"/>
        </p:blipFill>
        <p:spPr>
          <a:xfrm xmlns:a="http://schemas.openxmlformats.org/drawingml/2006/main">
            <a:off x="11744325" y="6772275"/>
            <a:ext cx="1181100" cy="1143000"/>
          </a:xfrm>
          <a:prstGeom xmlns:a="http://schemas.openxmlformats.org/drawingml/2006/main" prst="rect">
            <a:avLst/>
          </a:prstGeom>
        </p:spPr>
      </p:pic>
      <p:sp>
        <p:nvSpPr>
          <p:cNvPr id="108" name="Text 366: LOCALISE">
            <a:extLst xmlns:a="http://schemas.openxmlformats.org/drawingml/2006/main">
              <a:ext uri="{FF2B5EF4-FFF2-40B4-BE49-F238E27FC236}">
                <a16:creationId xmlns:a16="http://schemas.microsoft.com/office/drawing/2014/main" id="{EF7B1BB1-142C-48AD-967B-41E2337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692467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LOCALISE</a:t>
            </a:r>
          </a:p>
        </p:txBody>
      </p:sp>
      <p:sp>
        <p:nvSpPr>
          <p:cNvPr id="109" name="Text 367: Native mobile app and regional languages">
            <a:extLst xmlns:a="http://schemas.openxmlformats.org/drawingml/2006/main">
              <a:ext uri="{FF2B5EF4-FFF2-40B4-BE49-F238E27FC236}">
                <a16:creationId xmlns:a16="http://schemas.microsoft.com/office/drawing/2014/main" id="{C379DBFC-1A10-4392-BE99-3F8F29B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286625"/>
            <a:ext cx="251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Native mobile app and</a:t>
            </a:r>
          </a:p>
          <a:p xmlns:a="http://schemas.openxmlformats.org/drawingml/2006/main">
            <a:pPr algn="l">
              <a:def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regional languages</a:t>
            </a:r>
          </a:p>
        </p:txBody>
      </p:sp>
      <p:sp>
        <p:nvSpPr>
          <p:cNvPr id="110" name="Panel 368">
            <a:extLst xmlns:a="http://schemas.openxmlformats.org/drawingml/2006/main">
              <a:ext uri="{FF2B5EF4-FFF2-40B4-BE49-F238E27FC236}">
                <a16:creationId xmlns:a16="http://schemas.microsoft.com/office/drawing/2014/main" id="{F58BB7BB-F5DC-41CB-A481-344A5B33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296275"/>
            <a:ext cx="155162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76a614635470c"/>
          <a:stretch xmlns:a="http://schemas.openxmlformats.org/drawingml/2006/main"/>
        </p:blipFill>
        <p:spPr>
          <a:xfrm xmlns:a="http://schemas.openxmlformats.org/drawingml/2006/main">
            <a:off x="438150" y="8353425"/>
            <a:ext cx="381000" cy="438150"/>
          </a:xfrm>
          <a:prstGeom xmlns:a="http://schemas.openxmlformats.org/drawingml/2006/main" prst="rect">
            <a:avLst/>
          </a:prstGeom>
        </p:spPr>
      </p:pic>
      <p:sp>
        <p:nvSpPr>
          <p:cNvPr id="112" name="Text 369: Privacy-first growth. Raw training video stays on the device.">
            <a:extLst xmlns:a="http://schemas.openxmlformats.org/drawingml/2006/main">
              <a:ext uri="{FF2B5EF4-FFF2-40B4-BE49-F238E27FC236}">
                <a16:creationId xmlns:a16="http://schemas.microsoft.com/office/drawing/2014/main" id="{0CC8F419-78B7-4940-9AC9-677B4F30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486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Privacy-first growth. Raw training video stays on the device.</a:t>
            </a:r>
          </a:p>
        </p:txBody>
      </p:sp>
      <p:sp>
        <p:nvSpPr>
          <p:cNvPr id="113" name="Divider 370">
            <a:extLst xmlns:a="http://schemas.openxmlformats.org/drawingml/2006/main">
              <a:ext uri="{FF2B5EF4-FFF2-40B4-BE49-F238E27FC236}">
                <a16:creationId xmlns:a16="http://schemas.microsoft.com/office/drawing/2014/main" id="{07CCBF7F-258E-472D-B5FB-A1A5552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40105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14" name="Text 371: ↗">
            <a:extLst xmlns:a="http://schemas.openxmlformats.org/drawingml/2006/main">
              <a:ext uri="{FF2B5EF4-FFF2-40B4-BE49-F238E27FC236}">
                <a16:creationId xmlns:a16="http://schemas.microsoft.com/office/drawing/2014/main" id="{D416633C-5FEC-4480-A36D-F762347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391525"/>
            <a:ext cx="409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7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115" name="Text 372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2BB2E9AE-71C5-4101-8BC7-32608253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448675"/>
            <a:ext cx="2419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20E7FA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5cd9f8ca93254574"/>
              </a:rPr>
              <a:t>athletixai.onrender.com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503777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5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785f853e94ee7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bc944a5974b85"/>
          <a:stretch xmlns:a="http://schemas.openxmlformats.org/drawingml/2006/main"/>
        </p:blipFill>
        <p:spPr>
          <a:xfrm xmlns:a="http://schemas.openxmlformats.org/drawingml/2006/main">
            <a:off x="0" y="2952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7108027949cf"/>
          <a:stretch xmlns:a="http://schemas.openxmlformats.org/drawingml/2006/main"/>
        </p:blipFill>
        <p:spPr>
          <a:xfrm xmlns:a="http://schemas.openxmlformats.org/drawingml/2006/main">
            <a:off x="0" y="5905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b3c4e1d9f4c12"/>
          <a:stretch xmlns:a="http://schemas.openxmlformats.org/drawingml/2006/main"/>
        </p:blipFill>
        <p:spPr>
          <a:xfrm xmlns:a="http://schemas.openxmlformats.org/drawingml/2006/main">
            <a:off x="0" y="8858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6bd16ef104430"/>
          <a:stretch xmlns:a="http://schemas.openxmlformats.org/drawingml/2006/main"/>
        </p:blipFill>
        <p:spPr>
          <a:xfrm xmlns:a="http://schemas.openxmlformats.org/drawingml/2006/main">
            <a:off x="0" y="11811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fab57b9bd4bba"/>
          <a:stretch xmlns:a="http://schemas.openxmlformats.org/drawingml/2006/main"/>
        </p:blipFill>
        <p:spPr>
          <a:xfrm xmlns:a="http://schemas.openxmlformats.org/drawingml/2006/main">
            <a:off x="0" y="14763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d85e7b48441dc"/>
          <a:stretch xmlns:a="http://schemas.openxmlformats.org/drawingml/2006/main"/>
        </p:blipFill>
        <p:spPr>
          <a:xfrm xmlns:a="http://schemas.openxmlformats.org/drawingml/2006/main">
            <a:off x="0" y="17716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3225cc7a249fa"/>
          <a:stretch xmlns:a="http://schemas.openxmlformats.org/drawingml/2006/main"/>
        </p:blipFill>
        <p:spPr>
          <a:xfrm xmlns:a="http://schemas.openxmlformats.org/drawingml/2006/main">
            <a:off x="0" y="20669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646649700410b"/>
          <a:stretch xmlns:a="http://schemas.openxmlformats.org/drawingml/2006/main"/>
        </p:blipFill>
        <p:spPr>
          <a:xfrm xmlns:a="http://schemas.openxmlformats.org/drawingml/2006/main">
            <a:off x="0" y="23622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d122e7be04014"/>
          <a:stretch xmlns:a="http://schemas.openxmlformats.org/drawingml/2006/main"/>
        </p:blipFill>
        <p:spPr>
          <a:xfrm xmlns:a="http://schemas.openxmlformats.org/drawingml/2006/main">
            <a:off x="0" y="26574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80a86e8054bcf"/>
          <a:stretch xmlns:a="http://schemas.openxmlformats.org/drawingml/2006/main"/>
        </p:blipFill>
        <p:spPr>
          <a:xfrm xmlns:a="http://schemas.openxmlformats.org/drawingml/2006/main">
            <a:off x="0" y="29527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a581ea83847ab"/>
          <a:stretch xmlns:a="http://schemas.openxmlformats.org/drawingml/2006/main"/>
        </p:blipFill>
        <p:spPr>
          <a:xfrm xmlns:a="http://schemas.openxmlformats.org/drawingml/2006/main">
            <a:off x="0" y="32480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cae325c354f2f"/>
          <a:stretch xmlns:a="http://schemas.openxmlformats.org/drawingml/2006/main"/>
        </p:blipFill>
        <p:spPr>
          <a:xfrm xmlns:a="http://schemas.openxmlformats.org/drawingml/2006/main">
            <a:off x="0" y="35433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291af2e2e432d"/>
          <a:stretch xmlns:a="http://schemas.openxmlformats.org/drawingml/2006/main"/>
        </p:blipFill>
        <p:spPr>
          <a:xfrm xmlns:a="http://schemas.openxmlformats.org/drawingml/2006/main">
            <a:off x="0" y="38385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91b0c1f84166"/>
          <a:stretch xmlns:a="http://schemas.openxmlformats.org/drawingml/2006/main"/>
        </p:blipFill>
        <p:spPr>
          <a:xfrm xmlns:a="http://schemas.openxmlformats.org/drawingml/2006/main">
            <a:off x="0" y="41338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92c13df674755"/>
          <a:stretch xmlns:a="http://schemas.openxmlformats.org/drawingml/2006/main"/>
        </p:blipFill>
        <p:spPr>
          <a:xfrm xmlns:a="http://schemas.openxmlformats.org/drawingml/2006/main">
            <a:off x="0" y="44291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252402394037"/>
          <a:stretch xmlns:a="http://schemas.openxmlformats.org/drawingml/2006/main"/>
        </p:blipFill>
        <p:spPr>
          <a:xfrm xmlns:a="http://schemas.openxmlformats.org/drawingml/2006/main">
            <a:off x="0" y="47244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68026780641d8"/>
          <a:stretch xmlns:a="http://schemas.openxmlformats.org/drawingml/2006/main"/>
        </p:blipFill>
        <p:spPr>
          <a:xfrm xmlns:a="http://schemas.openxmlformats.org/drawingml/2006/main">
            <a:off x="0" y="50196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d5b8bf6dc44cd"/>
          <a:stretch xmlns:a="http://schemas.openxmlformats.org/drawingml/2006/main"/>
        </p:blipFill>
        <p:spPr>
          <a:xfrm xmlns:a="http://schemas.openxmlformats.org/drawingml/2006/main">
            <a:off x="0" y="53149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b620919f94b24"/>
          <a:stretch xmlns:a="http://schemas.openxmlformats.org/drawingml/2006/main"/>
        </p:blipFill>
        <p:spPr>
          <a:xfrm xmlns:a="http://schemas.openxmlformats.org/drawingml/2006/main">
            <a:off x="0" y="56102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c8a3db4264472"/>
          <a:stretch xmlns:a="http://schemas.openxmlformats.org/drawingml/2006/main"/>
        </p:blipFill>
        <p:spPr>
          <a:xfrm xmlns:a="http://schemas.openxmlformats.org/drawingml/2006/main">
            <a:off x="0" y="59055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29ac082d34bf1"/>
          <a:stretch xmlns:a="http://schemas.openxmlformats.org/drawingml/2006/main"/>
        </p:blipFill>
        <p:spPr>
          <a:xfrm xmlns:a="http://schemas.openxmlformats.org/drawingml/2006/main">
            <a:off x="0" y="62007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d9da63ae44395"/>
          <a:stretch xmlns:a="http://schemas.openxmlformats.org/drawingml/2006/main"/>
        </p:blipFill>
        <p:spPr>
          <a:xfrm xmlns:a="http://schemas.openxmlformats.org/drawingml/2006/main">
            <a:off x="0" y="64960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d7ea4dc0f4bff"/>
          <a:stretch xmlns:a="http://schemas.openxmlformats.org/drawingml/2006/main"/>
        </p:blipFill>
        <p:spPr>
          <a:xfrm xmlns:a="http://schemas.openxmlformats.org/drawingml/2006/main">
            <a:off x="0" y="67913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580204947499b"/>
          <a:stretch xmlns:a="http://schemas.openxmlformats.org/drawingml/2006/main"/>
        </p:blipFill>
        <p:spPr>
          <a:xfrm xmlns:a="http://schemas.openxmlformats.org/drawingml/2006/main">
            <a:off x="0" y="70866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87a645d754fab"/>
          <a:stretch xmlns:a="http://schemas.openxmlformats.org/drawingml/2006/main"/>
        </p:blipFill>
        <p:spPr>
          <a:xfrm xmlns:a="http://schemas.openxmlformats.org/drawingml/2006/main">
            <a:off x="0" y="73818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b45e4740c41c8"/>
          <a:stretch xmlns:a="http://schemas.openxmlformats.org/drawingml/2006/main"/>
        </p:blipFill>
        <p:spPr>
          <a:xfrm xmlns:a="http://schemas.openxmlformats.org/drawingml/2006/main">
            <a:off x="0" y="767715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b1d0ae913456b"/>
          <a:stretch xmlns:a="http://schemas.openxmlformats.org/drawingml/2006/main"/>
        </p:blipFill>
        <p:spPr>
          <a:xfrm xmlns:a="http://schemas.openxmlformats.org/drawingml/2006/main">
            <a:off x="0" y="797242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ef4669670490f"/>
          <a:stretch xmlns:a="http://schemas.openxmlformats.org/drawingml/2006/main"/>
        </p:blipFill>
        <p:spPr>
          <a:xfrm xmlns:a="http://schemas.openxmlformats.org/drawingml/2006/main">
            <a:off x="0" y="8267700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f25ebd11e4b21"/>
          <a:stretch xmlns:a="http://schemas.openxmlformats.org/drawingml/2006/main"/>
        </p:blipFill>
        <p:spPr>
          <a:xfrm xmlns:a="http://schemas.openxmlformats.org/drawingml/2006/main">
            <a:off x="0" y="8562975"/>
            <a:ext cx="15925800" cy="295275"/>
          </a:xfrm>
          <a:prstGeom xmlns:a="http://schemas.openxmlformats.org/drawingml/2006/main" prst="rect">
            <a:avLst/>
          </a:prstGeom>
        </p:spPr>
      </p:pic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d3f2bd8274db3"/>
          <a:stretch xmlns:a="http://schemas.openxmlformats.org/drawingml/2006/main"/>
        </p:blipFill>
        <p:spPr>
          <a:xfrm xmlns:a="http://schemas.openxmlformats.org/drawingml/2006/main">
            <a:off x="5137355" y="8858250"/>
            <a:ext cx="5651090" cy="104775"/>
          </a:xfrm>
          <a:prstGeom xmlns:a="http://schemas.openxmlformats.org/drawingml/2006/main" prst="rect">
            <a:avLst/>
          </a:prstGeom>
        </p:spPr>
      </p:pic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88b94e964ef5"/>
          <a:stretch xmlns:a="http://schemas.openxmlformats.org/drawingml/2006/main"/>
        </p:blipFill>
        <p:spPr>
          <a:xfrm xmlns:a="http://schemas.openxmlformats.org/drawingml/2006/main">
            <a:off x="381000" y="247650"/>
            <a:ext cx="581025" cy="619125"/>
          </a:xfrm>
          <a:prstGeom xmlns:a="http://schemas.openxmlformats.org/drawingml/2006/main" prst="rect">
            <a:avLst/>
          </a:prstGeom>
        </p:spPr>
      </p:pic>
      <p:sp>
        <p:nvSpPr>
          <p:cNvPr id="33" name="Text 373: AthletixAI">
            <a:extLst xmlns:a="http://schemas.openxmlformats.org/drawingml/2006/main">
              <a:ext uri="{FF2B5EF4-FFF2-40B4-BE49-F238E27FC236}">
                <a16:creationId xmlns:a16="http://schemas.microsoft.com/office/drawing/2014/main" id="{334AEAA9-F31E-41CB-B8B4-CAFB646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"/>
            <a:ext cx="2305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8FAFF"/>
                </a:solidFill>
                <a:latin typeface="Arial"/>
                <a:ea typeface="Arial"/>
                <a:cs typeface="Arial"/>
              </a:rPr>
              <a:t>Athletix</a:t>
            </a:r>
            <a:r>
              <a:rPr sz="3075" b="1">
                <a:solidFill>
                  <a:srgbClr val="20E7F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 374: A I  S P O R T S  T A L E N T  P L A T F O R M">
            <a:extLst xmlns:a="http://schemas.openxmlformats.org/drawingml/2006/main">
              <a:ext uri="{FF2B5EF4-FFF2-40B4-BE49-F238E27FC236}">
                <a16:creationId xmlns:a16="http://schemas.microsoft.com/office/drawing/2014/main" id="{87FF79D8-C6C0-4A45-9C3D-75E07B3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62000"/>
            <a:ext cx="2762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A I  S P O R T S  T A L E N T  P L A T F O R M</a:t>
            </a:r>
          </a:p>
        </p:txBody>
      </p:sp>
      <p:sp>
        <p:nvSpPr>
          <p:cNvPr id="35" name="Text 375: RESEARCH &amp; REFERENCES">
            <a:extLst xmlns:a="http://schemas.openxmlformats.org/drawingml/2006/main">
              <a:ext uri="{FF2B5EF4-FFF2-40B4-BE49-F238E27FC236}">
                <a16:creationId xmlns:a16="http://schemas.microsoft.com/office/drawing/2014/main" id="{7A0072C4-7ED4-435F-92A3-7B19D2D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3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RESEARCH &amp; REFERENCES</a:t>
            </a:r>
          </a:p>
        </p:txBody>
      </p:sp>
      <p:sp>
        <p:nvSpPr>
          <p:cNvPr id="36" name="Text 376: Technical foundations and project evidence">
            <a:extLst xmlns:a="http://schemas.openxmlformats.org/drawingml/2006/main">
              <a:ext uri="{FF2B5EF4-FFF2-40B4-BE49-F238E27FC236}">
                <a16:creationId xmlns:a16="http://schemas.microsoft.com/office/drawing/2014/main" id="{D373B717-E11F-4EA0-B0CF-59920A2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8382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Technical foundations and project evidence</a:t>
            </a:r>
          </a:p>
        </p:txBody>
      </p:sp>
      <p:sp>
        <p:nvSpPr>
          <p:cNvPr id="37" name="Text 377: D A T A S P O R T S T A L E N T T O M O R R O W">
            <a:extLst xmlns:a="http://schemas.openxmlformats.org/drawingml/2006/main">
              <a:ext uri="{FF2B5EF4-FFF2-40B4-BE49-F238E27FC236}">
                <a16:creationId xmlns:a16="http://schemas.microsoft.com/office/drawing/2014/main" id="{0683694D-2500-4953-8C8B-F4388B92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00050"/>
            <a:ext cx="1085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D A T A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S P O R T S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 A L E N T</a:t>
            </a:r>
          </a:p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T O M O R R O W</a:t>
            </a:r>
          </a:p>
        </p:txBody>
      </p:sp>
      <p:sp>
        <p:nvSpPr>
          <p:cNvPr id="38" name="Divider 378">
            <a:extLst xmlns:a="http://schemas.openxmlformats.org/drawingml/2006/main">
              <a:ext uri="{FF2B5EF4-FFF2-40B4-BE49-F238E27FC236}">
                <a16:creationId xmlns:a16="http://schemas.microsoft.com/office/drawing/2014/main" id="{58922A77-F946-4171-95F4-DBD7BF6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238125"/>
            <a:ext cx="3524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39" name="Panel 379">
            <a:extLst xmlns:a="http://schemas.openxmlformats.org/drawingml/2006/main">
              <a:ext uri="{FF2B5EF4-FFF2-40B4-BE49-F238E27FC236}">
                <a16:creationId xmlns:a16="http://schemas.microsoft.com/office/drawing/2014/main" id="{D2F85636-898D-4B31-9195-F4E8DD56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66850"/>
            <a:ext cx="3333750" cy="2352675"/>
          </a:xfrm>
          <a:prstGeom xmlns:a="http://schemas.openxmlformats.org/drawingml/2006/main" prst="roundRect">
            <a:avLst>
              <a:gd name="adj" fmla="val 647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0" name="Panel 380">
            <a:extLst xmlns:a="http://schemas.openxmlformats.org/drawingml/2006/main">
              <a:ext uri="{FF2B5EF4-FFF2-40B4-BE49-F238E27FC236}">
                <a16:creationId xmlns:a16="http://schemas.microsoft.com/office/drawing/2014/main" id="{CF62ECD0-AE6F-4628-8E73-B390827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91000"/>
            <a:ext cx="3333750" cy="2343150"/>
          </a:xfrm>
          <a:prstGeom xmlns:a="http://schemas.openxmlformats.org/drawingml/2006/main" prst="roundRect">
            <a:avLst>
              <a:gd name="adj" fmla="val 6504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1" name="Panel 381">
            <a:extLst xmlns:a="http://schemas.openxmlformats.org/drawingml/2006/main">
              <a:ext uri="{FF2B5EF4-FFF2-40B4-BE49-F238E27FC236}">
                <a16:creationId xmlns:a16="http://schemas.microsoft.com/office/drawing/2014/main" id="{281BC497-380F-4C39-910E-0EE0B68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466850"/>
            <a:ext cx="3343275" cy="2352675"/>
          </a:xfrm>
          <a:prstGeom xmlns:a="http://schemas.openxmlformats.org/drawingml/2006/main" prst="roundRect">
            <a:avLst>
              <a:gd name="adj" fmla="val 6478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42" name="Panel 382">
            <a:extLst xmlns:a="http://schemas.openxmlformats.org/drawingml/2006/main">
              <a:ext uri="{FF2B5EF4-FFF2-40B4-BE49-F238E27FC236}">
                <a16:creationId xmlns:a16="http://schemas.microsoft.com/office/drawing/2014/main" id="{AF84ADC7-2672-4841-88CD-F5254375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191000"/>
            <a:ext cx="3343275" cy="2362200"/>
          </a:xfrm>
          <a:prstGeom xmlns:a="http://schemas.openxmlformats.org/drawingml/2006/main" prst="roundRect">
            <a:avLst>
              <a:gd name="adj" fmla="val 6452"/>
            </a:avLst>
          </a:prstGeom>
          <a:gradFill xmlns:a="http://schemas.openxmlformats.org/drawingml/2006/main">
            <a:gsLst>
              <a:gs pos="0">
                <a:srgbClr val="002338"/>
              </a:gs>
              <a:gs pos="100000">
                <a:srgbClr val="00192D"/>
              </a:gs>
            </a:gsLst>
            <a:lin ang="5400000"/>
          </a:gradFill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d2dbbe3c94516"/>
          <a:stretch xmlns:a="http://schemas.openxmlformats.org/drawingml/2006/main"/>
        </p:blipFill>
        <p:spPr>
          <a:xfrm xmlns:a="http://schemas.openxmlformats.org/drawingml/2006/main">
            <a:off x="600075" y="1704975"/>
            <a:ext cx="533400" cy="571500"/>
          </a:xfrm>
          <a:prstGeom xmlns:a="http://schemas.openxmlformats.org/drawingml/2006/main" prst="rect">
            <a:avLst/>
          </a:prstGeom>
        </p:spPr>
      </p:pic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8c86b82294bef"/>
          <a:stretch xmlns:a="http://schemas.openxmlformats.org/drawingml/2006/main"/>
        </p:blipFill>
        <p:spPr>
          <a:xfrm xmlns:a="http://schemas.openxmlformats.org/drawingml/2006/main">
            <a:off x="1304925" y="1809750"/>
            <a:ext cx="295275" cy="409575"/>
          </a:xfrm>
          <a:prstGeom xmlns:a="http://schemas.openxmlformats.org/drawingml/2006/main" prst="rect">
            <a:avLst/>
          </a:prstGeom>
        </p:spPr>
      </p:pic>
      <p:sp>
        <p:nvSpPr>
          <p:cNvPr id="45" name="Text 383: MediaPipe">
            <a:extLst xmlns:a="http://schemas.openxmlformats.org/drawingml/2006/main">
              <a:ext uri="{FF2B5EF4-FFF2-40B4-BE49-F238E27FC236}">
                <a16:creationId xmlns:a16="http://schemas.microsoft.com/office/drawing/2014/main" id="{1652FA74-69AE-4398-AF44-B1EE792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95475"/>
            <a:ext cx="1076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</a:t>
            </a:r>
          </a:p>
        </p:txBody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9e29de2e24424"/>
          <a:stretch xmlns:a="http://schemas.openxmlformats.org/drawingml/2006/main"/>
        </p:blipFill>
        <p:spPr>
          <a:xfrm xmlns:a="http://schemas.openxmlformats.org/drawingml/2006/main">
            <a:off x="2790825" y="1685925"/>
            <a:ext cx="685800" cy="590550"/>
          </a:xfrm>
          <a:prstGeom xmlns:a="http://schemas.openxmlformats.org/drawingml/2006/main" prst="rect">
            <a:avLst/>
          </a:prstGeom>
        </p:spPr>
      </p:pic>
      <p:sp>
        <p:nvSpPr>
          <p:cNvPr id="47" name="Text 384: 01">
            <a:extLst xmlns:a="http://schemas.openxmlformats.org/drawingml/2006/main">
              <a:ext uri="{FF2B5EF4-FFF2-40B4-BE49-F238E27FC236}">
                <a16:creationId xmlns:a16="http://schemas.microsoft.com/office/drawing/2014/main" id="{F8BE297F-9FF2-4DA7-AABD-C955A17A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419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48" name="Text 385: MediaPipe Pose">
            <a:extLst xmlns:a="http://schemas.openxmlformats.org/drawingml/2006/main">
              <a:ext uri="{FF2B5EF4-FFF2-40B4-BE49-F238E27FC236}">
                <a16:creationId xmlns:a16="http://schemas.microsoft.com/office/drawing/2014/main" id="{AEA8B7B3-0EB9-4398-9A5F-71B68D8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MediaPipe Pose</a:t>
            </a:r>
          </a:p>
        </p:txBody>
      </p:sp>
      <p:sp>
        <p:nvSpPr>
          <p:cNvPr id="49" name="Text 386: 33 body landmarks for browser video analysis">
            <a:extLst xmlns:a="http://schemas.openxmlformats.org/drawingml/2006/main">
              <a:ext uri="{FF2B5EF4-FFF2-40B4-BE49-F238E27FC236}">
                <a16:creationId xmlns:a16="http://schemas.microsoft.com/office/drawing/2014/main" id="{7E532CEE-F381-4DD8-93D5-65AEAC8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8670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33 body landmarks for browser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video analysis</a:t>
            </a:r>
          </a:p>
        </p:txBody>
      </p:sp>
      <p:sp>
        <p:nvSpPr>
          <p:cNvPr id="50" name="Text 387: ai.google.dev/edge/mediapipe">
            <a:extLst xmlns:a="http://schemas.openxmlformats.org/drawingml/2006/main">
              <a:ext uri="{FF2B5EF4-FFF2-40B4-BE49-F238E27FC236}">
                <a16:creationId xmlns:a16="http://schemas.microsoft.com/office/drawing/2014/main" id="{8797D9A7-A09E-45BC-9719-EB5BFE04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637bdb3351a3425d"/>
              </a:rPr>
              <a:t>ai.google.dev/edge/mediapipe</a:t>
            </a:r>
          </a:p>
        </p:txBody>
      </p:sp>
      <p:sp>
        <p:nvSpPr>
          <p:cNvPr id="51" name="Text 388: ↗">
            <a:extLst xmlns:a="http://schemas.openxmlformats.org/drawingml/2006/main">
              <a:ext uri="{FF2B5EF4-FFF2-40B4-BE49-F238E27FC236}">
                <a16:creationId xmlns:a16="http://schemas.microsoft.com/office/drawing/2014/main" id="{319271B3-1B33-41D4-A45F-C1EBBDA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813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52" name="Text 389: arXiv">
            <a:extLst xmlns:a="http://schemas.openxmlformats.org/drawingml/2006/main">
              <a:ext uri="{FF2B5EF4-FFF2-40B4-BE49-F238E27FC236}">
                <a16:creationId xmlns:a16="http://schemas.microsoft.com/office/drawing/2014/main" id="{7C11FCC1-4509-4F4B-8C15-2B938048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24375"/>
            <a:ext cx="19716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0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4875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ar</a:t>
            </a:r>
            <a:r>
              <a:rPr sz="4875" b="0">
                <a:solidFill>
                  <a:srgbClr val="DE343D"/>
                </a:solidFill>
                <a:latin typeface="Arial"/>
                <a:ea typeface="Arial"/>
                <a:cs typeface="Arial"/>
              </a:rPr>
              <a:t>X</a:t>
            </a:r>
            <a:r>
              <a:rPr sz="4875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340d880b3432d"/>
          <a:stretch xmlns:a="http://schemas.openxmlformats.org/drawingml/2006/main"/>
        </p:blipFill>
        <p:spPr>
          <a:xfrm xmlns:a="http://schemas.openxmlformats.org/drawingml/2006/main">
            <a:off x="2800350" y="4419600"/>
            <a:ext cx="504825" cy="685800"/>
          </a:xfrm>
          <a:prstGeom xmlns:a="http://schemas.openxmlformats.org/drawingml/2006/main" prst="rect">
            <a:avLst/>
          </a:prstGeom>
        </p:spPr>
      </p:pic>
      <p:sp>
        <p:nvSpPr>
          <p:cNvPr id="54" name="Text 390: 02">
            <a:extLst xmlns:a="http://schemas.openxmlformats.org/drawingml/2006/main">
              <a:ext uri="{FF2B5EF4-FFF2-40B4-BE49-F238E27FC236}">
                <a16:creationId xmlns:a16="http://schemas.microsoft.com/office/drawing/2014/main" id="{2BE28F28-CAE6-4F2E-B4A0-884BA1F1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05425"/>
            <a:ext cx="428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55" name="Text 391: BlazePose Research">
            <a:extLst xmlns:a="http://schemas.openxmlformats.org/drawingml/2006/main">
              <a:ext uri="{FF2B5EF4-FFF2-40B4-BE49-F238E27FC236}">
                <a16:creationId xmlns:a16="http://schemas.microsoft.com/office/drawing/2014/main" id="{52E28D6E-57AD-4B58-BAAA-A86870DB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BlazePose Research</a:t>
            </a:r>
          </a:p>
        </p:txBody>
      </p:sp>
      <p:sp>
        <p:nvSpPr>
          <p:cNvPr id="56" name="Text 392: On-device, real-time body pose tracking">
            <a:extLst xmlns:a="http://schemas.openxmlformats.org/drawingml/2006/main">
              <a:ext uri="{FF2B5EF4-FFF2-40B4-BE49-F238E27FC236}">
                <a16:creationId xmlns:a16="http://schemas.microsoft.com/office/drawing/2014/main" id="{89C0467F-5108-46F1-870A-D14BA14E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On-device, real-time body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pose tracking</a:t>
            </a:r>
          </a:p>
        </p:txBody>
      </p:sp>
      <p:sp>
        <p:nvSpPr>
          <p:cNvPr id="57" name="Text 393: arxiv.org/abs/2006.10204">
            <a:extLst xmlns:a="http://schemas.openxmlformats.org/drawingml/2006/main">
              <a:ext uri="{FF2B5EF4-FFF2-40B4-BE49-F238E27FC236}">
                <a16:creationId xmlns:a16="http://schemas.microsoft.com/office/drawing/2014/main" id="{58861A29-F7FE-4841-AE78-CED067D0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cf3a9349c0e64947"/>
              </a:rPr>
              <a:t>arxiv.org/abs/2006.10204</a:t>
            </a:r>
          </a:p>
        </p:txBody>
      </p:sp>
      <p:sp>
        <p:nvSpPr>
          <p:cNvPr id="58" name="Text 394: ↗">
            <a:extLst xmlns:a="http://schemas.openxmlformats.org/drawingml/2006/main">
              <a:ext uri="{FF2B5EF4-FFF2-40B4-BE49-F238E27FC236}">
                <a16:creationId xmlns:a16="http://schemas.microsoft.com/office/drawing/2014/main" id="{9DCAAADA-7BC0-4548-9681-8D01BADA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172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59" name="Text 395: NIST">
            <a:extLst xmlns:a="http://schemas.openxmlformats.org/drawingml/2006/main">
              <a:ext uri="{FF2B5EF4-FFF2-40B4-BE49-F238E27FC236}">
                <a16:creationId xmlns:a16="http://schemas.microsoft.com/office/drawing/2014/main" id="{B524D84C-19DF-42C2-A9A6-CD27D26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17145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F8FAFF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F8FAFF"/>
                </a:solidFill>
                <a:latin typeface="Arial"/>
                <a:ea typeface="Arial"/>
                <a:cs typeface="Arial"/>
              </a:rPr>
              <a:t>NIST</a:t>
            </a:r>
          </a:p>
        </p:txBody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e4e568fa94dc0"/>
          <a:stretch xmlns:a="http://schemas.openxmlformats.org/drawingml/2006/main"/>
        </p:blipFill>
        <p:spPr>
          <a:xfrm xmlns:a="http://schemas.openxmlformats.org/drawingml/2006/main">
            <a:off x="14573250" y="1685925"/>
            <a:ext cx="619125" cy="714375"/>
          </a:xfrm>
          <a:prstGeom xmlns:a="http://schemas.openxmlformats.org/drawingml/2006/main" prst="rect">
            <a:avLst/>
          </a:prstGeom>
        </p:spPr>
      </p:pic>
      <p:sp>
        <p:nvSpPr>
          <p:cNvPr id="61" name="Text 396: 03">
            <a:extLst xmlns:a="http://schemas.openxmlformats.org/drawingml/2006/main">
              <a:ext uri="{FF2B5EF4-FFF2-40B4-BE49-F238E27FC236}">
                <a16:creationId xmlns:a16="http://schemas.microsoft.com/office/drawing/2014/main" id="{24D3A716-37DD-4540-A8D1-1E286BFD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4669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62" name="Text 397: Responsible AI">
            <a:extLst xmlns:a="http://schemas.openxmlformats.org/drawingml/2006/main">
              <a:ext uri="{FF2B5EF4-FFF2-40B4-BE49-F238E27FC236}">
                <a16:creationId xmlns:a16="http://schemas.microsoft.com/office/drawing/2014/main" id="{0719FA40-4DE5-472B-B533-2AC126B4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2476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Responsible AI</a:t>
            </a:r>
          </a:p>
        </p:txBody>
      </p:sp>
      <p:sp>
        <p:nvSpPr>
          <p:cNvPr id="63" name="Text 398: NIST AI RMF: a reference for AI risk and transparency">
            <a:extLst xmlns:a="http://schemas.openxmlformats.org/drawingml/2006/main">
              <a:ext uri="{FF2B5EF4-FFF2-40B4-BE49-F238E27FC236}">
                <a16:creationId xmlns:a16="http://schemas.microsoft.com/office/drawing/2014/main" id="{A26E301E-9AF3-4360-A288-4C6B10F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2838450"/>
            <a:ext cx="2924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NIST AI RMF: a reference for AI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risk and transparency</a:t>
            </a:r>
          </a:p>
        </p:txBody>
      </p:sp>
      <p:sp>
        <p:nvSpPr>
          <p:cNvPr id="64" name="Text 399: nist.gov/itl/ai-risk-management-framework">
            <a:extLst xmlns:a="http://schemas.openxmlformats.org/drawingml/2006/main">
              <a:ext uri="{FF2B5EF4-FFF2-40B4-BE49-F238E27FC236}">
                <a16:creationId xmlns:a16="http://schemas.microsoft.com/office/drawing/2014/main" id="{0024D6EE-322D-4A8D-A09E-2C7E248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3400425"/>
            <a:ext cx="2686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11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51c7e844e2ca42cc"/>
              </a:rPr>
              <a:t>nist.gov/itl/ai-risk-management-framework</a:t>
            </a:r>
          </a:p>
        </p:txBody>
      </p:sp>
      <p:sp>
        <p:nvSpPr>
          <p:cNvPr id="65" name="Text 400: ↗">
            <a:extLst xmlns:a="http://schemas.openxmlformats.org/drawingml/2006/main">
              <a:ext uri="{FF2B5EF4-FFF2-40B4-BE49-F238E27FC236}">
                <a16:creationId xmlns:a16="http://schemas.microsoft.com/office/drawing/2014/main" id="{C3A6EB56-3CD2-4364-99E8-F4B31FD2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3371850"/>
            <a:ext cx="257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b0b8439a443e1"/>
          <a:stretch xmlns:a="http://schemas.openxmlformats.org/drawingml/2006/main"/>
        </p:blipFill>
        <p:spPr>
          <a:xfrm xmlns:a="http://schemas.openxmlformats.org/drawingml/2006/main">
            <a:off x="12582525" y="4371975"/>
            <a:ext cx="838200" cy="819150"/>
          </a:xfrm>
          <a:prstGeom xmlns:a="http://schemas.openxmlformats.org/drawingml/2006/main" prst="rect">
            <a:avLst/>
          </a:prstGeom>
        </p:spPr>
      </p:pic>
      <p:sp>
        <p:nvSpPr>
          <p:cNvPr id="67" name="Text 401: KHELO INDIA">
            <a:extLst xmlns:a="http://schemas.openxmlformats.org/drawingml/2006/main">
              <a:ext uri="{FF2B5EF4-FFF2-40B4-BE49-F238E27FC236}">
                <a16:creationId xmlns:a16="http://schemas.microsoft.com/office/drawing/2014/main" id="{0FDEEA83-ADAE-4D47-BB64-79EA9ED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33900"/>
            <a:ext cx="1000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KHELO</a:t>
            </a:r>
          </a:p>
          <a:p xmlns:a="http://schemas.openxmlformats.org/drawingml/2006/main">
            <a:pPr algn="l">
              <a:def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INDIA</a:t>
            </a:r>
          </a:p>
        </p:txBody>
      </p:sp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1e937e08f42a9"/>
          <a:stretch xmlns:a="http://schemas.openxmlformats.org/drawingml/2006/main"/>
        </p:blipFill>
        <p:spPr>
          <a:xfrm xmlns:a="http://schemas.openxmlformats.org/drawingml/2006/main">
            <a:off x="14478000" y="4410075"/>
            <a:ext cx="409575" cy="685800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eb17b2b044c98"/>
          <a:stretch xmlns:a="http://schemas.openxmlformats.org/drawingml/2006/main"/>
        </p:blipFill>
        <p:spPr>
          <a:xfrm xmlns:a="http://schemas.openxmlformats.org/drawingml/2006/main">
            <a:off x="14944725" y="4448175"/>
            <a:ext cx="476250" cy="647700"/>
          </a:xfrm>
          <a:prstGeom xmlns:a="http://schemas.openxmlformats.org/drawingml/2006/main" prst="rect">
            <a:avLst/>
          </a:prstGeom>
        </p:spPr>
      </p:pic>
      <p:sp>
        <p:nvSpPr>
          <p:cNvPr id="70" name="Text 402: 04">
            <a:extLst xmlns:a="http://schemas.openxmlformats.org/drawingml/2006/main">
              <a:ext uri="{FF2B5EF4-FFF2-40B4-BE49-F238E27FC236}">
                <a16:creationId xmlns:a16="http://schemas.microsoft.com/office/drawing/2014/main" id="{A14CFE32-FFF5-49CB-A931-D1F280EE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314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71" name="Text 403: Talent Development">
            <a:extLst xmlns:a="http://schemas.openxmlformats.org/drawingml/2006/main">
              <a:ext uri="{FF2B5EF4-FFF2-40B4-BE49-F238E27FC236}">
                <a16:creationId xmlns:a16="http://schemas.microsoft.com/office/drawing/2014/main" id="{51B94292-5F62-487B-B327-148342B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324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Talent Development</a:t>
            </a:r>
          </a:p>
        </p:txBody>
      </p:sp>
      <p:sp>
        <p:nvSpPr>
          <p:cNvPr id="72" name="Text 404: Khelo India: context for talent identification">
            <a:extLst xmlns:a="http://schemas.openxmlformats.org/drawingml/2006/main">
              <a:ext uri="{FF2B5EF4-FFF2-40B4-BE49-F238E27FC236}">
                <a16:creationId xmlns:a16="http://schemas.microsoft.com/office/drawing/2014/main" id="{00D56D3C-1035-4584-8CBC-6AFFD47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6959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Khelo India: context for talent</a:t>
            </a:r>
          </a:p>
          <a:p xmlns:a="http://schemas.openxmlformats.org/drawingml/2006/main">
            <a:pPr algn="l">
              <a:def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identification</a:t>
            </a:r>
          </a:p>
        </p:txBody>
      </p:sp>
      <p:sp>
        <p:nvSpPr>
          <p:cNvPr id="73" name="Text 405: kheloindia.gov.in">
            <a:extLst xmlns:a="http://schemas.openxmlformats.org/drawingml/2006/main">
              <a:ext uri="{FF2B5EF4-FFF2-40B4-BE49-F238E27FC236}">
                <a16:creationId xmlns:a16="http://schemas.microsoft.com/office/drawing/2014/main" id="{5D31FB2A-10E3-4C8B-B138-7558150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32546b43db4145cb"/>
              </a:rPr>
              <a:t>kheloindia.gov.in</a:t>
            </a:r>
          </a:p>
        </p:txBody>
      </p:sp>
      <p:sp>
        <p:nvSpPr>
          <p:cNvPr id="74" name="Text 406: ↗">
            <a:extLst xmlns:a="http://schemas.openxmlformats.org/drawingml/2006/main">
              <a:ext uri="{FF2B5EF4-FFF2-40B4-BE49-F238E27FC236}">
                <a16:creationId xmlns:a16="http://schemas.microsoft.com/office/drawing/2014/main" id="{E27AF3CD-ED11-464B-97D1-543562E7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6200775"/>
            <a:ext cx="295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sp>
        <p:nvSpPr>
          <p:cNvPr id="75" name="Panel 407">
            <a:extLst xmlns:a="http://schemas.openxmlformats.org/drawingml/2006/main">
              <a:ext uri="{FF2B5EF4-FFF2-40B4-BE49-F238E27FC236}">
                <a16:creationId xmlns:a16="http://schemas.microsoft.com/office/drawing/2014/main" id="{BE496BA9-C8CD-4219-BF1C-E2B86C9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95425"/>
            <a:ext cx="7667625" cy="500062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6193">
            <a:solidFill>
              <a:srgbClr val="20E7FA"/>
            </a:solidFill>
            <a:prstDash val="solid"/>
          </a:ln>
        </p:spPr>
      </p:sp>
      <p:sp>
        <p:nvSpPr>
          <p:cNvPr id="76" name="Panel 408">
            <a:extLst xmlns:a="http://schemas.openxmlformats.org/drawingml/2006/main">
              <a:ext uri="{FF2B5EF4-FFF2-40B4-BE49-F238E27FC236}">
                <a16:creationId xmlns:a16="http://schemas.microsoft.com/office/drawing/2014/main" id="{A5D28030-3DB5-46FD-9355-C6F59A1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04950"/>
            <a:ext cx="7648575" cy="3143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8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ircle 409">
            <a:extLst xmlns:a="http://schemas.openxmlformats.org/drawingml/2006/main">
              <a:ext uri="{FF2B5EF4-FFF2-40B4-BE49-F238E27FC236}">
                <a16:creationId xmlns:a16="http://schemas.microsoft.com/office/drawing/2014/main" id="{807531ED-C531-4C80-91DC-4C42EC10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386"/>
          </a:solidFill>
          <a:ln xmlns:a="http://schemas.openxmlformats.org/drawingml/2006/main" w="0">
            <a:noFill/>
          </a:ln>
        </p:spPr>
      </p:sp>
      <p:sp>
        <p:nvSpPr>
          <p:cNvPr id="78" name="Circle 410">
            <a:extLst xmlns:a="http://schemas.openxmlformats.org/drawingml/2006/main">
              <a:ext uri="{FF2B5EF4-FFF2-40B4-BE49-F238E27FC236}">
                <a16:creationId xmlns:a16="http://schemas.microsoft.com/office/drawing/2014/main" id="{A2EF4584-121E-48EA-B17E-528C264C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044"/>
          </a:solidFill>
          <a:ln xmlns:a="http://schemas.openxmlformats.org/drawingml/2006/main" w="0">
            <a:noFill/>
          </a:ln>
        </p:spPr>
      </p:sp>
      <p:sp>
        <p:nvSpPr>
          <p:cNvPr id="79" name="Circle 411">
            <a:extLst xmlns:a="http://schemas.openxmlformats.org/drawingml/2006/main">
              <a:ext uri="{FF2B5EF4-FFF2-40B4-BE49-F238E27FC236}">
                <a16:creationId xmlns:a16="http://schemas.microsoft.com/office/drawing/2014/main" id="{4C792DD1-22F7-44BD-83A7-07F0070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09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E364"/>
          </a:solidFill>
          <a:ln xmlns:a="http://schemas.openxmlformats.org/drawingml/2006/main" w="0">
            <a:noFill/>
          </a:ln>
        </p:spPr>
      </p:sp>
      <p:sp>
        <p:nvSpPr>
          <p:cNvPr id="80" name="Panel 412">
            <a:extLst xmlns:a="http://schemas.openxmlformats.org/drawingml/2006/main">
              <a:ext uri="{FF2B5EF4-FFF2-40B4-BE49-F238E27FC236}">
                <a16:creationId xmlns:a16="http://schemas.microsoft.com/office/drawing/2014/main" id="{7FDF20AF-A78C-4673-B62D-36728CB8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19275"/>
            <a:ext cx="1209675" cy="463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nel 413">
            <a:extLst xmlns:a="http://schemas.openxmlformats.org/drawingml/2006/main">
              <a:ext uri="{FF2B5EF4-FFF2-40B4-BE49-F238E27FC236}">
                <a16:creationId xmlns:a16="http://schemas.microsoft.com/office/drawing/2014/main" id="{EBDD4BE2-BB1D-443A-9FAE-EEC0A8C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19275"/>
            <a:ext cx="62198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13518d2b44ee0"/>
          <a:stretch xmlns:a="http://schemas.openxmlformats.org/drawingml/2006/main"/>
        </p:blipFill>
        <p:spPr>
          <a:xfrm xmlns:a="http://schemas.openxmlformats.org/drawingml/2006/main">
            <a:off x="4362450" y="2013054"/>
            <a:ext cx="190500" cy="202992"/>
          </a:xfrm>
          <a:prstGeom xmlns:a="http://schemas.openxmlformats.org/drawingml/2006/main" prst="rect">
            <a:avLst/>
          </a:prstGeom>
        </p:spPr>
      </p:pic>
      <p:sp>
        <p:nvSpPr>
          <p:cNvPr id="83" name="Text 414: AthletixAI">
            <a:extLst xmlns:a="http://schemas.openxmlformats.org/drawingml/2006/main">
              <a:ext uri="{FF2B5EF4-FFF2-40B4-BE49-F238E27FC236}">
                <a16:creationId xmlns:a16="http://schemas.microsoft.com/office/drawing/2014/main" id="{CD5ABFBB-8260-43E2-8CFE-8564826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828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AthletixAI</a:t>
            </a:r>
          </a:p>
        </p:txBody>
      </p:sp>
      <p:sp>
        <p:nvSpPr>
          <p:cNvPr id="84" name="Text 415: AI SPORTS TALENT PLATFORM">
            <a:extLst xmlns:a="http://schemas.openxmlformats.org/drawingml/2006/main">
              <a:ext uri="{FF2B5EF4-FFF2-40B4-BE49-F238E27FC236}">
                <a16:creationId xmlns:a16="http://schemas.microsoft.com/office/drawing/2014/main" id="{87CC6FF9-AB5C-4546-9719-BFF8CC27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8667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36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AI SPORTS TALENT PLATFORM</a:t>
            </a:r>
          </a:p>
        </p:txBody>
      </p:sp>
      <p:sp>
        <p:nvSpPr>
          <p:cNvPr id="85" name="Text 416: AI Architecture">
            <a:extLst xmlns:a="http://schemas.openxmlformats.org/drawingml/2006/main">
              <a:ext uri="{FF2B5EF4-FFF2-40B4-BE49-F238E27FC236}">
                <a16:creationId xmlns:a16="http://schemas.microsoft.com/office/drawing/2014/main" id="{13691998-B21D-482F-A380-B1DCEE5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145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3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Architecture</a:t>
            </a:r>
          </a:p>
        </p:txBody>
      </p:sp>
      <p:sp>
        <p:nvSpPr>
          <p:cNvPr id="86" name="Text 417: How the AI works">
            <a:extLst xmlns:a="http://schemas.openxmlformats.org/drawingml/2006/main">
              <a:ext uri="{FF2B5EF4-FFF2-40B4-BE49-F238E27FC236}">
                <a16:creationId xmlns:a16="http://schemas.microsoft.com/office/drawing/2014/main" id="{24E6A811-9B3C-41AA-BB00-6E85E9F6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240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How the AI works</a:t>
            </a:r>
          </a:p>
        </p:txBody>
      </p:sp>
      <p:sp>
        <p:nvSpPr>
          <p:cNvPr id="87" name="Text 418: ♬">
            <a:extLst xmlns:a="http://schemas.openxmlformats.org/drawingml/2006/main">
              <a:ext uri="{FF2B5EF4-FFF2-40B4-BE49-F238E27FC236}">
                <a16:creationId xmlns:a16="http://schemas.microsoft.com/office/drawing/2014/main" id="{C3ED3338-A3AF-407C-8728-E41F3A97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954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♬</a:t>
            </a:r>
          </a:p>
        </p:txBody>
      </p:sp>
      <p:sp>
        <p:nvSpPr>
          <p:cNvPr id="88" name="Text 419: ♟">
            <a:extLst xmlns:a="http://schemas.openxmlformats.org/drawingml/2006/main">
              <a:ext uri="{FF2B5EF4-FFF2-40B4-BE49-F238E27FC236}">
                <a16:creationId xmlns:a16="http://schemas.microsoft.com/office/drawing/2014/main" id="{9456C336-DC76-4270-BD9E-E390B097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95475"/>
            <a:ext cx="219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♟</a:t>
            </a:r>
          </a:p>
        </p:txBody>
      </p:sp>
      <p:sp>
        <p:nvSpPr>
          <p:cNvPr id="89" name="Panel 420">
            <a:extLst xmlns:a="http://schemas.openxmlformats.org/drawingml/2006/main">
              <a:ext uri="{FF2B5EF4-FFF2-40B4-BE49-F238E27FC236}">
                <a16:creationId xmlns:a16="http://schemas.microsoft.com/office/drawing/2014/main" id="{9FF18C93-8CAF-460F-A92F-C69DA4E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14525"/>
            <a:ext cx="5429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32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 421: ATHLETE">
            <a:extLst xmlns:a="http://schemas.openxmlformats.org/drawingml/2006/main">
              <a:ext uri="{FF2B5EF4-FFF2-40B4-BE49-F238E27FC236}">
                <a16:creationId xmlns:a16="http://schemas.microsoft.com/office/drawing/2014/main" id="{C3807265-444A-491B-8B21-33AC0F0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62150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ATHLETE</a:t>
            </a:r>
          </a:p>
        </p:txBody>
      </p:sp>
      <p:sp>
        <p:nvSpPr>
          <p:cNvPr id="91" name="Circle 422">
            <a:extLst xmlns:a="http://schemas.openxmlformats.org/drawingml/2006/main">
              <a:ext uri="{FF2B5EF4-FFF2-40B4-BE49-F238E27FC236}">
                <a16:creationId xmlns:a16="http://schemas.microsoft.com/office/drawing/2014/main" id="{B2DE95AE-5E4D-4B05-97C9-885F08AF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876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92" name="Text 423: AS">
            <a:extLst xmlns:a="http://schemas.openxmlformats.org/drawingml/2006/main">
              <a:ext uri="{FF2B5EF4-FFF2-40B4-BE49-F238E27FC236}">
                <a16:creationId xmlns:a16="http://schemas.microsoft.com/office/drawing/2014/main" id="{C76A42D2-4C3D-440B-929A-C02DF15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24050"/>
            <a:ext cx="2190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</a:t>
            </a:r>
          </a:p>
        </p:txBody>
      </p:sp>
      <p:sp>
        <p:nvSpPr>
          <p:cNvPr id="93" name="Panel 424">
            <a:extLst xmlns:a="http://schemas.openxmlformats.org/drawingml/2006/main">
              <a:ext uri="{FF2B5EF4-FFF2-40B4-BE49-F238E27FC236}">
                <a16:creationId xmlns:a16="http://schemas.microsoft.com/office/drawing/2014/main" id="{BA563509-6349-4FC9-830B-80C524AC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1019175" cy="190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1293F"/>
          </a:solidFill>
          <a:ln xmlns:a="http://schemas.openxmlformats.org/drawingml/2006/main" w="5715">
            <a:solidFill>
              <a:srgbClr val="203D52"/>
            </a:solidFill>
            <a:prstDash val="solid"/>
          </a:ln>
        </p:spPr>
      </p:sp>
      <p:sp>
        <p:nvSpPr>
          <p:cNvPr id="94" name="Text 425: ♟  ATHLETE PANEL">
            <a:extLst xmlns:a="http://schemas.openxmlformats.org/drawingml/2006/main">
              <a:ext uri="{FF2B5EF4-FFF2-40B4-BE49-F238E27FC236}">
                <a16:creationId xmlns:a16="http://schemas.microsoft.com/office/drawing/2014/main" id="{BC099BB5-2842-4009-809F-6BCBACF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885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63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♟  ATHLETE PANEL</a:t>
            </a:r>
          </a:p>
        </p:txBody>
      </p:sp>
      <p:sp>
        <p:nvSpPr>
          <p:cNvPr id="95" name="Text 426: OVERVIEW">
            <a:extLst xmlns:a="http://schemas.openxmlformats.org/drawingml/2006/main">
              <a:ext uri="{FF2B5EF4-FFF2-40B4-BE49-F238E27FC236}">
                <a16:creationId xmlns:a16="http://schemas.microsoft.com/office/drawing/2014/main" id="{A39564E8-6128-4C98-9B38-18267DF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717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OVERVIEW</a:t>
            </a:r>
          </a:p>
        </p:txBody>
      </p:sp>
      <p:sp>
        <p:nvSpPr>
          <p:cNvPr id="96" name="Text 427: ⌂  Dashboard">
            <a:extLst xmlns:a="http://schemas.openxmlformats.org/drawingml/2006/main">
              <a:ext uri="{FF2B5EF4-FFF2-40B4-BE49-F238E27FC236}">
                <a16:creationId xmlns:a16="http://schemas.microsoft.com/office/drawing/2014/main" id="{58F092DF-0156-4111-8249-F7726D08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⌂  Dashboard</a:t>
            </a:r>
          </a:p>
        </p:txBody>
      </p:sp>
      <p:sp>
        <p:nvSpPr>
          <p:cNvPr id="97" name="Text 428: ⌁  Performance">
            <a:extLst xmlns:a="http://schemas.openxmlformats.org/drawingml/2006/main">
              <a:ext uri="{FF2B5EF4-FFF2-40B4-BE49-F238E27FC236}">
                <a16:creationId xmlns:a16="http://schemas.microsoft.com/office/drawing/2014/main" id="{B34143BF-5887-452C-BE17-3AE3E3F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⌁  Performance</a:t>
            </a:r>
          </a:p>
        </p:txBody>
      </p:sp>
      <p:sp>
        <p:nvSpPr>
          <p:cNvPr id="98" name="Text 429: TRAIN">
            <a:extLst xmlns:a="http://schemas.openxmlformats.org/drawingml/2006/main">
              <a:ext uri="{FF2B5EF4-FFF2-40B4-BE49-F238E27FC236}">
                <a16:creationId xmlns:a16="http://schemas.microsoft.com/office/drawing/2014/main" id="{4D741876-3FCE-4B36-BDC6-323109E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TRAIN</a:t>
            </a:r>
          </a:p>
        </p:txBody>
      </p:sp>
      <p:sp>
        <p:nvSpPr>
          <p:cNvPr id="99" name="Text 430: ↥  New Assessment">
            <a:extLst xmlns:a="http://schemas.openxmlformats.org/drawingml/2006/main">
              <a:ext uri="{FF2B5EF4-FFF2-40B4-BE49-F238E27FC236}">
                <a16:creationId xmlns:a16="http://schemas.microsoft.com/office/drawing/2014/main" id="{7C7F5CB3-E4AA-47D9-84CC-5BD5D25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956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↥  New Assessment</a:t>
            </a:r>
          </a:p>
        </p:txBody>
      </p:sp>
      <p:sp>
        <p:nvSpPr>
          <p:cNvPr id="100" name="Text 431: ▣  Live Pose">
            <a:extLst xmlns:a="http://schemas.openxmlformats.org/drawingml/2006/main">
              <a:ext uri="{FF2B5EF4-FFF2-40B4-BE49-F238E27FC236}">
                <a16:creationId xmlns:a16="http://schemas.microsoft.com/office/drawing/2014/main" id="{22034CD8-14A8-4B1C-A335-F0FDDB2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▣  Live Pose</a:t>
            </a:r>
          </a:p>
        </p:txBody>
      </p:sp>
      <p:sp>
        <p:nvSpPr>
          <p:cNvPr id="101" name="Text 432: ▤  Reports">
            <a:extLst xmlns:a="http://schemas.openxmlformats.org/drawingml/2006/main">
              <a:ext uri="{FF2B5EF4-FFF2-40B4-BE49-F238E27FC236}">
                <a16:creationId xmlns:a16="http://schemas.microsoft.com/office/drawing/2014/main" id="{8FECAE13-53BD-4701-94AA-2848678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385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▤  Reports</a:t>
            </a:r>
          </a:p>
        </p:txBody>
      </p:sp>
      <p:sp>
        <p:nvSpPr>
          <p:cNvPr id="102" name="Text 433: ⚑  Career Plan">
            <a:extLst xmlns:a="http://schemas.openxmlformats.org/drawingml/2006/main">
              <a:ext uri="{FF2B5EF4-FFF2-40B4-BE49-F238E27FC236}">
                <a16:creationId xmlns:a16="http://schemas.microsoft.com/office/drawing/2014/main" id="{78C5795C-F149-4C51-8457-8834181A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⚑  Career Plan</a:t>
            </a:r>
          </a:p>
        </p:txBody>
      </p:sp>
      <p:sp>
        <p:nvSpPr>
          <p:cNvPr id="103" name="Text 434: COMPETE">
            <a:extLst xmlns:a="http://schemas.openxmlformats.org/drawingml/2006/main">
              <a:ext uri="{FF2B5EF4-FFF2-40B4-BE49-F238E27FC236}">
                <a16:creationId xmlns:a16="http://schemas.microsoft.com/office/drawing/2014/main" id="{2AE600BC-46DB-4032-A66A-7F13A34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386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COMPETE</a:t>
            </a:r>
          </a:p>
        </p:txBody>
      </p:sp>
      <p:sp>
        <p:nvSpPr>
          <p:cNvPr id="104" name="Text 435: ♧  Leaderboard">
            <a:extLst xmlns:a="http://schemas.openxmlformats.org/drawingml/2006/main">
              <a:ext uri="{FF2B5EF4-FFF2-40B4-BE49-F238E27FC236}">
                <a16:creationId xmlns:a16="http://schemas.microsoft.com/office/drawing/2014/main" id="{D58060CF-CC38-40F1-826A-B82BA9A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♧  Leaderboard</a:t>
            </a:r>
          </a:p>
        </p:txBody>
      </p:sp>
      <p:sp>
        <p:nvSpPr>
          <p:cNvPr id="105" name="Text 436: ▧  Card &amp; Badges">
            <a:extLst xmlns:a="http://schemas.openxmlformats.org/drawingml/2006/main">
              <a:ext uri="{FF2B5EF4-FFF2-40B4-BE49-F238E27FC236}">
                <a16:creationId xmlns:a16="http://schemas.microsoft.com/office/drawing/2014/main" id="{FED6675F-D19C-47E4-A9EE-D8399005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▧  Card &amp; Badges</a:t>
            </a:r>
          </a:p>
        </p:txBody>
      </p:sp>
      <p:sp>
        <p:nvSpPr>
          <p:cNvPr id="106" name="Text 437: CONNECT">
            <a:extLst xmlns:a="http://schemas.openxmlformats.org/drawingml/2006/main">
              <a:ext uri="{FF2B5EF4-FFF2-40B4-BE49-F238E27FC236}">
                <a16:creationId xmlns:a16="http://schemas.microsoft.com/office/drawing/2014/main" id="{8C37E391-4F9B-4DEE-9363-FB03745B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1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CONNECT</a:t>
            </a:r>
          </a:p>
        </p:txBody>
      </p:sp>
      <p:sp>
        <p:nvSpPr>
          <p:cNvPr id="107" name="Text 438: ♧  Coaches">
            <a:extLst xmlns:a="http://schemas.openxmlformats.org/drawingml/2006/main">
              <a:ext uri="{FF2B5EF4-FFF2-40B4-BE49-F238E27FC236}">
                <a16:creationId xmlns:a16="http://schemas.microsoft.com/office/drawing/2014/main" id="{2BAEC303-4ECE-4362-B4ED-951E2FEB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6252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♧  Coaches</a:t>
            </a:r>
          </a:p>
        </p:txBody>
      </p:sp>
      <p:sp>
        <p:nvSpPr>
          <p:cNvPr id="108" name="Text 439: ✉  Messages">
            <a:extLst xmlns:a="http://schemas.openxmlformats.org/drawingml/2006/main">
              <a:ext uri="{FF2B5EF4-FFF2-40B4-BE49-F238E27FC236}">
                <a16:creationId xmlns:a16="http://schemas.microsoft.com/office/drawing/2014/main" id="{E5FE9968-8A96-4AEB-BEAA-1098F6E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33975"/>
            <a:ext cx="1038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✉  Messages</a:t>
            </a:r>
          </a:p>
        </p:txBody>
      </p:sp>
      <p:sp>
        <p:nvSpPr>
          <p:cNvPr id="109" name="Circle 440">
            <a:extLst xmlns:a="http://schemas.openxmlformats.org/drawingml/2006/main">
              <a:ext uri="{FF2B5EF4-FFF2-40B4-BE49-F238E27FC236}">
                <a16:creationId xmlns:a16="http://schemas.microsoft.com/office/drawing/2014/main" id="{EAB1EF96-258F-4C6D-A7F5-5CDA9BDE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911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10" name="Text 441: AS">
            <a:extLst xmlns:a="http://schemas.openxmlformats.org/drawingml/2006/main">
              <a:ext uri="{FF2B5EF4-FFF2-40B4-BE49-F238E27FC236}">
                <a16:creationId xmlns:a16="http://schemas.microsoft.com/office/drawing/2014/main" id="{F98B707E-FE76-4213-BF6F-818AB99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4830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AS</a:t>
            </a:r>
          </a:p>
        </p:txBody>
      </p:sp>
      <p:sp>
        <p:nvSpPr>
          <p:cNvPr id="111" name="Text 442: Arjun Singh">
            <a:extLst xmlns:a="http://schemas.openxmlformats.org/drawingml/2006/main">
              <a:ext uri="{FF2B5EF4-FFF2-40B4-BE49-F238E27FC236}">
                <a16:creationId xmlns:a16="http://schemas.microsoft.com/office/drawing/2014/main" id="{8AD30891-305F-4009-8F09-E7B0BCB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10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Arjun Singh</a:t>
            </a:r>
          </a:p>
        </p:txBody>
      </p:sp>
      <p:sp>
        <p:nvSpPr>
          <p:cNvPr id="112" name="Text 443: Cricket · 17 yrs">
            <a:extLst xmlns:a="http://schemas.openxmlformats.org/drawingml/2006/main">
              <a:ext uri="{FF2B5EF4-FFF2-40B4-BE49-F238E27FC236}">
                <a16:creationId xmlns:a16="http://schemas.microsoft.com/office/drawing/2014/main" id="{37A5CF94-0345-4201-8BBB-F63A8EBF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62600"/>
            <a:ext cx="7334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63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Cricket · 17 yrs</a:t>
            </a:r>
          </a:p>
        </p:txBody>
      </p:sp>
      <p:sp>
        <p:nvSpPr>
          <p:cNvPr id="113" name="Panel 444">
            <a:extLst xmlns:a="http://schemas.openxmlformats.org/drawingml/2006/main">
              <a:ext uri="{FF2B5EF4-FFF2-40B4-BE49-F238E27FC236}">
                <a16:creationId xmlns:a16="http://schemas.microsoft.com/office/drawing/2014/main" id="{582FAD68-FBF4-4961-B825-E213956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772150"/>
            <a:ext cx="98107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61626"/>
          </a:solidFill>
          <a:ln xmlns:a="http://schemas.openxmlformats.org/drawingml/2006/main" w="5715">
            <a:solidFill>
              <a:srgbClr val="31516A"/>
            </a:solidFill>
            <a:prstDash val="solid"/>
          </a:ln>
        </p:spPr>
      </p:sp>
      <p:sp>
        <p:nvSpPr>
          <p:cNvPr id="114" name="Text 445: LANGUAGE">
            <a:extLst xmlns:a="http://schemas.openxmlformats.org/drawingml/2006/main">
              <a:ext uri="{FF2B5EF4-FFF2-40B4-BE49-F238E27FC236}">
                <a16:creationId xmlns:a16="http://schemas.microsoft.com/office/drawing/2014/main" id="{E286D464-4210-4FB9-BEA3-1A6F0C42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57875"/>
            <a:ext cx="4095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450" b="1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LANGUAGE</a:t>
            </a:r>
          </a:p>
        </p:txBody>
      </p:sp>
      <p:sp>
        <p:nvSpPr>
          <p:cNvPr id="115" name="Text 446: English  ▾">
            <a:extLst xmlns:a="http://schemas.openxmlformats.org/drawingml/2006/main">
              <a:ext uri="{FF2B5EF4-FFF2-40B4-BE49-F238E27FC236}">
                <a16:creationId xmlns:a16="http://schemas.microsoft.com/office/drawing/2014/main" id="{71C91A1A-F21B-46A2-8BBC-9113D442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829300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English  ▾</a:t>
            </a:r>
          </a:p>
        </p:txBody>
      </p:sp>
      <p:sp>
        <p:nvSpPr>
          <p:cNvPr id="116" name="Panel 447">
            <a:extLst xmlns:a="http://schemas.openxmlformats.org/drawingml/2006/main">
              <a:ext uri="{FF2B5EF4-FFF2-40B4-BE49-F238E27FC236}">
                <a16:creationId xmlns:a16="http://schemas.microsoft.com/office/drawing/2014/main" id="{C66F7657-CD9E-4D53-A15B-120778ED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67425"/>
            <a:ext cx="101917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626"/>
          </a:solidFill>
          <a:ln xmlns:a="http://schemas.openxmlformats.org/drawingml/2006/main" w="5715">
            <a:solidFill>
              <a:srgbClr val="096686"/>
            </a:solidFill>
            <a:prstDash val="solid"/>
          </a:ln>
        </p:spPr>
      </p:sp>
      <p:sp>
        <p:nvSpPr>
          <p:cNvPr id="117" name="Text 448: ▣  Logout">
            <a:extLst xmlns:a="http://schemas.openxmlformats.org/drawingml/2006/main">
              <a:ext uri="{FF2B5EF4-FFF2-40B4-BE49-F238E27FC236}">
                <a16:creationId xmlns:a16="http://schemas.microsoft.com/office/drawing/2014/main" id="{F86D3C0D-ABA9-43D5-88B8-B1135D5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105525"/>
            <a:ext cx="6572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75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▣  Logout</a:t>
            </a:r>
          </a:p>
        </p:txBody>
      </p:sp>
      <p:sp>
        <p:nvSpPr>
          <p:cNvPr id="118" name="Text 449: Owned by Archita Tripathi &amp; Manthan Dhanraj">
            <a:extLst xmlns:a="http://schemas.openxmlformats.org/drawingml/2006/main">
              <a:ext uri="{FF2B5EF4-FFF2-40B4-BE49-F238E27FC236}">
                <a16:creationId xmlns:a16="http://schemas.microsoft.com/office/drawing/2014/main" id="{E244534D-7334-42FB-87C4-2C66ACB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43650"/>
            <a:ext cx="10763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36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Owned by Archita Tripathi &amp; Manthan Dhanraj</a:t>
            </a:r>
          </a:p>
        </p:txBody>
      </p:sp>
      <p:sp>
        <p:nvSpPr>
          <p:cNvPr id="119" name="Text 450: AI Architecture">
            <a:extLst xmlns:a="http://schemas.openxmlformats.org/drawingml/2006/main">
              <a:ext uri="{FF2B5EF4-FFF2-40B4-BE49-F238E27FC236}">
                <a16:creationId xmlns:a16="http://schemas.microsoft.com/office/drawing/2014/main" id="{4A502E21-0DED-4B0E-8881-C5C50E82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390775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AI Architecture</a:t>
            </a:r>
          </a:p>
        </p:txBody>
      </p:sp>
      <p:sp>
        <p:nvSpPr>
          <p:cNvPr id="120" name="Text 451: How AthletixAI turns a video into a talent score — end to end pip">
            <a:extLst xmlns:a="http://schemas.openxmlformats.org/drawingml/2006/main">
              <a:ext uri="{FF2B5EF4-FFF2-40B4-BE49-F238E27FC236}">
                <a16:creationId xmlns:a16="http://schemas.microsoft.com/office/drawing/2014/main" id="{C711E896-9F9B-430C-8F6E-EF6B691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47950"/>
            <a:ext cx="5800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How AthletixAI turns a video into a talent score — end to end pipeline</a:t>
            </a:r>
          </a:p>
        </p:txBody>
      </p:sp>
      <p:sp>
        <p:nvSpPr>
          <p:cNvPr id="121" name="Panel 452">
            <a:extLst xmlns:a="http://schemas.openxmlformats.org/drawingml/2006/main">
              <a:ext uri="{FF2B5EF4-FFF2-40B4-BE49-F238E27FC236}">
                <a16:creationId xmlns:a16="http://schemas.microsoft.com/office/drawing/2014/main" id="{A9EE2BA5-528D-439E-9D93-53760F1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0388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0C2439"/>
          </a:solidFill>
          <a:ln xmlns:a="http://schemas.openxmlformats.org/drawingml/2006/main" w="6668">
            <a:solidFill>
              <a:srgbClr val="223A4D"/>
            </a:solidFill>
            <a:prstDash val="solid"/>
          </a:ln>
        </p:spPr>
      </p:sp>
      <p:sp>
        <p:nvSpPr>
          <p:cNvPr id="122" name="Text 453: Processing Pipeline">
            <a:extLst xmlns:a="http://schemas.openxmlformats.org/drawingml/2006/main">
              <a:ext uri="{FF2B5EF4-FFF2-40B4-BE49-F238E27FC236}">
                <a16:creationId xmlns:a16="http://schemas.microsoft.com/office/drawing/2014/main" id="{FE198B82-3C54-4B9C-92BE-F32AECF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538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00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Processing Pipeline</a:t>
            </a:r>
          </a:p>
        </p:txBody>
      </p:sp>
      <p:sp>
        <p:nvSpPr>
          <p:cNvPr id="123" name="Text 454: ✦">
            <a:extLst xmlns:a="http://schemas.openxmlformats.org/drawingml/2006/main">
              <a:ext uri="{FF2B5EF4-FFF2-40B4-BE49-F238E27FC236}">
                <a16:creationId xmlns:a16="http://schemas.microsoft.com/office/drawing/2014/main" id="{7FED86B7-4DCF-43DE-8A71-A6923722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384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0">
                <a:solidFill>
                  <a:srgbClr val="D9EAF8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124" name="Panel 455">
            <a:extLst xmlns:a="http://schemas.openxmlformats.org/drawingml/2006/main">
              <a:ext uri="{FF2B5EF4-FFF2-40B4-BE49-F238E27FC236}">
                <a16:creationId xmlns:a16="http://schemas.microsoft.com/office/drawing/2014/main" id="{38B3DEA4-78FE-4779-85A3-C0EA84C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f2cfc4db14c92"/>
          <a:stretch xmlns:a="http://schemas.openxmlformats.org/drawingml/2006/main"/>
        </p:blipFill>
        <p:spPr>
          <a:xfrm xmlns:a="http://schemas.openxmlformats.org/drawingml/2006/main">
            <a:off x="6172200" y="3438525"/>
            <a:ext cx="295275" cy="342900"/>
          </a:xfrm>
          <a:prstGeom xmlns:a="http://schemas.openxmlformats.org/drawingml/2006/main" prst="rect">
            <a:avLst/>
          </a:prstGeom>
        </p:spPr>
      </p:pic>
      <p:sp>
        <p:nvSpPr>
          <p:cNvPr id="126" name="Text 456: 1. Video Input">
            <a:extLst xmlns:a="http://schemas.openxmlformats.org/drawingml/2006/main">
              <a:ext uri="{FF2B5EF4-FFF2-40B4-BE49-F238E27FC236}">
                <a16:creationId xmlns:a16="http://schemas.microsoft.com/office/drawing/2014/main" id="{3A64B0AD-CF94-40A2-AA32-C4A1610B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1. Video Input</a:t>
            </a:r>
          </a:p>
        </p:txBody>
      </p:sp>
      <p:sp>
        <p:nvSpPr>
          <p:cNvPr id="127" name="Text 457: Camera / uploaded clip of the athlete">
            <a:extLst xmlns:a="http://schemas.openxmlformats.org/drawingml/2006/main">
              <a:ext uri="{FF2B5EF4-FFF2-40B4-BE49-F238E27FC236}">
                <a16:creationId xmlns:a16="http://schemas.microsoft.com/office/drawing/2014/main" id="{ABBEDBC9-0EC0-4C82-9C27-42C5642D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Camera / uploaded clip of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the athlete</a:t>
            </a:r>
          </a:p>
        </p:txBody>
      </p:sp>
      <p:sp>
        <p:nvSpPr>
          <p:cNvPr id="128" name="Editable flow arrow 458">
            <a:extLst xmlns:a="http://schemas.openxmlformats.org/drawingml/2006/main">
              <a:ext uri="{FF2B5EF4-FFF2-40B4-BE49-F238E27FC236}">
                <a16:creationId xmlns:a16="http://schemas.microsoft.com/office/drawing/2014/main" id="{75C90A91-06F7-41EB-BB27-493AAAC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29" name="Panel 459">
            <a:extLst xmlns:a="http://schemas.openxmlformats.org/drawingml/2006/main">
              <a:ext uri="{FF2B5EF4-FFF2-40B4-BE49-F238E27FC236}">
                <a16:creationId xmlns:a16="http://schemas.microsoft.com/office/drawing/2014/main" id="{66210FF9-79F5-4D95-83D1-5DF0701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1e92db1be4e08"/>
          <a:stretch xmlns:a="http://schemas.openxmlformats.org/drawingml/2006/main"/>
        </p:blipFill>
        <p:spPr>
          <a:xfrm xmlns:a="http://schemas.openxmlformats.org/drawingml/2006/main">
            <a:off x="7286625" y="3400425"/>
            <a:ext cx="323850" cy="342900"/>
          </a:xfrm>
          <a:prstGeom xmlns:a="http://schemas.openxmlformats.org/drawingml/2006/main" prst="rect">
            <a:avLst/>
          </a:prstGeom>
        </p:spPr>
      </p:pic>
      <p:sp>
        <p:nvSpPr>
          <p:cNvPr id="131" name="Text 460: 2. Pose Estimation">
            <a:extLst xmlns:a="http://schemas.openxmlformats.org/drawingml/2006/main">
              <a:ext uri="{FF2B5EF4-FFF2-40B4-BE49-F238E27FC236}">
                <a16:creationId xmlns:a16="http://schemas.microsoft.com/office/drawing/2014/main" id="{183BEBCA-5616-471E-8741-AE75F693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2. Pose Estimation</a:t>
            </a:r>
          </a:p>
        </p:txBody>
      </p:sp>
      <p:sp>
        <p:nvSpPr>
          <p:cNvPr id="132" name="Text 461: MediaPipe extracts 33 body keypoints per frame">
            <a:extLst xmlns:a="http://schemas.openxmlformats.org/drawingml/2006/main">
              <a:ext uri="{FF2B5EF4-FFF2-40B4-BE49-F238E27FC236}">
                <a16:creationId xmlns:a16="http://schemas.microsoft.com/office/drawing/2014/main" id="{CE129056-31FE-48DA-BF07-3844AD2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MediaPipe extracts 33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body keypoints per frame</a:t>
            </a:r>
          </a:p>
        </p:txBody>
      </p:sp>
      <p:sp>
        <p:nvSpPr>
          <p:cNvPr id="133" name="Editable flow arrow 462">
            <a:extLst xmlns:a="http://schemas.openxmlformats.org/drawingml/2006/main">
              <a:ext uri="{FF2B5EF4-FFF2-40B4-BE49-F238E27FC236}">
                <a16:creationId xmlns:a16="http://schemas.microsoft.com/office/drawing/2014/main" id="{BF8B45AD-4B8D-4F15-A98F-85A90741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34" name="Panel 463">
            <a:extLst xmlns:a="http://schemas.openxmlformats.org/drawingml/2006/main">
              <a:ext uri="{FF2B5EF4-FFF2-40B4-BE49-F238E27FC236}">
                <a16:creationId xmlns:a16="http://schemas.microsoft.com/office/drawing/2014/main" id="{2B5296D9-E22A-459E-BF64-639C0EF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c840caa924493"/>
          <a:stretch xmlns:a="http://schemas.openxmlformats.org/drawingml/2006/main"/>
        </p:blipFill>
        <p:spPr>
          <a:xfrm xmlns:a="http://schemas.openxmlformats.org/drawingml/2006/main">
            <a:off x="8477250" y="3371850"/>
            <a:ext cx="314325" cy="419100"/>
          </a:xfrm>
          <a:prstGeom xmlns:a="http://schemas.openxmlformats.org/drawingml/2006/main" prst="rect">
            <a:avLst/>
          </a:prstGeom>
        </p:spPr>
      </p:pic>
      <p:sp>
        <p:nvSpPr>
          <p:cNvPr id="136" name="Text 464: 3. Feature Extraction">
            <a:extLst xmlns:a="http://schemas.openxmlformats.org/drawingml/2006/main">
              <a:ext uri="{FF2B5EF4-FFF2-40B4-BE49-F238E27FC236}">
                <a16:creationId xmlns:a16="http://schemas.microsoft.com/office/drawing/2014/main" id="{3871C21C-FB77-4523-931B-E1A96E8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3. Feature Extraction</a:t>
            </a:r>
          </a:p>
        </p:txBody>
      </p:sp>
      <p:sp>
        <p:nvSpPr>
          <p:cNvPr id="137" name="Text 465: Joint angles, velocity, symmetry, stride">
            <a:extLst xmlns:a="http://schemas.openxmlformats.org/drawingml/2006/main">
              <a:ext uri="{FF2B5EF4-FFF2-40B4-BE49-F238E27FC236}">
                <a16:creationId xmlns:a16="http://schemas.microsoft.com/office/drawing/2014/main" id="{B8953B27-C4A1-4374-98BA-C965BE28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Joint angles, velocity,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symmetry, stride</a:t>
            </a:r>
          </a:p>
        </p:txBody>
      </p:sp>
      <p:sp>
        <p:nvSpPr>
          <p:cNvPr id="138" name="Editable flow arrow 466">
            <a:extLst xmlns:a="http://schemas.openxmlformats.org/drawingml/2006/main">
              <a:ext uri="{FF2B5EF4-FFF2-40B4-BE49-F238E27FC236}">
                <a16:creationId xmlns:a16="http://schemas.microsoft.com/office/drawing/2014/main" id="{299C6E95-37A2-4404-8B29-5DB7A5B2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39" name="Panel 467">
            <a:extLst xmlns:a="http://schemas.openxmlformats.org/drawingml/2006/main">
              <a:ext uri="{FF2B5EF4-FFF2-40B4-BE49-F238E27FC236}">
                <a16:creationId xmlns:a16="http://schemas.microsoft.com/office/drawing/2014/main" id="{35B22560-1DA2-4717-A151-7CB9602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e6aadb4d740a5"/>
          <a:stretch xmlns:a="http://schemas.openxmlformats.org/drawingml/2006/main"/>
        </p:blipFill>
        <p:spPr>
          <a:xfrm xmlns:a="http://schemas.openxmlformats.org/drawingml/2006/main">
            <a:off x="9658350" y="3409950"/>
            <a:ext cx="285750" cy="333375"/>
          </a:xfrm>
          <a:prstGeom xmlns:a="http://schemas.openxmlformats.org/drawingml/2006/main" prst="rect">
            <a:avLst/>
          </a:prstGeom>
        </p:spPr>
      </p:pic>
      <p:sp>
        <p:nvSpPr>
          <p:cNvPr id="141" name="Text 468: 4. ML Scoring">
            <a:extLst xmlns:a="http://schemas.openxmlformats.org/drawingml/2006/main">
              <a:ext uri="{FF2B5EF4-FFF2-40B4-BE49-F238E27FC236}">
                <a16:creationId xmlns:a16="http://schemas.microsoft.com/office/drawing/2014/main" id="{B66DDD44-8F10-42E1-B768-9F5F99BE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4. ML Scoring</a:t>
            </a:r>
          </a:p>
        </p:txBody>
      </p:sp>
      <p:sp>
        <p:nvSpPr>
          <p:cNvPr id="142" name="Text 469: Model maps features → 5 metric scores">
            <a:extLst xmlns:a="http://schemas.openxmlformats.org/drawingml/2006/main">
              <a:ext uri="{FF2B5EF4-FFF2-40B4-BE49-F238E27FC236}">
                <a16:creationId xmlns:a16="http://schemas.microsoft.com/office/drawing/2014/main" id="{6E624919-A496-4601-AA58-4B7F9275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Model maps features → 5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metric scores</a:t>
            </a:r>
          </a:p>
        </p:txBody>
      </p:sp>
      <p:sp>
        <p:nvSpPr>
          <p:cNvPr id="143" name="Editable flow arrow 470">
            <a:extLst xmlns:a="http://schemas.openxmlformats.org/drawingml/2006/main">
              <a:ext uri="{FF2B5EF4-FFF2-40B4-BE49-F238E27FC236}">
                <a16:creationId xmlns:a16="http://schemas.microsoft.com/office/drawing/2014/main" id="{3EA99D24-1128-4A46-875A-C985BF5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62375"/>
            <a:ext cx="1238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44" name="Panel 471">
            <a:extLst xmlns:a="http://schemas.openxmlformats.org/drawingml/2006/main">
              <a:ext uri="{FF2B5EF4-FFF2-40B4-BE49-F238E27FC236}">
                <a16:creationId xmlns:a16="http://schemas.microsoft.com/office/drawing/2014/main" id="{7227D0A5-C1F2-442F-9858-9463D05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276600"/>
            <a:ext cx="1066800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11283D"/>
          </a:solidFill>
          <a:ln xmlns:a="http://schemas.openxmlformats.org/drawingml/2006/main" w="4763">
            <a:solidFill>
              <a:srgbClr val="294458"/>
            </a:solidFill>
            <a:prstDash val="solid"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949b718134e7b"/>
          <a:stretch xmlns:a="http://schemas.openxmlformats.org/drawingml/2006/main"/>
        </p:blipFill>
        <p:spPr>
          <a:xfrm xmlns:a="http://schemas.openxmlformats.org/drawingml/2006/main">
            <a:off x="10887075" y="3409950"/>
            <a:ext cx="295275" cy="333375"/>
          </a:xfrm>
          <a:prstGeom xmlns:a="http://schemas.openxmlformats.org/drawingml/2006/main" prst="rect">
            <a:avLst/>
          </a:prstGeom>
        </p:spPr>
      </p:pic>
      <p:sp>
        <p:nvSpPr>
          <p:cNvPr id="146" name="Text 472: 5. Dashboard">
            <a:extLst xmlns:a="http://schemas.openxmlformats.org/drawingml/2006/main">
              <a:ext uri="{FF2B5EF4-FFF2-40B4-BE49-F238E27FC236}">
                <a16:creationId xmlns:a16="http://schemas.microsoft.com/office/drawing/2014/main" id="{FE030068-F339-4DAE-9193-207E05D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8142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788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5. Dashboard</a:t>
            </a:r>
          </a:p>
        </p:txBody>
      </p:sp>
      <p:sp>
        <p:nvSpPr>
          <p:cNvPr id="147" name="Text 473: Reports, predictions, coach &amp; leaderboard">
            <a:extLst xmlns:a="http://schemas.openxmlformats.org/drawingml/2006/main">
              <a:ext uri="{FF2B5EF4-FFF2-40B4-BE49-F238E27FC236}">
                <a16:creationId xmlns:a16="http://schemas.microsoft.com/office/drawing/2014/main" id="{6879DB1C-0C1D-49C5-9C43-8A869FEB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01002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Reports, predictions,</a:t>
            </a:r>
          </a:p>
          <a:p xmlns:a="http://schemas.openxmlformats.org/drawingml/2006/main">
            <a:pPr algn="ctr">
              <a:def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coach &amp; leaderboard</a:t>
            </a:r>
          </a:p>
        </p:txBody>
      </p:sp>
      <p:sp>
        <p:nvSpPr>
          <p:cNvPr id="148" name="Panel 474">
            <a:extLst xmlns:a="http://schemas.openxmlformats.org/drawingml/2006/main">
              <a:ext uri="{FF2B5EF4-FFF2-40B4-BE49-F238E27FC236}">
                <a16:creationId xmlns:a16="http://schemas.microsoft.com/office/drawing/2014/main" id="{AC617C14-FA2B-4E9A-BD5F-A79F8AEC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52975"/>
            <a:ext cx="6038850" cy="1400175"/>
          </a:xfrm>
          <a:prstGeom xmlns:a="http://schemas.openxmlformats.org/drawingml/2006/main" prst="roundRect">
            <a:avLst>
              <a:gd name="adj" fmla="val 6803"/>
            </a:avLst>
          </a:prstGeom>
          <a:solidFill xmlns:a="http://schemas.openxmlformats.org/drawingml/2006/main">
            <a:srgbClr val="0D263B"/>
          </a:solidFill>
          <a:ln xmlns:a="http://schemas.openxmlformats.org/drawingml/2006/main" w="6668">
            <a:solidFill>
              <a:srgbClr val="233F53"/>
            </a:solidFill>
            <a:prstDash val="solid"/>
          </a:ln>
        </p:spPr>
      </p:sp>
      <p:sp>
        <p:nvSpPr>
          <p:cNvPr id="149" name="Text 475: Tech Stack">
            <a:extLst xmlns:a="http://schemas.openxmlformats.org/drawingml/2006/main">
              <a:ext uri="{FF2B5EF4-FFF2-40B4-BE49-F238E27FC236}">
                <a16:creationId xmlns:a16="http://schemas.microsoft.com/office/drawing/2014/main" id="{D36F888D-0C1A-428C-923B-2624DC4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97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Tech Stack</a:t>
            </a:r>
          </a:p>
        </p:txBody>
      </p:sp>
      <p:sp>
        <p:nvSpPr>
          <p:cNvPr id="150" name="Text 476: ✦">
            <a:extLst xmlns:a="http://schemas.openxmlformats.org/drawingml/2006/main">
              <a:ext uri="{FF2B5EF4-FFF2-40B4-BE49-F238E27FC236}">
                <a16:creationId xmlns:a16="http://schemas.microsoft.com/office/drawing/2014/main" id="{4850AC7D-CAD4-4BED-A3DB-02EDDA3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✦</a:t>
            </a:r>
          </a:p>
        </p:txBody>
      </p:sp>
      <p:sp>
        <p:nvSpPr>
          <p:cNvPr id="151" name="Panel 477">
            <a:extLst xmlns:a="http://schemas.openxmlformats.org/drawingml/2006/main">
              <a:ext uri="{FF2B5EF4-FFF2-40B4-BE49-F238E27FC236}">
                <a16:creationId xmlns:a16="http://schemas.microsoft.com/office/drawing/2014/main" id="{B9EF1556-104F-4C3E-B36E-F54C546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55cf3f6564116"/>
          <a:stretch xmlns:a="http://schemas.openxmlformats.org/drawingml/2006/main"/>
        </p:blipFill>
        <p:spPr>
          <a:xfrm xmlns:a="http://schemas.openxmlformats.org/drawingml/2006/main">
            <a:off x="5838825" y="5222648"/>
            <a:ext cx="238125" cy="260804"/>
          </a:xfrm>
          <a:prstGeom xmlns:a="http://schemas.openxmlformats.org/drawingml/2006/main" prst="rect">
            <a:avLst/>
          </a:prstGeom>
        </p:spPr>
      </p:pic>
      <p:sp>
        <p:nvSpPr>
          <p:cNvPr id="153" name="Text 478: Frontend">
            <a:extLst xmlns:a="http://schemas.openxmlformats.org/drawingml/2006/main">
              <a:ext uri="{FF2B5EF4-FFF2-40B4-BE49-F238E27FC236}">
                <a16:creationId xmlns:a16="http://schemas.microsoft.com/office/drawing/2014/main" id="{C45686EB-A878-4F30-8E97-B99A794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Frontend</a:t>
            </a:r>
          </a:p>
        </p:txBody>
      </p:sp>
      <p:sp>
        <p:nvSpPr>
          <p:cNvPr id="154" name="Text 479: HTML · CSS · Chart.js">
            <a:extLst xmlns:a="http://schemas.openxmlformats.org/drawingml/2006/main">
              <a:ext uri="{FF2B5EF4-FFF2-40B4-BE49-F238E27FC236}">
                <a16:creationId xmlns:a16="http://schemas.microsoft.com/office/drawing/2014/main" id="{86290F35-CBC7-490E-A647-FDF1A3F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HTML · CSS · Chart.js</a:t>
            </a:r>
          </a:p>
        </p:txBody>
      </p:sp>
      <p:sp>
        <p:nvSpPr>
          <p:cNvPr id="155" name="Panel 480">
            <a:extLst xmlns:a="http://schemas.openxmlformats.org/drawingml/2006/main">
              <a:ext uri="{FF2B5EF4-FFF2-40B4-BE49-F238E27FC236}">
                <a16:creationId xmlns:a16="http://schemas.microsoft.com/office/drawing/2014/main" id="{31CF543B-6DF6-443C-8EBC-7A28A8F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e77b684954aa6"/>
          <a:stretch xmlns:a="http://schemas.openxmlformats.org/drawingml/2006/main"/>
        </p:blipFill>
        <p:spPr>
          <a:xfrm xmlns:a="http://schemas.openxmlformats.org/drawingml/2006/main">
            <a:off x="7791450" y="5225776"/>
            <a:ext cx="238125" cy="254547"/>
          </a:xfrm>
          <a:prstGeom xmlns:a="http://schemas.openxmlformats.org/drawingml/2006/main" prst="rect">
            <a:avLst/>
          </a:prstGeom>
        </p:spPr>
      </p:pic>
      <p:sp>
        <p:nvSpPr>
          <p:cNvPr id="157" name="Text 481: Pose AI">
            <a:extLst xmlns:a="http://schemas.openxmlformats.org/drawingml/2006/main">
              <a:ext uri="{FF2B5EF4-FFF2-40B4-BE49-F238E27FC236}">
                <a16:creationId xmlns:a16="http://schemas.microsoft.com/office/drawing/2014/main" id="{A69BB3E8-BEC6-4D67-B235-E24965B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Pose AI</a:t>
            </a:r>
          </a:p>
        </p:txBody>
      </p:sp>
      <p:sp>
        <p:nvSpPr>
          <p:cNvPr id="158" name="Text 482: MediaPipe Tasks Vision">
            <a:extLst xmlns:a="http://schemas.openxmlformats.org/drawingml/2006/main">
              <a:ext uri="{FF2B5EF4-FFF2-40B4-BE49-F238E27FC236}">
                <a16:creationId xmlns:a16="http://schemas.microsoft.com/office/drawing/2014/main" id="{CF8BE5FB-DC00-4DC8-962A-876C0CB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MediaPipe Tasks Vision</a:t>
            </a:r>
          </a:p>
        </p:txBody>
      </p:sp>
      <p:sp>
        <p:nvSpPr>
          <p:cNvPr id="159" name="Panel 483">
            <a:extLst xmlns:a="http://schemas.openxmlformats.org/drawingml/2006/main">
              <a:ext uri="{FF2B5EF4-FFF2-40B4-BE49-F238E27FC236}">
                <a16:creationId xmlns:a16="http://schemas.microsoft.com/office/drawing/2014/main" id="{4666EDA4-4C91-4120-89F5-46DCFDF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33975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ff46d5214f8d"/>
          <a:stretch xmlns:a="http://schemas.openxmlformats.org/drawingml/2006/main"/>
        </p:blipFill>
        <p:spPr>
          <a:xfrm xmlns:a="http://schemas.openxmlformats.org/drawingml/2006/main">
            <a:off x="9744075" y="5254553"/>
            <a:ext cx="238125" cy="196994"/>
          </a:xfrm>
          <a:prstGeom xmlns:a="http://schemas.openxmlformats.org/drawingml/2006/main" prst="rect">
            <a:avLst/>
          </a:prstGeom>
        </p:spPr>
      </p:pic>
      <p:sp>
        <p:nvSpPr>
          <p:cNvPr id="161" name="Text 484: ML Layer">
            <a:extLst xmlns:a="http://schemas.openxmlformats.org/drawingml/2006/main">
              <a:ext uri="{FF2B5EF4-FFF2-40B4-BE49-F238E27FC236}">
                <a16:creationId xmlns:a16="http://schemas.microsoft.com/office/drawing/2014/main" id="{19170759-537F-4992-AE44-EA6B7742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00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ML Layer</a:t>
            </a:r>
          </a:p>
        </p:txBody>
      </p:sp>
      <p:sp>
        <p:nvSpPr>
          <p:cNvPr id="162" name="Text 485: Scoring &amp; performance prediction">
            <a:extLst xmlns:a="http://schemas.openxmlformats.org/drawingml/2006/main">
              <a:ext uri="{FF2B5EF4-FFF2-40B4-BE49-F238E27FC236}">
                <a16:creationId xmlns:a16="http://schemas.microsoft.com/office/drawing/2014/main" id="{DE2CDE8F-1EF5-4BBF-B4FF-1ADF7603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3625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Scoring &amp; performance prediction</a:t>
            </a:r>
          </a:p>
        </p:txBody>
      </p:sp>
      <p:sp>
        <p:nvSpPr>
          <p:cNvPr id="163" name="Panel 486">
            <a:extLst xmlns:a="http://schemas.openxmlformats.org/drawingml/2006/main">
              <a:ext uri="{FF2B5EF4-FFF2-40B4-BE49-F238E27FC236}">
                <a16:creationId xmlns:a16="http://schemas.microsoft.com/office/drawing/2014/main" id="{10788CCD-702C-4AD8-A89B-0678C5D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35ed435404149"/>
          <a:stretch xmlns:a="http://schemas.openxmlformats.org/drawingml/2006/main"/>
        </p:blipFill>
        <p:spPr>
          <a:xfrm xmlns:a="http://schemas.openxmlformats.org/drawingml/2006/main">
            <a:off x="5882120" y="5724525"/>
            <a:ext cx="151534" cy="266700"/>
          </a:xfrm>
          <a:prstGeom xmlns:a="http://schemas.openxmlformats.org/drawingml/2006/main" prst="rect">
            <a:avLst/>
          </a:prstGeom>
        </p:spPr>
      </p:pic>
      <p:sp>
        <p:nvSpPr>
          <p:cNvPr id="165" name="Text 487: Backend">
            <a:extLst xmlns:a="http://schemas.openxmlformats.org/drawingml/2006/main">
              <a:ext uri="{FF2B5EF4-FFF2-40B4-BE49-F238E27FC236}">
                <a16:creationId xmlns:a16="http://schemas.microsoft.com/office/drawing/2014/main" id="{E7929226-01BA-4C50-A650-85709152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Backend</a:t>
            </a:r>
          </a:p>
        </p:txBody>
      </p:sp>
      <p:sp>
        <p:nvSpPr>
          <p:cNvPr id="166" name="Text 488: Flask REST API">
            <a:extLst xmlns:a="http://schemas.openxmlformats.org/drawingml/2006/main">
              <a:ext uri="{FF2B5EF4-FFF2-40B4-BE49-F238E27FC236}">
                <a16:creationId xmlns:a16="http://schemas.microsoft.com/office/drawing/2014/main" id="{7B9F12A8-398C-405B-8139-A793BE71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Flask REST API</a:t>
            </a:r>
          </a:p>
        </p:txBody>
      </p:sp>
      <p:sp>
        <p:nvSpPr>
          <p:cNvPr id="167" name="Panel 489">
            <a:extLst xmlns:a="http://schemas.openxmlformats.org/drawingml/2006/main">
              <a:ext uri="{FF2B5EF4-FFF2-40B4-BE49-F238E27FC236}">
                <a16:creationId xmlns:a16="http://schemas.microsoft.com/office/drawing/2014/main" id="{B76C36CD-901F-43E8-82EC-32590C0F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211f2ca3148e0"/>
          <a:stretch xmlns:a="http://schemas.openxmlformats.org/drawingml/2006/main"/>
        </p:blipFill>
        <p:spPr>
          <a:xfrm xmlns:a="http://schemas.openxmlformats.org/drawingml/2006/main">
            <a:off x="7803833" y="5724525"/>
            <a:ext cx="213360" cy="266700"/>
          </a:xfrm>
          <a:prstGeom xmlns:a="http://schemas.openxmlformats.org/drawingml/2006/main" prst="rect">
            <a:avLst/>
          </a:prstGeom>
        </p:spPr>
      </p:pic>
      <p:sp>
        <p:nvSpPr>
          <p:cNvPr id="169" name="Text 490: Database">
            <a:extLst xmlns:a="http://schemas.openxmlformats.org/drawingml/2006/main">
              <a:ext uri="{FF2B5EF4-FFF2-40B4-BE49-F238E27FC236}">
                <a16:creationId xmlns:a16="http://schemas.microsoft.com/office/drawing/2014/main" id="{D3EC097E-6574-4E94-82C1-50ED9361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Database</a:t>
            </a:r>
          </a:p>
        </p:txBody>
      </p:sp>
      <p:sp>
        <p:nvSpPr>
          <p:cNvPr id="170" name="Text 491: SQLite (users, reports, msgs)">
            <a:extLst xmlns:a="http://schemas.openxmlformats.org/drawingml/2006/main">
              <a:ext uri="{FF2B5EF4-FFF2-40B4-BE49-F238E27FC236}">
                <a16:creationId xmlns:a16="http://schemas.microsoft.com/office/drawing/2014/main" id="{C0CC8383-79E7-4CF5-BF92-AA8F5AE3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SQLite (users, reports, msgs)</a:t>
            </a:r>
          </a:p>
        </p:txBody>
      </p:sp>
      <p:sp>
        <p:nvSpPr>
          <p:cNvPr id="171" name="Panel 492">
            <a:extLst xmlns:a="http://schemas.openxmlformats.org/drawingml/2006/main">
              <a:ext uri="{FF2B5EF4-FFF2-40B4-BE49-F238E27FC236}">
                <a16:creationId xmlns:a16="http://schemas.microsoft.com/office/drawing/2014/main" id="{3F22C1CC-DBEA-41F7-8945-A4B54C3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638800"/>
            <a:ext cx="1885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2B42"/>
          </a:solidFill>
          <a:ln xmlns:a="http://schemas.openxmlformats.org/drawingml/2006/main" w="3810">
            <a:solidFill>
              <a:srgbClr val="2A465A"/>
            </a:solidFill>
            <a:prstDash val="solid"/>
          </a:ln>
        </p:spPr>
      </p:sp>
      <p:pic>
        <p:nvPicPr>
          <p:cNvPr id="3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cfafb7599455e"/>
          <a:stretch xmlns:a="http://schemas.openxmlformats.org/drawingml/2006/main"/>
        </p:blipFill>
        <p:spPr>
          <a:xfrm xmlns:a="http://schemas.openxmlformats.org/drawingml/2006/main">
            <a:off x="9764977" y="5724525"/>
            <a:ext cx="196321" cy="266700"/>
          </a:xfrm>
          <a:prstGeom xmlns:a="http://schemas.openxmlformats.org/drawingml/2006/main" prst="rect">
            <a:avLst/>
          </a:prstGeom>
        </p:spPr>
      </p:pic>
      <p:sp>
        <p:nvSpPr>
          <p:cNvPr id="173" name="Text 493: Reports">
            <a:extLst xmlns:a="http://schemas.openxmlformats.org/drawingml/2006/main">
              <a:ext uri="{FF2B5EF4-FFF2-40B4-BE49-F238E27FC236}">
                <a16:creationId xmlns:a16="http://schemas.microsoft.com/office/drawing/2014/main" id="{CB2F6425-EF4B-4155-B595-4DCD9531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70547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8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Reports</a:t>
            </a:r>
          </a:p>
        </p:txBody>
      </p:sp>
      <p:sp>
        <p:nvSpPr>
          <p:cNvPr id="174" name="Text 494: jsPDF export">
            <a:extLst xmlns:a="http://schemas.openxmlformats.org/drawingml/2006/main">
              <a:ext uri="{FF2B5EF4-FFF2-40B4-BE49-F238E27FC236}">
                <a16:creationId xmlns:a16="http://schemas.microsoft.com/office/drawing/2014/main" id="{53F59190-4849-4F35-89FE-D5A3922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674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defRPr>
            </a:pPr>
            <a:r>
              <a:rPr sz="548" b="0">
                <a:solidFill>
                  <a:srgbClr val="91B3D0"/>
                </a:solidFill>
                <a:latin typeface="Arial Narrow"/>
                <a:ea typeface="Arial Narrow"/>
                <a:cs typeface="Arial Narrow"/>
              </a:rPr>
              <a:t>jsPDF export</a:t>
            </a:r>
          </a:p>
        </p:txBody>
      </p:sp>
      <p:sp>
        <p:nvSpPr>
          <p:cNvPr id="175" name="Divider 495">
            <a:extLst xmlns:a="http://schemas.openxmlformats.org/drawingml/2006/main">
              <a:ext uri="{FF2B5EF4-FFF2-40B4-BE49-F238E27FC236}">
                <a16:creationId xmlns:a16="http://schemas.microsoft.com/office/drawing/2014/main" id="{4266A242-E9E2-41F3-A274-DA750F4B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6" name="Divider 496">
            <a:extLst xmlns:a="http://schemas.openxmlformats.org/drawingml/2006/main">
              <a:ext uri="{FF2B5EF4-FFF2-40B4-BE49-F238E27FC236}">
                <a16:creationId xmlns:a16="http://schemas.microsoft.com/office/drawing/2014/main" id="{E78E9835-424E-4D49-8BEF-782A63F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7" name="Divider 497">
            <a:extLst xmlns:a="http://schemas.openxmlformats.org/drawingml/2006/main">
              <a:ext uri="{FF2B5EF4-FFF2-40B4-BE49-F238E27FC236}">
                <a16:creationId xmlns:a16="http://schemas.microsoft.com/office/drawing/2014/main" id="{9E57E4CC-5ED7-4E54-AEE4-4ED9CF2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670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78" name="Circle 498">
            <a:extLst xmlns:a="http://schemas.openxmlformats.org/drawingml/2006/main">
              <a:ext uri="{FF2B5EF4-FFF2-40B4-BE49-F238E27FC236}">
                <a16:creationId xmlns:a16="http://schemas.microsoft.com/office/drawing/2014/main" id="{0BD27AD9-8BF9-454D-B6CC-2EACB8D6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79" name="Divider 499">
            <a:extLst xmlns:a="http://schemas.openxmlformats.org/drawingml/2006/main">
              <a:ext uri="{FF2B5EF4-FFF2-40B4-BE49-F238E27FC236}">
                <a16:creationId xmlns:a16="http://schemas.microsoft.com/office/drawing/2014/main" id="{ED2609E8-B97D-4EAC-ABDD-8D08B42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578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0" name="Divider 500">
            <a:extLst xmlns:a="http://schemas.openxmlformats.org/drawingml/2006/main">
              <a:ext uri="{FF2B5EF4-FFF2-40B4-BE49-F238E27FC236}">
                <a16:creationId xmlns:a16="http://schemas.microsoft.com/office/drawing/2014/main" id="{06358678-6F0D-448F-BAFD-A457E03B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1" name="Divider 501">
            <a:extLst xmlns:a="http://schemas.openxmlformats.org/drawingml/2006/main">
              <a:ext uri="{FF2B5EF4-FFF2-40B4-BE49-F238E27FC236}">
                <a16:creationId xmlns:a16="http://schemas.microsoft.com/office/drawing/2014/main" id="{02058DC7-B8A2-4C81-9832-0C2E365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720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2" name="Circle 502">
            <a:extLst xmlns:a="http://schemas.openxmlformats.org/drawingml/2006/main">
              <a:ext uri="{FF2B5EF4-FFF2-40B4-BE49-F238E27FC236}">
                <a16:creationId xmlns:a16="http://schemas.microsoft.com/office/drawing/2014/main" id="{A87AD507-3742-4E27-98A5-AD0D3D8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83" name="Divider 503">
            <a:extLst xmlns:a="http://schemas.openxmlformats.org/drawingml/2006/main">
              <a:ext uri="{FF2B5EF4-FFF2-40B4-BE49-F238E27FC236}">
                <a16:creationId xmlns:a16="http://schemas.microsoft.com/office/drawing/2014/main" id="{8E4E87FC-A29D-4B5D-97D4-8D3C3BB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4384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4" name="Divider 504">
            <a:extLst xmlns:a="http://schemas.openxmlformats.org/drawingml/2006/main">
              <a:ext uri="{FF2B5EF4-FFF2-40B4-BE49-F238E27FC236}">
                <a16:creationId xmlns:a16="http://schemas.microsoft.com/office/drawing/2014/main" id="{E20791F9-3C3D-45AE-B44D-8D1A08BD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4384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5" name="Divider 505">
            <a:extLst xmlns:a="http://schemas.openxmlformats.org/drawingml/2006/main">
              <a:ext uri="{FF2B5EF4-FFF2-40B4-BE49-F238E27FC236}">
                <a16:creationId xmlns:a16="http://schemas.microsoft.com/office/drawing/2014/main" id="{AFAD0DED-A328-467D-A557-AA12E762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86702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6" name="Circle 506">
            <a:extLst xmlns:a="http://schemas.openxmlformats.org/drawingml/2006/main">
              <a:ext uri="{FF2B5EF4-FFF2-40B4-BE49-F238E27FC236}">
                <a16:creationId xmlns:a16="http://schemas.microsoft.com/office/drawing/2014/main" id="{1C03592E-A7F9-4B58-917D-99900CBD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sp>
        <p:nvSpPr>
          <p:cNvPr id="187" name="Divider 507">
            <a:extLst xmlns:a="http://schemas.openxmlformats.org/drawingml/2006/main">
              <a:ext uri="{FF2B5EF4-FFF2-40B4-BE49-F238E27FC236}">
                <a16:creationId xmlns:a16="http://schemas.microsoft.com/office/drawing/2014/main" id="{E2CFC18B-F141-4079-8C89-87A44207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6578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8" name="Divider 508">
            <a:extLst xmlns:a="http://schemas.openxmlformats.org/drawingml/2006/main">
              <a:ext uri="{FF2B5EF4-FFF2-40B4-BE49-F238E27FC236}">
                <a16:creationId xmlns:a16="http://schemas.microsoft.com/office/drawing/2014/main" id="{2BA844C5-F154-42EE-9DFD-6CCE46B9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1720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89" name="Divider 509">
            <a:extLst xmlns:a="http://schemas.openxmlformats.org/drawingml/2006/main">
              <a:ext uri="{FF2B5EF4-FFF2-40B4-BE49-F238E27FC236}">
                <a16:creationId xmlns:a16="http://schemas.microsoft.com/office/drawing/2014/main" id="{25359BD1-AE3D-4D60-9668-BEB7B60D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17207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E7FA"/>
            </a:solidFill>
            <a:prstDash val="solid"/>
          </a:ln>
        </p:spPr>
      </p:sp>
      <p:sp>
        <p:nvSpPr>
          <p:cNvPr id="190" name="Circle 510">
            <a:extLst xmlns:a="http://schemas.openxmlformats.org/drawingml/2006/main">
              <a:ext uri="{FF2B5EF4-FFF2-40B4-BE49-F238E27FC236}">
                <a16:creationId xmlns:a16="http://schemas.microsoft.com/office/drawing/2014/main" id="{FF1B4644-4A8E-43E8-8484-5032085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7FA"/>
          </a:solidFill>
          <a:ln xmlns:a="http://schemas.openxmlformats.org/drawingml/2006/main" w="0">
            <a:noFill/>
          </a:ln>
        </p:spPr>
      </p:sp>
      <p:pic>
        <p:nvPicPr>
          <p:cNvPr id="4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c5ddae558414c"/>
          <a:stretch xmlns:a="http://schemas.openxmlformats.org/drawingml/2006/main"/>
        </p:blipFill>
        <p:spPr>
          <a:xfrm xmlns:a="http://schemas.openxmlformats.org/drawingml/2006/main">
            <a:off x="0" y="6581775"/>
            <a:ext cx="1419225" cy="1905000"/>
          </a:xfrm>
          <a:prstGeom xmlns:a="http://schemas.openxmlformats.org/drawingml/2006/main" prst="rect">
            <a:avLst/>
          </a:prstGeom>
        </p:spPr>
      </p:pic>
      <p:pic>
        <p:nvPicPr>
          <p:cNvPr id="4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6573355aa4d27"/>
          <a:stretch xmlns:a="http://schemas.openxmlformats.org/drawingml/2006/main"/>
        </p:blipFill>
        <p:spPr>
          <a:xfrm xmlns:a="http://schemas.openxmlformats.org/drawingml/2006/main">
            <a:off x="14449425" y="6019800"/>
            <a:ext cx="1476375" cy="2438400"/>
          </a:xfrm>
          <a:prstGeom xmlns:a="http://schemas.openxmlformats.org/drawingml/2006/main" prst="rect">
            <a:avLst/>
          </a:prstGeom>
        </p:spPr>
      </p:pic>
      <p:sp>
        <p:nvSpPr>
          <p:cNvPr id="193" name="Panel 511">
            <a:extLst xmlns:a="http://schemas.openxmlformats.org/drawingml/2006/main">
              <a:ext uri="{FF2B5EF4-FFF2-40B4-BE49-F238E27FC236}">
                <a16:creationId xmlns:a16="http://schemas.microsoft.com/office/drawing/2014/main" id="{B0B7D04C-B584-4113-8ABF-8FD5988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638925"/>
            <a:ext cx="31813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11430">
            <a:solidFill>
              <a:srgbClr val="20E7FA"/>
            </a:solidFill>
            <a:prstDash val="solid"/>
          </a:ln>
        </p:spPr>
      </p:sp>
      <p:sp>
        <p:nvSpPr>
          <p:cNvPr id="194" name="Text 512: W O R K I N G   P R O T O T Y P E">
            <a:extLst xmlns:a="http://schemas.openxmlformats.org/drawingml/2006/main">
              <a:ext uri="{FF2B5EF4-FFF2-40B4-BE49-F238E27FC236}">
                <a16:creationId xmlns:a16="http://schemas.microsoft.com/office/drawing/2014/main" id="{A977E48F-8710-4A73-AAD8-4AC41D6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772275"/>
            <a:ext cx="2676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500" b="1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W O R K I N G   P R O T O T Y P E</a:t>
            </a:r>
          </a:p>
        </p:txBody>
      </p:sp>
      <p:sp>
        <p:nvSpPr>
          <p:cNvPr id="195" name="Divider 513">
            <a:extLst xmlns:a="http://schemas.openxmlformats.org/drawingml/2006/main">
              <a:ext uri="{FF2B5EF4-FFF2-40B4-BE49-F238E27FC236}">
                <a16:creationId xmlns:a16="http://schemas.microsoft.com/office/drawing/2014/main" id="{1F5B3578-68D5-4316-8311-FF13ED2E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67525"/>
            <a:ext cx="1419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196" name="Divider 514">
            <a:extLst xmlns:a="http://schemas.openxmlformats.org/drawingml/2006/main">
              <a:ext uri="{FF2B5EF4-FFF2-40B4-BE49-F238E27FC236}">
                <a16:creationId xmlns:a16="http://schemas.microsoft.com/office/drawing/2014/main" id="{9EC3A8EE-9C64-41FA-AE42-B7FC798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8675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0E7FA"/>
            </a:solidFill>
            <a:prstDash val="solid"/>
          </a:ln>
        </p:spPr>
      </p:sp>
      <p:sp>
        <p:nvSpPr>
          <p:cNvPr id="197" name="Panel 515">
            <a:extLst xmlns:a="http://schemas.openxmlformats.org/drawingml/2006/main">
              <a:ext uri="{FF2B5EF4-FFF2-40B4-BE49-F238E27FC236}">
                <a16:creationId xmlns:a16="http://schemas.microsoft.com/office/drawing/2014/main" id="{68B5A112-1D1A-45E7-B410-2D6A027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210425"/>
            <a:ext cx="12925425" cy="1171575"/>
          </a:xfrm>
          <a:prstGeom xmlns:a="http://schemas.openxmlformats.org/drawingml/2006/main" prst="roundRect">
            <a:avLst>
              <a:gd name="adj" fmla="val 11382"/>
            </a:avLst>
          </a:prstGeom>
          <a:solidFill xmlns:a="http://schemas.openxmlformats.org/drawingml/2006/main">
            <a:srgbClr val="06182A"/>
          </a:solidFill>
          <a:ln xmlns:a="http://schemas.openxmlformats.org/drawingml/2006/main" w="9525">
            <a:solidFill>
              <a:srgbClr val="097B9B"/>
            </a:solidFill>
            <a:prstDash val="solid"/>
          </a:ln>
        </p:spPr>
      </p:sp>
      <p:sp>
        <p:nvSpPr>
          <p:cNvPr id="198" name="Panel 516">
            <a:extLst xmlns:a="http://schemas.openxmlformats.org/drawingml/2006/main">
              <a:ext uri="{FF2B5EF4-FFF2-40B4-BE49-F238E27FC236}">
                <a16:creationId xmlns:a16="http://schemas.microsoft.com/office/drawing/2014/main" id="{C71B1D04-C1D7-41A3-9A9F-3FE59B6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7315200"/>
            <a:ext cx="4048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sp>
        <p:nvSpPr>
          <p:cNvPr id="199" name="Panel 517">
            <a:extLst xmlns:a="http://schemas.openxmlformats.org/drawingml/2006/main">
              <a:ext uri="{FF2B5EF4-FFF2-40B4-BE49-F238E27FC236}">
                <a16:creationId xmlns:a16="http://schemas.microsoft.com/office/drawing/2014/main" id="{403C0DB6-806B-4AEB-A870-C63BDFB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315200"/>
            <a:ext cx="4419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sp>
        <p:nvSpPr>
          <p:cNvPr id="200" name="Panel 518">
            <a:extLst xmlns:a="http://schemas.openxmlformats.org/drawingml/2006/main">
              <a:ext uri="{FF2B5EF4-FFF2-40B4-BE49-F238E27FC236}">
                <a16:creationId xmlns:a16="http://schemas.microsoft.com/office/drawing/2014/main" id="{9C95C5A2-2E54-4718-AC4F-CE12DCC5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15200"/>
            <a:ext cx="40481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61E33"/>
          </a:solidFill>
          <a:ln xmlns:a="http://schemas.openxmlformats.org/drawingml/2006/main" w="9525">
            <a:solidFill>
              <a:srgbClr val="13637B"/>
            </a:solidFill>
            <a:prstDash val="solid"/>
          </a:ln>
        </p:spPr>
      </p:sp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453b0f33b4e25"/>
          <a:stretch xmlns:a="http://schemas.openxmlformats.org/drawingml/2006/main"/>
        </p:blipFill>
        <p:spPr>
          <a:xfrm xmlns:a="http://schemas.openxmlformats.org/drawingml/2006/main">
            <a:off x="1924050" y="7524750"/>
            <a:ext cx="571500" cy="581025"/>
          </a:xfrm>
          <a:prstGeom xmlns:a="http://schemas.openxmlformats.org/drawingml/2006/main" prst="rect">
            <a:avLst/>
          </a:prstGeom>
        </p:spPr>
      </p:pic>
      <p:sp>
        <p:nvSpPr>
          <p:cNvPr id="202" name="Text 519: LIVE PROTOTYPE">
            <a:extLst xmlns:a="http://schemas.openxmlformats.org/drawingml/2006/main">
              <a:ext uri="{FF2B5EF4-FFF2-40B4-BE49-F238E27FC236}">
                <a16:creationId xmlns:a16="http://schemas.microsoft.com/office/drawing/2014/main" id="{D9211C9F-666E-42D1-A262-1D12CC6A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572375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LIVE PROTOTYPE</a:t>
            </a:r>
          </a:p>
        </p:txBody>
      </p:sp>
      <p:sp>
        <p:nvSpPr>
          <p:cNvPr id="203" name="Text 520: athletixai.onrender.com">
            <a:extLst xmlns:a="http://schemas.openxmlformats.org/drawingml/2006/main">
              <a:ext uri="{FF2B5EF4-FFF2-40B4-BE49-F238E27FC236}">
                <a16:creationId xmlns:a16="http://schemas.microsoft.com/office/drawing/2014/main" id="{3C72B3F4-8646-404E-8A9B-18E5E408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886700"/>
            <a:ext cx="2447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64a58ba0afcb45e0"/>
              </a:rPr>
              <a:t>athletixai.onrender.com</a:t>
            </a:r>
          </a:p>
        </p:txBody>
      </p:sp>
      <p:sp>
        <p:nvSpPr>
          <p:cNvPr id="204" name="Text 521: ↗">
            <a:extLst xmlns:a="http://schemas.openxmlformats.org/drawingml/2006/main">
              <a:ext uri="{FF2B5EF4-FFF2-40B4-BE49-F238E27FC236}">
                <a16:creationId xmlns:a16="http://schemas.microsoft.com/office/drawing/2014/main" id="{6D0AF567-21B5-482F-84FC-2296624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78676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↗</a:t>
            </a:r>
          </a:p>
        </p:txBody>
      </p:sp>
      <p:pic>
        <p:nvPicPr>
          <p:cNvPr id="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8ab26f1a74d22"/>
          <a:stretch xmlns:a="http://schemas.openxmlformats.org/drawingml/2006/main"/>
        </p:blipFill>
        <p:spPr>
          <a:xfrm xmlns:a="http://schemas.openxmlformats.org/drawingml/2006/main">
            <a:off x="6153150" y="7524750"/>
            <a:ext cx="552450" cy="571500"/>
          </a:xfrm>
          <a:prstGeom xmlns:a="http://schemas.openxmlformats.org/drawingml/2006/main" prst="rect">
            <a:avLst/>
          </a:prstGeom>
        </p:spPr>
      </p:pic>
      <p:sp>
        <p:nvSpPr>
          <p:cNvPr id="206" name="Text 522: GITHUB REPOSITORY">
            <a:extLst xmlns:a="http://schemas.openxmlformats.org/drawingml/2006/main">
              <a:ext uri="{FF2B5EF4-FFF2-40B4-BE49-F238E27FC236}">
                <a16:creationId xmlns:a16="http://schemas.microsoft.com/office/drawing/2014/main" id="{13D71ABB-2D72-48F1-AAA1-D95755A6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572375"/>
            <a:ext cx="3152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GITHUB REPOSITORY</a:t>
            </a:r>
          </a:p>
        </p:txBody>
      </p:sp>
      <p:sp>
        <p:nvSpPr>
          <p:cNvPr id="207" name="Text 523: github.com/manthandhanraj/AthletixAI">
            <a:extLst xmlns:a="http://schemas.openxmlformats.org/drawingml/2006/main">
              <a:ext uri="{FF2B5EF4-FFF2-40B4-BE49-F238E27FC236}">
                <a16:creationId xmlns:a16="http://schemas.microsoft.com/office/drawing/2014/main" id="{A62B5965-6E71-4D0B-86E0-C82524B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886700"/>
            <a:ext cx="3152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313" b="1">
                <a:solidFill>
                  <a:srgbClr val="FFD044"/>
                </a:solidFill>
                <a:latin typeface="Arial Narrow"/>
                <a:ea typeface="Arial Narrow"/>
                <a:cs typeface="Arial Narrow"/>
                <a:hlinkClick xmlns:r="http://schemas.openxmlformats.org/officeDocument/2006/relationships" r:id="R42c3c35f30564afb"/>
              </a:rPr>
              <a:t>github.com/manthandhanraj/AthletixAI</a:t>
            </a:r>
          </a:p>
        </p:txBody>
      </p:sp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f06a80be94c3e"/>
          <a:stretch xmlns:a="http://schemas.openxmlformats.org/drawingml/2006/main"/>
        </p:blipFill>
        <p:spPr>
          <a:xfrm xmlns:a="http://schemas.openxmlformats.org/drawingml/2006/main">
            <a:off x="10706100" y="7572375"/>
            <a:ext cx="609600" cy="466725"/>
          </a:xfrm>
          <a:prstGeom xmlns:a="http://schemas.openxmlformats.org/drawingml/2006/main" prst="rect">
            <a:avLst/>
          </a:prstGeom>
        </p:spPr>
      </p:pic>
      <p:sp>
        <p:nvSpPr>
          <p:cNvPr id="209" name="Text 524: DEMO VIDEO">
            <a:extLst xmlns:a="http://schemas.openxmlformats.org/drawingml/2006/main">
              <a:ext uri="{FF2B5EF4-FFF2-40B4-BE49-F238E27FC236}">
                <a16:creationId xmlns:a16="http://schemas.microsoft.com/office/drawing/2014/main" id="{AD4465AB-8A4D-4249-9BDD-17BA295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7572375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1">
                <a:solidFill>
                  <a:srgbClr val="F8FAFF"/>
                </a:solidFill>
                <a:latin typeface="Arial Narrow"/>
                <a:ea typeface="Arial Narrow"/>
                <a:cs typeface="Arial Narrow"/>
              </a:rPr>
              <a:t>DEMO VIDEO</a:t>
            </a:r>
          </a:p>
        </p:txBody>
      </p:sp>
      <p:sp>
        <p:nvSpPr>
          <p:cNvPr id="210" name="Text 525: Add YouTube / Drive link">
            <a:extLst xmlns:a="http://schemas.openxmlformats.org/drawingml/2006/main">
              <a:ext uri="{FF2B5EF4-FFF2-40B4-BE49-F238E27FC236}">
                <a16:creationId xmlns:a16="http://schemas.microsoft.com/office/drawing/2014/main" id="{C450EB1E-53FF-4244-9495-21F9C82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7886700"/>
            <a:ext cx="2514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>
                <a:solidFill>
                  <a:srgbClr val="FFD044"/>
                </a:solidFill>
                <a:latin typeface="Arial Narrow"/>
                <a:ea typeface="Arial Narrow"/>
                <a:cs typeface="Arial Narrow"/>
              </a:rPr>
              <a:t>Add YouTube / Drive link</a:t>
            </a:r>
          </a:p>
        </p:txBody>
      </p:sp>
      <p:sp>
        <p:nvSpPr>
          <p:cNvPr id="211" name="Text 526: Research references, not institutional endorsements.">
            <a:extLst xmlns:a="http://schemas.openxmlformats.org/drawingml/2006/main">
              <a:ext uri="{FF2B5EF4-FFF2-40B4-BE49-F238E27FC236}">
                <a16:creationId xmlns:a16="http://schemas.microsoft.com/office/drawing/2014/main" id="{70DB993A-E738-400B-A97D-803B69B0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57250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Research references, not institutional endorsements.</a:t>
            </a:r>
          </a:p>
        </p:txBody>
      </p:sp>
      <p:sp>
        <p:nvSpPr>
          <p:cNvPr id="212" name="Divider 527">
            <a:extLst xmlns:a="http://schemas.openxmlformats.org/drawingml/2006/main">
              <a:ext uri="{FF2B5EF4-FFF2-40B4-BE49-F238E27FC236}">
                <a16:creationId xmlns:a16="http://schemas.microsoft.com/office/drawing/2014/main" id="{494C769D-062A-4DDE-AD8A-FF3B7FB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6772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0E7FA"/>
            </a:solidFill>
            <a:prstDash val="solid"/>
          </a:ln>
        </p:spPr>
      </p:sp>
      <p:sp>
        <p:nvSpPr>
          <p:cNvPr id="213" name="Text 528: A T H L E T E S  T O D A Y.  A  B R I G H T E R  T O M O R R O W.">
            <a:extLst xmlns:a="http://schemas.openxmlformats.org/drawingml/2006/main">
              <a:ext uri="{FF2B5EF4-FFF2-40B4-BE49-F238E27FC236}">
                <a16:creationId xmlns:a16="http://schemas.microsoft.com/office/drawing/2014/main" id="{DEF02A3C-A443-4A75-BFEA-6E02C610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639175"/>
            <a:ext cx="3133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defRPr>
            </a:pPr>
            <a:r>
              <a:rPr sz="600" b="0">
                <a:solidFill>
                  <a:srgbClr val="20E7FA"/>
                </a:solidFill>
                <a:latin typeface="Arial Narrow"/>
                <a:ea typeface="Arial Narrow"/>
                <a:cs typeface="Arial Narrow"/>
              </a:rPr>
              <a:t>A T H L E T E S  T O D A Y.  A  B R I G H T E R  T O M O R R O W.</a:t>
            </a:r>
          </a:p>
        </p:txBody>
      </p:sp>
    </p:spTree>
    <p:extLst>
      <p:ext uri="{BB962C8B-B14F-4D97-AF65-F5344CB8AC3E}">
        <p14:creationId xmlns:p14="http://schemas.microsoft.com/office/powerpoint/2010/main" val="854034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2026-09-29T19:56:19.5170000Z</dcterms:created>
  <dcterms:modified xsi:type="dcterms:W3CDTF">2026-09-29T19:56:19.5170000Z</dcterms:modified>
</coreProperties>
</file>