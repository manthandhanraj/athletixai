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15394c8d684700" /><Relationship Type="http://schemas.openxmlformats.org/officeDocument/2006/relationships/extended-properties" Target="/docProps/app.xml" Id="R34ba056e6c574210" /><Relationship Type="http://schemas.openxmlformats.org/officeDocument/2006/relationships/officeDocument" Target="/ppt/presentation.xml" Id="R4b1a4a80f78b42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d28fd910b746d3"/>
  </p:sldMasterIdLst>
  <p:notesMasterIdLst>
    <p:notesMasterId xmlns:r="http://schemas.openxmlformats.org/officeDocument/2006/relationships" r:id="R85b40b81b3c74262"/>
  </p:notesMasterIdLst>
  <p:sldIdLst>
    <p:sldId xmlns:r="http://schemas.openxmlformats.org/officeDocument/2006/relationships" id="256" r:id="Rc152559a208f449e"/>
    <p:sldId xmlns:r="http://schemas.openxmlformats.org/officeDocument/2006/relationships" id="257" r:id="R0b5eb16742144fc7"/>
    <p:sldId xmlns:r="http://schemas.openxmlformats.org/officeDocument/2006/relationships" id="258" r:id="R8327f61b575946ef"/>
    <p:sldId xmlns:r="http://schemas.openxmlformats.org/officeDocument/2006/relationships" id="259" r:id="R831550d02c804be1"/>
    <p:sldId xmlns:r="http://schemas.openxmlformats.org/officeDocument/2006/relationships" id="260" r:id="Rb428e4ae9c974ec7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e3619d6cb4129" /><Relationship Type="http://schemas.openxmlformats.org/officeDocument/2006/relationships/slideMaster" Target="/ppt/slideMasters/slideMaster1.xml" Id="R2ad28fd910b746d3" /><Relationship Type="http://schemas.openxmlformats.org/officeDocument/2006/relationships/notesMaster" Target="/ppt/notesMasters/notesMaster1.xml" Id="R85b40b81b3c74262" /><Relationship Type="http://schemas.openxmlformats.org/officeDocument/2006/relationships/presProps" Target="/ppt/presProps.xml" Id="R61b4e1f6dc984aa7" /><Relationship Type="http://schemas.openxmlformats.org/officeDocument/2006/relationships/tableStyles" Target="/ppt/tableStyles.xml" Id="R99865eb32fff44d0" /><Relationship Type="http://schemas.openxmlformats.org/officeDocument/2006/relationships/slide" Target="/ppt/slides/slide1.xml" Id="Rc152559a208f449e" /><Relationship Type="http://schemas.openxmlformats.org/officeDocument/2006/relationships/slide" Target="/ppt/slides/slide2.xml" Id="R0b5eb16742144fc7" /><Relationship Type="http://schemas.openxmlformats.org/officeDocument/2006/relationships/slide" Target="/ppt/slides/slide3.xml" Id="R8327f61b575946ef" /><Relationship Type="http://schemas.openxmlformats.org/officeDocument/2006/relationships/slide" Target="/ppt/slides/slide4.xml" Id="R831550d02c804be1" /><Relationship Type="http://schemas.openxmlformats.org/officeDocument/2006/relationships/slide" Target="/ppt/slides/slide5.xml" Id="Rb428e4ae9c97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54d33a95544f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35a058f1e94fdd" /><Relationship Type="http://schemas.openxmlformats.org/officeDocument/2006/relationships/notesMaster" Target="/ppt/notesMasters/notesMaster1.xml" Id="R3b823e04a59947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04303bcc254ed1" /><Relationship Type="http://schemas.openxmlformats.org/officeDocument/2006/relationships/notesMaster" Target="/ppt/notesMasters/notesMaster1.xml" Id="R275d6bff75b144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9327bc33364b6c" /><Relationship Type="http://schemas.openxmlformats.org/officeDocument/2006/relationships/notesMaster" Target="/ppt/notesMasters/notesMaster1.xml" Id="R400320b991c641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6768056adf416c" /><Relationship Type="http://schemas.openxmlformats.org/officeDocument/2006/relationships/notesMaster" Target="/ppt/notesMasters/notesMaster1.xml" Id="R81ae6463a4de4a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f726c45ee24302" /><Relationship Type="http://schemas.openxmlformats.org/officeDocument/2006/relationships/notesMaster" Target="/ppt/notesMasters/notesMaster1.xml" Id="R676ed013d9b6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problem, product description and creators; static/images/auth/athlete-hero.png.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The problem and Features. Problem framing comes from the project brief, not a measured population study..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What it does, Features, Honest limitations; templates/index.html: analyzeVideoFile, reportFromMetrics, renderRecruiter, Compare Athletes; athletix/services/assessment.py.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The complete flow and Features; templates/index.html: analyzeVideoFile quality checks, Reports, Progress, Recruiter Hub, Compare Athletes and Messages; athletix/services/assessment.py; athletix/scoring/client_submitted.py.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APPROACH — IMPLEMENTATION NOTES</a:t>
            </a:r>
          </a:p>
          <a:p xmlns:a="http://schemas.openxmlformats.org/drawingml/2006/main">
            <a:r>
              <a:t>Sources: templates/index.html, ensurePoseModel(), analyzeVideoWithPose(), scoreFromBiomechanicsStrict(); athletix/scoring/contracts.py; athletix/services/assessment.py.</a:t>
            </a:r>
          </a:p>
          <a:p xmlns:a="http://schemas.openxmlformats.org/drawingml/2006/main">
            <a:r>
              <a:t>MediaPipe Tasks Vision 0.10.14 loads the pretrained Pose Landmarker Lite float16 model with the GPU delegate, VIDEO mode and one person. This trained model estimates 33 body landmarks; it is not a model trained to predict athletic talent.</a:t>
            </a:r>
          </a:p>
          <a:p xmlns:a="http://schemas.openxmlformats.org/drawingml/2006/main">
            <a:r>
              <a:t>The uploaded-video path reads a local object URL, limits duration to 180 seconds and samples approximately four frames/second with a 300-frame cap. Features include wrist/ankle displacement, knee/elbow angles, shoulder/hip symmetry, hip movement range and direction-change cadence proxies. These are normalized movement signals, not calibrated physical velocity, force or endurance measurements.</a:t>
            </a:r>
          </a:p>
          <a:p xmlns:a="http://schemas.openxmlformats.org/drawingml/2006/main">
            <a:r>
              <a:t>Strict uploaded-video gates require at least 12 detected frames, at least 20 usable biomechanical frames and detection in at least 40% of sampled frames. Insufficient data prompts recapture. The live-camera path has different scoring/gating behavior; these numerical gates must not be described as universal.</a:t>
            </a:r>
          </a:p>
          <a:p xmlns:a="http://schemas.openxmlformats.org/drawingml/2006/main">
            <a:r>
              <a:t>The strict scorer combines hand-authored formulas with activity scaling, sport category adjustments, and confidence-based upper caps. Representative dynamic-category formula: speed = 20 + (1.05 × peak limb-motion proxy + 7 × cadence proxy) × activity factor. Precision, combat, endurance, lifting and artistic categories emphasize different movement signals. Confidence caps are 78 below 55, 90 below 70, otherwise 99; final outputs are rounded and clamped. No trained performance scoring model or validated prediction accuracy is claimed.</a:t>
            </a:r>
          </a:p>
          <a:p xmlns:a="http://schemas.openxmlformats.org/drawingml/2006/main">
            <a:r>
              <a:t>Five general metric categories are speed, agility, strength, stamina and technique; the interface may relabel them for the selected sport. Uploaded-clip scores and video metadata are submitted to the authenticated Flask backend. The backend validates the metrics and recomputes overall score; it records scoring provenance but marks client-submitted scores as unverified. SQLite persists reports/metrics and metadata, not raw video. Chart.js and jsPDF support progress/comparison visualizations and PDF reports.</a:t>
            </a:r>
          </a:p>
          <a:p xmlns:a="http://schemas.openxmlformats.org/drawingml/2006/main">
            <a:r>
              <a:t>Decorative symbols are extracted from user-supplied AthletixAI reference artwork. All ordinary text, panels, dividers and arrows are native editable PowerPoint objects. Score calibration and real-device validation remain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1d01d81d442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2a1a5089d94a95" /><Relationship Type="http://schemas.openxmlformats.org/officeDocument/2006/relationships/slideLayout" Target="/ppt/slideLayouts/slideLayout1.xml" Id="R04f5719c150e47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5719c150e47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b983c36894ea7" /><Relationship Type="http://schemas.openxmlformats.org/officeDocument/2006/relationships/image" Target="/ppt/media/image.png" Id="Rb5bd2764b83a4d9a" /><Relationship Type="http://schemas.openxmlformats.org/officeDocument/2006/relationships/image" Target="/ppt/media/image2.png" Id="Rc72308a3d25845d2" /><Relationship Type="http://schemas.openxmlformats.org/officeDocument/2006/relationships/hyperlink" Target="https://athletixai.onrender.com" TargetMode="External" Id="R99c265461d674227" /><Relationship Type="http://schemas.openxmlformats.org/officeDocument/2006/relationships/notesSlide" Target="/ppt/notesSlides/notesSlide1.xml" Id="Rd9e598fd3a37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bc42090d140a8" /><Relationship Type="http://schemas.openxmlformats.org/officeDocument/2006/relationships/image" Target="/ppt/media/image3.png" Id="Rede3f32b56b340a8" /><Relationship Type="http://schemas.openxmlformats.org/officeDocument/2006/relationships/image" Target="/ppt/media/image4.png" Id="Rc61fa7ee81704445" /><Relationship Type="http://schemas.openxmlformats.org/officeDocument/2006/relationships/image" Target="/ppt/media/image5.png" Id="Rb228a94db12b4e9e" /><Relationship Type="http://schemas.openxmlformats.org/officeDocument/2006/relationships/image" Target="/ppt/media/image6.png" Id="Rc5033dc2cd194f1d" /><Relationship Type="http://schemas.openxmlformats.org/officeDocument/2006/relationships/image" Target="/ppt/media/image7.png" Id="R4069c9ab925740f0" /><Relationship Type="http://schemas.openxmlformats.org/officeDocument/2006/relationships/image" Target="/ppt/media/image8.png" Id="Rd1a404a837da4b1b" /><Relationship Type="http://schemas.openxmlformats.org/officeDocument/2006/relationships/image" Target="/ppt/media/image9.png" Id="R19640efab8824eda" /><Relationship Type="http://schemas.openxmlformats.org/officeDocument/2006/relationships/image" Target="/ppt/media/image10.png" Id="R35cba08f75d74fcb" /><Relationship Type="http://schemas.openxmlformats.org/officeDocument/2006/relationships/image" Target="/ppt/media/image11.png" Id="Rc986c67154eb489f" /><Relationship Type="http://schemas.openxmlformats.org/officeDocument/2006/relationships/image" Target="/ppt/media/image12.png" Id="R7fd4bfa6d80e4764" /><Relationship Type="http://schemas.openxmlformats.org/officeDocument/2006/relationships/image" Target="/ppt/media/image13.png" Id="R97ef8ae29b854a68" /><Relationship Type="http://schemas.openxmlformats.org/officeDocument/2006/relationships/image" Target="/ppt/media/image14.png" Id="Rf77d7ec15c53458d" /><Relationship Type="http://schemas.openxmlformats.org/officeDocument/2006/relationships/image" Target="/ppt/media/image15.png" Id="R9ccb30af177d4c95" /><Relationship Type="http://schemas.openxmlformats.org/officeDocument/2006/relationships/image" Target="/ppt/media/image16.png" Id="R0568db1f1f644585" /><Relationship Type="http://schemas.openxmlformats.org/officeDocument/2006/relationships/image" Target="/ppt/media/image17.png" Id="Rf47f888bb5dc418e" /><Relationship Type="http://schemas.openxmlformats.org/officeDocument/2006/relationships/image" Target="/ppt/media/image18.png" Id="R8b61e232c0254b4a" /><Relationship Type="http://schemas.openxmlformats.org/officeDocument/2006/relationships/image" Target="/ppt/media/image19.png" Id="R591329b5a23c4ed2" /><Relationship Type="http://schemas.openxmlformats.org/officeDocument/2006/relationships/image" Target="/ppt/media/image20.png" Id="Rb42a098f9e524eb6" /><Relationship Type="http://schemas.openxmlformats.org/officeDocument/2006/relationships/image" Target="/ppt/media/image21.png" Id="Rdf51a444df2d4598" /><Relationship Type="http://schemas.openxmlformats.org/officeDocument/2006/relationships/image" Target="/ppt/media/image22.png" Id="R29c74bed49304ab9" /><Relationship Type="http://schemas.openxmlformats.org/officeDocument/2006/relationships/image" Target="/ppt/media/image23.png" Id="Rfc7d39fa93604b55" /><Relationship Type="http://schemas.openxmlformats.org/officeDocument/2006/relationships/image" Target="/ppt/media/image24.png" Id="R58ead62d70ea4bab" /><Relationship Type="http://schemas.openxmlformats.org/officeDocument/2006/relationships/image" Target="/ppt/media/image25.png" Id="R57a54cf0f38a4d69" /><Relationship Type="http://schemas.openxmlformats.org/officeDocument/2006/relationships/image" Target="/ppt/media/image26.png" Id="R5733664c332643ed" /><Relationship Type="http://schemas.openxmlformats.org/officeDocument/2006/relationships/image" Target="/ppt/media/image27.png" Id="Rf2f668dbfd754a6a" /><Relationship Type="http://schemas.openxmlformats.org/officeDocument/2006/relationships/image" Target="/ppt/media/image28.png" Id="R79e3db24be4c4639" /><Relationship Type="http://schemas.openxmlformats.org/officeDocument/2006/relationships/image" Target="/ppt/media/image29.png" Id="R7bc75bfafcd54986" /><Relationship Type="http://schemas.openxmlformats.org/officeDocument/2006/relationships/image" Target="/ppt/media/image30.png" Id="Ref4e31643546400a" /><Relationship Type="http://schemas.openxmlformats.org/officeDocument/2006/relationships/image" Target="/ppt/media/image31.png" Id="R2b64d8b18aa84bac" /><Relationship Type="http://schemas.openxmlformats.org/officeDocument/2006/relationships/image" Target="/ppt/media/image32.png" Id="R911e4860433c4d6f" /><Relationship Type="http://schemas.openxmlformats.org/officeDocument/2006/relationships/image" Target="/ppt/media/image33.png" Id="Rbec86ff08eeb4bd9" /><Relationship Type="http://schemas.openxmlformats.org/officeDocument/2006/relationships/image" Target="/ppt/media/image34.png" Id="Rbc0cb033b10e4e63" /><Relationship Type="http://schemas.openxmlformats.org/officeDocument/2006/relationships/image" Target="/ppt/media/image35.png" Id="R954cd08d9f7842f9" /><Relationship Type="http://schemas.openxmlformats.org/officeDocument/2006/relationships/image" Target="/ppt/media/image36.png" Id="R2cb29190521f448d" /><Relationship Type="http://schemas.openxmlformats.org/officeDocument/2006/relationships/image" Target="/ppt/media/image37.png" Id="R6575acefb9ac41a9" /><Relationship Type="http://schemas.openxmlformats.org/officeDocument/2006/relationships/image" Target="/ppt/media/image38.png" Id="Rf35f5d8e7ebb4e85" /><Relationship Type="http://schemas.openxmlformats.org/officeDocument/2006/relationships/image" Target="/ppt/media/image39.png" Id="R1e255933227540fb" /><Relationship Type="http://schemas.openxmlformats.org/officeDocument/2006/relationships/hyperlink" Target="https://athletixai.onrender.com" TargetMode="External" Id="R69b684842f9f461e" /><Relationship Type="http://schemas.openxmlformats.org/officeDocument/2006/relationships/notesSlide" Target="/ppt/notesSlides/notesSlide2.xml" Id="Rafcf1293a65b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2f7701165487b" /><Relationship Type="http://schemas.openxmlformats.org/officeDocument/2006/relationships/image" Target="/ppt/media/image40.png" Id="Rbc54f21780c64e4d" /><Relationship Type="http://schemas.openxmlformats.org/officeDocument/2006/relationships/image" Target="/ppt/media/image41.png" Id="Rd40df34b49324bd7" /><Relationship Type="http://schemas.openxmlformats.org/officeDocument/2006/relationships/image" Target="/ppt/media/image42.png" Id="R23b87803461245d7" /><Relationship Type="http://schemas.openxmlformats.org/officeDocument/2006/relationships/image" Target="/ppt/media/image43.png" Id="R32d7bc29463b44ff" /><Relationship Type="http://schemas.openxmlformats.org/officeDocument/2006/relationships/image" Target="/ppt/media/image44.png" Id="R56739e1618714ac2" /><Relationship Type="http://schemas.openxmlformats.org/officeDocument/2006/relationships/image" Target="/ppt/media/image45.png" Id="R57ee19077db040fb" /><Relationship Type="http://schemas.openxmlformats.org/officeDocument/2006/relationships/image" Target="/ppt/media/image46.png" Id="R083b5f591b6d4c6e" /><Relationship Type="http://schemas.openxmlformats.org/officeDocument/2006/relationships/image" Target="/ppt/media/image47.png" Id="R543d86c378044eb4" /><Relationship Type="http://schemas.openxmlformats.org/officeDocument/2006/relationships/image" Target="/ppt/media/image48.png" Id="Rdab58f5d48b4483a" /><Relationship Type="http://schemas.openxmlformats.org/officeDocument/2006/relationships/image" Target="/ppt/media/image49.png" Id="R192aad71b9db4fd8" /><Relationship Type="http://schemas.openxmlformats.org/officeDocument/2006/relationships/image" Target="/ppt/media/image50.png" Id="R2bb90d6455fd4766" /><Relationship Type="http://schemas.openxmlformats.org/officeDocument/2006/relationships/image" Target="/ppt/media/image51.png" Id="Rbb5ee9385d0348c6" /><Relationship Type="http://schemas.openxmlformats.org/officeDocument/2006/relationships/image" Target="/ppt/media/image52.png" Id="R6c2a986b5c1848ab" /><Relationship Type="http://schemas.openxmlformats.org/officeDocument/2006/relationships/image" Target="/ppt/media/image53.png" Id="R31caea58dc1e4878" /><Relationship Type="http://schemas.openxmlformats.org/officeDocument/2006/relationships/image" Target="/ppt/media/image54.png" Id="R1cb67bff76bb499e" /><Relationship Type="http://schemas.openxmlformats.org/officeDocument/2006/relationships/image" Target="/ppt/media/image55.png" Id="R36e8ded2b3d74e1a" /><Relationship Type="http://schemas.openxmlformats.org/officeDocument/2006/relationships/image" Target="/ppt/media/image56.png" Id="R40cdba4ca7484740" /><Relationship Type="http://schemas.openxmlformats.org/officeDocument/2006/relationships/image" Target="/ppt/media/image57.png" Id="R0b732791457f4589" /><Relationship Type="http://schemas.openxmlformats.org/officeDocument/2006/relationships/image" Target="/ppt/media/image58.png" Id="R8945f800c56f4a5d" /><Relationship Type="http://schemas.openxmlformats.org/officeDocument/2006/relationships/image" Target="/ppt/media/image59.png" Id="Rfd9c4a77f20c4111" /><Relationship Type="http://schemas.openxmlformats.org/officeDocument/2006/relationships/image" Target="/ppt/media/image60.png" Id="R1f78eacb8c3c4943" /><Relationship Type="http://schemas.openxmlformats.org/officeDocument/2006/relationships/image" Target="/ppt/media/image61.png" Id="R18698507195845c6" /><Relationship Type="http://schemas.openxmlformats.org/officeDocument/2006/relationships/image" Target="/ppt/media/image62.png" Id="R9009e67db6214cac" /><Relationship Type="http://schemas.openxmlformats.org/officeDocument/2006/relationships/image" Target="/ppt/media/image63.png" Id="Rfb4b9df9f4054abd" /><Relationship Type="http://schemas.openxmlformats.org/officeDocument/2006/relationships/image" Target="/ppt/media/image64.png" Id="Rc4a777fe65114a53" /><Relationship Type="http://schemas.openxmlformats.org/officeDocument/2006/relationships/image" Target="/ppt/media/image65.png" Id="R724d6004e7bd4774" /><Relationship Type="http://schemas.openxmlformats.org/officeDocument/2006/relationships/image" Target="/ppt/media/image66.png" Id="Rc9a6eff4423e44b0" /><Relationship Type="http://schemas.openxmlformats.org/officeDocument/2006/relationships/image" Target="/ppt/media/image67.png" Id="Re59cc14197cd47fd" /><Relationship Type="http://schemas.openxmlformats.org/officeDocument/2006/relationships/image" Target="/ppt/media/image68.png" Id="R932ff7e8ee624465" /><Relationship Type="http://schemas.openxmlformats.org/officeDocument/2006/relationships/image" Target="/ppt/media/image69.png" Id="R67c7575a7ce243a6" /><Relationship Type="http://schemas.openxmlformats.org/officeDocument/2006/relationships/image" Target="/ppt/media/image70.png" Id="R363438b9bde449e5" /><Relationship Type="http://schemas.openxmlformats.org/officeDocument/2006/relationships/image" Target="/ppt/media/image71.png" Id="R589c127694e6484a" /><Relationship Type="http://schemas.openxmlformats.org/officeDocument/2006/relationships/image" Target="/ppt/media/image72.png" Id="R042b4245294c4de1" /><Relationship Type="http://schemas.openxmlformats.org/officeDocument/2006/relationships/image" Target="/ppt/media/image73.png" Id="Rce2efe1400d74bd0" /><Relationship Type="http://schemas.openxmlformats.org/officeDocument/2006/relationships/image" Target="/ppt/media/image74.png" Id="R784974dc030448b2" /><Relationship Type="http://schemas.openxmlformats.org/officeDocument/2006/relationships/image" Target="/ppt/media/image75.png" Id="Rb2a97eddb79d412d" /><Relationship Type="http://schemas.openxmlformats.org/officeDocument/2006/relationships/image" Target="/ppt/media/image76.png" Id="R6c7d25cb291f4747" /><Relationship Type="http://schemas.openxmlformats.org/officeDocument/2006/relationships/hyperlink" Target="https://athletixai.onrender.com" TargetMode="External" Id="Ra177f9f76f32466c" /><Relationship Type="http://schemas.openxmlformats.org/officeDocument/2006/relationships/notesSlide" Target="/ppt/notesSlides/notesSlide3.xml" Id="Ra06bc79ab5d24a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1d823a05a4a53" /><Relationship Type="http://schemas.openxmlformats.org/officeDocument/2006/relationships/image" Target="/ppt/media/image77.png" Id="Rd6561fdc71a44883" /><Relationship Type="http://schemas.openxmlformats.org/officeDocument/2006/relationships/image" Target="/ppt/media/image78.png" Id="R49914d3605534a47" /><Relationship Type="http://schemas.openxmlformats.org/officeDocument/2006/relationships/image" Target="/ppt/media/image79.png" Id="Rda347b396c504ed7" /><Relationship Type="http://schemas.openxmlformats.org/officeDocument/2006/relationships/image" Target="/ppt/media/image80.png" Id="R6db676306b2f4a03" /><Relationship Type="http://schemas.openxmlformats.org/officeDocument/2006/relationships/image" Target="/ppt/media/image81.png" Id="R9ac96c382b434271" /><Relationship Type="http://schemas.openxmlformats.org/officeDocument/2006/relationships/image" Target="/ppt/media/image82.png" Id="R4fff93f400694440" /><Relationship Type="http://schemas.openxmlformats.org/officeDocument/2006/relationships/image" Target="/ppt/media/image83.png" Id="Re0244b5edd234e96" /><Relationship Type="http://schemas.openxmlformats.org/officeDocument/2006/relationships/image" Target="/ppt/media/image84.png" Id="Rd55af9b441fb4abe" /><Relationship Type="http://schemas.openxmlformats.org/officeDocument/2006/relationships/image" Target="/ppt/media/image85.png" Id="Rce5df2949ad14ca0" /><Relationship Type="http://schemas.openxmlformats.org/officeDocument/2006/relationships/image" Target="/ppt/media/image86.png" Id="R325c559e254d48da" /><Relationship Type="http://schemas.openxmlformats.org/officeDocument/2006/relationships/image" Target="/ppt/media/image87.png" Id="R1e422fd7cb164cd9" /><Relationship Type="http://schemas.openxmlformats.org/officeDocument/2006/relationships/image" Target="/ppt/media/image88.png" Id="R8aaeda526cfb4a0b" /><Relationship Type="http://schemas.openxmlformats.org/officeDocument/2006/relationships/image" Target="/ppt/media/image89.png" Id="R16a5ee9cac424b4c" /><Relationship Type="http://schemas.openxmlformats.org/officeDocument/2006/relationships/image" Target="/ppt/media/image90.png" Id="Rc265ee600a484f17" /><Relationship Type="http://schemas.openxmlformats.org/officeDocument/2006/relationships/image" Target="/ppt/media/image91.png" Id="Rdb4063f7efae4a2e" /><Relationship Type="http://schemas.openxmlformats.org/officeDocument/2006/relationships/image" Target="/ppt/media/image92.png" Id="R81d3a3cd2cd44d9d" /><Relationship Type="http://schemas.openxmlformats.org/officeDocument/2006/relationships/image" Target="/ppt/media/image93.png" Id="Rc212c2d46d3b4290" /><Relationship Type="http://schemas.openxmlformats.org/officeDocument/2006/relationships/image" Target="/ppt/media/image94.png" Id="R2dd70b8df7d941c0" /><Relationship Type="http://schemas.openxmlformats.org/officeDocument/2006/relationships/image" Target="/ppt/media/image95.png" Id="Rf482c307b1204adb" /><Relationship Type="http://schemas.openxmlformats.org/officeDocument/2006/relationships/image" Target="/ppt/media/image96.png" Id="R0a040517eb9749b9" /><Relationship Type="http://schemas.openxmlformats.org/officeDocument/2006/relationships/image" Target="/ppt/media/image97.png" Id="R317929a0a5864c45" /><Relationship Type="http://schemas.openxmlformats.org/officeDocument/2006/relationships/image" Target="/ppt/media/image98.png" Id="R055b61e845044d78" /><Relationship Type="http://schemas.openxmlformats.org/officeDocument/2006/relationships/image" Target="/ppt/media/image99.png" Id="R209dfc11e7644b4b" /><Relationship Type="http://schemas.openxmlformats.org/officeDocument/2006/relationships/image" Target="/ppt/media/image100.png" Id="Raae26a8fa45d4456" /><Relationship Type="http://schemas.openxmlformats.org/officeDocument/2006/relationships/image" Target="/ppt/media/image101.png" Id="Rc53ed2462e6948d1" /><Relationship Type="http://schemas.openxmlformats.org/officeDocument/2006/relationships/image" Target="/ppt/media/image102.png" Id="R97045b6f50ef458b" /><Relationship Type="http://schemas.openxmlformats.org/officeDocument/2006/relationships/image" Target="/ppt/media/image103.png" Id="Rc3ef1de994734619" /><Relationship Type="http://schemas.openxmlformats.org/officeDocument/2006/relationships/image" Target="/ppt/media/image104.png" Id="R502eec1a1dc74c17" /><Relationship Type="http://schemas.openxmlformats.org/officeDocument/2006/relationships/image" Target="/ppt/media/image105.png" Id="R3ba65255630b4702" /><Relationship Type="http://schemas.openxmlformats.org/officeDocument/2006/relationships/image" Target="/ppt/media/image106.png" Id="Rde37797f31e94304" /><Relationship Type="http://schemas.openxmlformats.org/officeDocument/2006/relationships/image" Target="/ppt/media/image107.png" Id="R5278f45aa32f4042" /><Relationship Type="http://schemas.openxmlformats.org/officeDocument/2006/relationships/image" Target="/ppt/media/image108.png" Id="Rfa260657bf60441c" /><Relationship Type="http://schemas.openxmlformats.org/officeDocument/2006/relationships/image" Target="/ppt/media/image109.png" Id="Rce886d9fcb2b4a7f" /><Relationship Type="http://schemas.openxmlformats.org/officeDocument/2006/relationships/image" Target="/ppt/media/image110.png" Id="Rbcf4a4b6833442ec" /><Relationship Type="http://schemas.openxmlformats.org/officeDocument/2006/relationships/image" Target="/ppt/media/image111.png" Id="R9cd18f595efa40de" /><Relationship Type="http://schemas.openxmlformats.org/officeDocument/2006/relationships/image" Target="/ppt/media/image112.png" Id="R51838556bf844aa9" /><Relationship Type="http://schemas.openxmlformats.org/officeDocument/2006/relationships/image" Target="/ppt/media/image113.png" Id="Rf3b0e0e2bd70479b" /><Relationship Type="http://schemas.openxmlformats.org/officeDocument/2006/relationships/image" Target="/ppt/media/image114.png" Id="Rd3ce7ba872d14a3f" /><Relationship Type="http://schemas.openxmlformats.org/officeDocument/2006/relationships/image" Target="/ppt/media/image115.png" Id="R74d7a3b2468a4759" /><Relationship Type="http://schemas.openxmlformats.org/officeDocument/2006/relationships/image" Target="/ppt/media/image116.png" Id="R53494bb75ab24bc7" /><Relationship Type="http://schemas.openxmlformats.org/officeDocument/2006/relationships/hyperlink" Target="https://athletixai.onrender.com" TargetMode="External" Id="Reb8fa332e5124f05" /><Relationship Type="http://schemas.openxmlformats.org/officeDocument/2006/relationships/notesSlide" Target="/ppt/notesSlides/notesSlide4.xml" Id="R4d9ef8635a594a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4348c17ef4aa4" /><Relationship Type="http://schemas.openxmlformats.org/officeDocument/2006/relationships/image" Target="/ppt/media/image117.png" Id="R8d5dc64551c44e45" /><Relationship Type="http://schemas.openxmlformats.org/officeDocument/2006/relationships/image" Target="/ppt/media/image118.png" Id="R19d532ff5d0f4bfc" /><Relationship Type="http://schemas.openxmlformats.org/officeDocument/2006/relationships/image" Target="/ppt/media/image119.png" Id="Ra5aa4896e61a4b09" /><Relationship Type="http://schemas.openxmlformats.org/officeDocument/2006/relationships/image" Target="/ppt/media/image120.png" Id="R815ed9c3715841bc" /><Relationship Type="http://schemas.openxmlformats.org/officeDocument/2006/relationships/image" Target="/ppt/media/image121.png" Id="Ra42b585ebe40451e" /><Relationship Type="http://schemas.openxmlformats.org/officeDocument/2006/relationships/image" Target="/ppt/media/image122.png" Id="R06fdc850a76f459b" /><Relationship Type="http://schemas.openxmlformats.org/officeDocument/2006/relationships/image" Target="/ppt/media/image123.png" Id="R0bcc570d80784d50" /><Relationship Type="http://schemas.openxmlformats.org/officeDocument/2006/relationships/image" Target="/ppt/media/image124.png" Id="Ra1e49eea5673417a" /><Relationship Type="http://schemas.openxmlformats.org/officeDocument/2006/relationships/image" Target="/ppt/media/image125.png" Id="R5a5768ed049f4f20" /><Relationship Type="http://schemas.openxmlformats.org/officeDocument/2006/relationships/image" Target="/ppt/media/image126.png" Id="Reaebb57d940c4f11" /><Relationship Type="http://schemas.openxmlformats.org/officeDocument/2006/relationships/image" Target="/ppt/media/image127.png" Id="R49da42ac1e7a4b4d" /><Relationship Type="http://schemas.openxmlformats.org/officeDocument/2006/relationships/image" Target="/ppt/media/image128.png" Id="R969ddbce3d1a4b45" /><Relationship Type="http://schemas.openxmlformats.org/officeDocument/2006/relationships/image" Target="/ppt/media/image129.png" Id="R558765fe01f341fb" /><Relationship Type="http://schemas.openxmlformats.org/officeDocument/2006/relationships/image" Target="/ppt/media/image130.png" Id="Rfe4e2cd7458b47c7" /><Relationship Type="http://schemas.openxmlformats.org/officeDocument/2006/relationships/image" Target="/ppt/media/image131.png" Id="R7cd286b2bf0b4646" /><Relationship Type="http://schemas.openxmlformats.org/officeDocument/2006/relationships/image" Target="/ppt/media/image132.png" Id="R2b1ef89c5bbd4e42" /><Relationship Type="http://schemas.openxmlformats.org/officeDocument/2006/relationships/image" Target="/ppt/media/image133.png" Id="R3c8d1a47de004dae" /><Relationship Type="http://schemas.openxmlformats.org/officeDocument/2006/relationships/image" Target="/ppt/media/image134.png" Id="R5ae40e2e990a427c" /><Relationship Type="http://schemas.openxmlformats.org/officeDocument/2006/relationships/image" Target="/ppt/media/image135.png" Id="R05697688f7ff421b" /><Relationship Type="http://schemas.openxmlformats.org/officeDocument/2006/relationships/image" Target="/ppt/media/image136.png" Id="R22c5e34958a146ca" /><Relationship Type="http://schemas.openxmlformats.org/officeDocument/2006/relationships/image" Target="/ppt/media/image137.png" Id="R91c2c4248af146c6" /><Relationship Type="http://schemas.openxmlformats.org/officeDocument/2006/relationships/image" Target="/ppt/media/image138.png" Id="Rf467aea72eeb440b" /><Relationship Type="http://schemas.openxmlformats.org/officeDocument/2006/relationships/image" Target="/ppt/media/image139.png" Id="R56c1276a83364db7" /><Relationship Type="http://schemas.openxmlformats.org/officeDocument/2006/relationships/image" Target="/ppt/media/image140.png" Id="Rd2ba44d6c9c142d4" /><Relationship Type="http://schemas.openxmlformats.org/officeDocument/2006/relationships/image" Target="/ppt/media/image141.png" Id="Rbbded339de7b4265" /><Relationship Type="http://schemas.openxmlformats.org/officeDocument/2006/relationships/image" Target="/ppt/media/image142.png" Id="R4190faa99dab40a6" /><Relationship Type="http://schemas.openxmlformats.org/officeDocument/2006/relationships/image" Target="/ppt/media/image143.png" Id="Rc3adbde252d545ae" /><Relationship Type="http://schemas.openxmlformats.org/officeDocument/2006/relationships/image" Target="/ppt/media/image144.png" Id="Rbcea6bf332434cd0" /><Relationship Type="http://schemas.openxmlformats.org/officeDocument/2006/relationships/image" Target="/ppt/media/image145.png" Id="R6927575ebf9641b4" /><Relationship Type="http://schemas.openxmlformats.org/officeDocument/2006/relationships/image" Target="/ppt/media/image146.png" Id="R6d15fe87e42e4dcb" /><Relationship Type="http://schemas.openxmlformats.org/officeDocument/2006/relationships/image" Target="/ppt/media/image147.png" Id="R671bbe1123984f0c" /><Relationship Type="http://schemas.openxmlformats.org/officeDocument/2006/relationships/image" Target="/ppt/media/image148.png" Id="Rf0a6fcaf52944b47" /><Relationship Type="http://schemas.openxmlformats.org/officeDocument/2006/relationships/image" Target="/ppt/media/image149.png" Id="Re41c9bed649a4714" /><Relationship Type="http://schemas.openxmlformats.org/officeDocument/2006/relationships/image" Target="/ppt/media/image150.png" Id="Rc2d64860bb18447c" /><Relationship Type="http://schemas.openxmlformats.org/officeDocument/2006/relationships/image" Target="/ppt/media/image151.png" Id="Ra2be6ef19f0d4d2a" /><Relationship Type="http://schemas.openxmlformats.org/officeDocument/2006/relationships/image" Target="/ppt/media/image152.png" Id="R20c49f1f5ea64064" /><Relationship Type="http://schemas.openxmlformats.org/officeDocument/2006/relationships/image" Target="/ppt/media/image153.png" Id="R36880f1afa524a5d" /><Relationship Type="http://schemas.openxmlformats.org/officeDocument/2006/relationships/image" Target="/ppt/media/image154.png" Id="R6ce1a2ee33c74cfa" /><Relationship Type="http://schemas.openxmlformats.org/officeDocument/2006/relationships/image" Target="/ppt/media/image155.png" Id="R47d703ef18154950" /><Relationship Type="http://schemas.openxmlformats.org/officeDocument/2006/relationships/image" Target="/ppt/media/image156.png" Id="Rbdaae7f537cb46bb" /><Relationship Type="http://schemas.openxmlformats.org/officeDocument/2006/relationships/image" Target="/ppt/media/image157.png" Id="R0e14c21ace2744cc" /><Relationship Type="http://schemas.openxmlformats.org/officeDocument/2006/relationships/image" Target="/ppt/media/image158.png" Id="R4fc8b5029b384b6d" /><Relationship Type="http://schemas.openxmlformats.org/officeDocument/2006/relationships/image" Target="/ppt/media/image159.png" Id="R25136e470fc14957" /><Relationship Type="http://schemas.openxmlformats.org/officeDocument/2006/relationships/hyperlink" Target="https://athletixai.onrender.com" TargetMode="External" Id="R3fba3f1d5f964b07" /><Relationship Type="http://schemas.openxmlformats.org/officeDocument/2006/relationships/notesSlide" Target="/ppt/notesSlides/notesSlide5.xml" Id="Rd6619da016d245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d2764b83a4d9a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308a3d25845d2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" name="Text 1: AthletixAI">
            <a:extLst xmlns:a="http://schemas.openxmlformats.org/drawingml/2006/main">
              <a:ext uri="{FF2B5EF4-FFF2-40B4-BE49-F238E27FC236}">
                <a16:creationId xmlns:a16="http://schemas.microsoft.com/office/drawing/2014/main" id="{27B051EA-E8E2-40CD-8111-C88A89D3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" name="Text 2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B11227C1-AE55-4FF1-A3DB-FAE4B291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5" name="Panel 3">
            <a:extLst xmlns:a="http://schemas.openxmlformats.org/drawingml/2006/main">
              <a:ext uri="{FF2B5EF4-FFF2-40B4-BE49-F238E27FC236}">
                <a16:creationId xmlns:a16="http://schemas.microsoft.com/office/drawing/2014/main" id="{28123CF8-7876-4A65-9430-08DB3857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33375"/>
            <a:ext cx="2667000" cy="409575"/>
          </a:xfrm>
          <a:prstGeom xmlns:a="http://schemas.openxmlformats.org/drawingml/2006/main" prst="roundRect">
            <a:avLst>
              <a:gd name="adj" fmla="val 30233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sp>
        <p:nvSpPr>
          <p:cNvPr id="6" name="Text 4: WORKING PROTOTYPE">
            <a:extLst xmlns:a="http://schemas.openxmlformats.org/drawingml/2006/main">
              <a:ext uri="{FF2B5EF4-FFF2-40B4-BE49-F238E27FC236}">
                <a16:creationId xmlns:a16="http://schemas.microsoft.com/office/drawing/2014/main" id="{345AF2CB-A73F-49FC-B23A-B2E322E3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9100"/>
            <a:ext cx="2276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WORKING PROTOTYPE</a:t>
            </a:r>
          </a:p>
        </p:txBody>
      </p:sp>
      <p:sp>
        <p:nvSpPr>
          <p:cNvPr id="7" name="Text 5: ATHLETE ASSESSMENT &amp; COACH DISCOVERY">
            <a:extLst xmlns:a="http://schemas.openxmlformats.org/drawingml/2006/main">
              <a:ext uri="{FF2B5EF4-FFF2-40B4-BE49-F238E27FC236}">
                <a16:creationId xmlns:a16="http://schemas.microsoft.com/office/drawing/2014/main" id="{FCE688F2-4513-4738-8A41-78709BBD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ATHLETE ASSESSMENT &amp; COACH DISCOVERY</a:t>
            </a:r>
          </a:p>
        </p:txBody>
      </p:sp>
      <p:sp>
        <p:nvSpPr>
          <p:cNvPr id="8" name="Text 6: AthletixAI">
            <a:extLst xmlns:a="http://schemas.openxmlformats.org/drawingml/2006/main">
              <a:ext uri="{FF2B5EF4-FFF2-40B4-BE49-F238E27FC236}">
                <a16:creationId xmlns:a16="http://schemas.microsoft.com/office/drawing/2014/main" id="{641698A2-B51D-444A-893E-5C2D1DD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1042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1042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9" name="Text 7: AI SPORTS TALENT PLATFORM">
            <a:extLst xmlns:a="http://schemas.openxmlformats.org/drawingml/2006/main">
              <a:ext uri="{FF2B5EF4-FFF2-40B4-BE49-F238E27FC236}">
                <a16:creationId xmlns:a16="http://schemas.microsoft.com/office/drawing/2014/main" id="{5E65F671-E67B-4E5C-B4F2-8F57A93C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SPORTS TALENT PLATFORM</a:t>
            </a:r>
          </a:p>
        </p:txBody>
      </p:sp>
      <p:sp>
        <p:nvSpPr>
          <p:cNvPr id="10" name="Divider 8">
            <a:extLst xmlns:a="http://schemas.openxmlformats.org/drawingml/2006/main">
              <a:ext uri="{FF2B5EF4-FFF2-40B4-BE49-F238E27FC236}">
                <a16:creationId xmlns:a16="http://schemas.microsoft.com/office/drawing/2014/main" id="{AFD24C64-91EF-4D9C-B3AC-27CDD920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E7FA"/>
            </a:solidFill>
            <a:prstDash val="solid"/>
          </a:ln>
        </p:spPr>
      </p:sp>
      <p:sp>
        <p:nvSpPr>
          <p:cNvPr id="11" name="Text 9: Phone-based movement assessment for athletes and coaches.">
            <a:extLst xmlns:a="http://schemas.openxmlformats.org/drawingml/2006/main">
              <a:ext uri="{FF2B5EF4-FFF2-40B4-BE49-F238E27FC236}">
                <a16:creationId xmlns:a16="http://schemas.microsoft.com/office/drawing/2014/main" id="{213EA7A4-6A73-46B4-AF41-2183C91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76581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Phone-based movement assessment</a:t>
            </a:r>
          </a:p>
          <a:p xmlns:a="http://schemas.openxmlformats.org/drawingml/2006/main">
            <a:pPr algn="l">
              <a:defRPr sz="27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for athletes and coaches.</a:t>
            </a:r>
          </a:p>
        </p:txBody>
      </p:sp>
      <p:sp>
        <p:nvSpPr>
          <p:cNvPr id="12" name="Text 10: BUILT BY">
            <a:extLst xmlns:a="http://schemas.openxmlformats.org/drawingml/2006/main">
              <a:ext uri="{FF2B5EF4-FFF2-40B4-BE49-F238E27FC236}">
                <a16:creationId xmlns:a16="http://schemas.microsoft.com/office/drawing/2014/main" id="{98CE4C00-4A24-4A1B-979D-A8E7CB46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67525"/>
            <a:ext cx="666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BUILT BY</a:t>
            </a:r>
          </a:p>
        </p:txBody>
      </p:sp>
      <p:sp>
        <p:nvSpPr>
          <p:cNvPr id="13" name="Text 11: Archita Tripathi &amp; Manthan Dhanraj">
            <a:extLst xmlns:a="http://schemas.openxmlformats.org/drawingml/2006/main">
              <a:ext uri="{FF2B5EF4-FFF2-40B4-BE49-F238E27FC236}">
                <a16:creationId xmlns:a16="http://schemas.microsoft.com/office/drawing/2014/main" id="{5DA69652-EB56-4A51-9321-E0A90B91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0425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Archita Tripathi &amp; Manthan Dhanraj</a:t>
            </a:r>
          </a:p>
        </p:txBody>
      </p:sp>
      <p:sp>
        <p:nvSpPr>
          <p:cNvPr id="14" name="Panel 12">
            <a:extLst xmlns:a="http://schemas.openxmlformats.org/drawingml/2006/main">
              <a:ext uri="{FF2B5EF4-FFF2-40B4-BE49-F238E27FC236}">
                <a16:creationId xmlns:a16="http://schemas.microsoft.com/office/drawing/2014/main" id="{9A29C799-A97D-4F6D-ADB2-0349F890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31C2D"/>
          </a:solidFill>
          <a:ln xmlns:a="http://schemas.openxmlformats.org/drawingml/2006/main" w="14288">
            <a:solidFill>
              <a:srgbClr val="20E7FA"/>
            </a:solidFill>
            <a:prstDash val="solid"/>
          </a:ln>
        </p:spPr>
      </p:sp>
      <p:sp>
        <p:nvSpPr>
          <p:cNvPr id="15" name="Text 13: PRIVATE VIDEO. VISIBLE PROGRESS.">
            <a:extLst xmlns:a="http://schemas.openxmlformats.org/drawingml/2006/main">
              <a:ext uri="{FF2B5EF4-FFF2-40B4-BE49-F238E27FC236}">
                <a16:creationId xmlns:a16="http://schemas.microsoft.com/office/drawing/2014/main" id="{B1C9D260-4DFA-476E-8CE4-75A15BE1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20100"/>
            <a:ext cx="938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PRIVATE VIDEO. VISIBLE PROGRESS.</a:t>
            </a:r>
          </a:p>
        </p:txBody>
      </p:sp>
      <p:sp>
        <p:nvSpPr>
          <p:cNvPr id="16" name="Text 14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0EE2C7E9-DC82-4E33-9D9F-8489F38B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841057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99c265461d674227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767483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3f32b56b340a8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fa7ee81704445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8a94db12b4e9e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33dc2cd194f1d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9c9ab925740f0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404a837da4b1b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40efab8824eda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ba08f75d74fcb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6c67154eb489f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4bfa6d80e4764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f8ae29b854a68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d7ec15c53458d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b30af177d4c95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8db1f1f644585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f888bb5dc418e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1e232c0254b4a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329b5a23c4ed2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a098f9e524eb6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1a444df2d4598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74bed49304ab9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d39fa93604b55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ad62d70ea4bab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54cf0f38a4d69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3664c332643ed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668dbfd754a6a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3db24be4c4639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75bfafcd54986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e31643546400a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4d8b18aa84bac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e4860433c4d6f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86ff08eeb4bd9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cb033b10e4e63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15: AthletixAI">
            <a:extLst xmlns:a="http://schemas.openxmlformats.org/drawingml/2006/main">
              <a:ext uri="{FF2B5EF4-FFF2-40B4-BE49-F238E27FC236}">
                <a16:creationId xmlns:a16="http://schemas.microsoft.com/office/drawing/2014/main" id="{97728969-FB72-4504-8B4E-28F62050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16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5051829D-0E91-4AE8-BCA8-D9EC56AB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17: PROBLEM STATEMENT">
            <a:extLst xmlns:a="http://schemas.openxmlformats.org/drawingml/2006/main">
              <a:ext uri="{FF2B5EF4-FFF2-40B4-BE49-F238E27FC236}">
                <a16:creationId xmlns:a16="http://schemas.microsoft.com/office/drawing/2014/main" id="{8A72657B-0088-46D5-80F0-D3133A62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19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PROBLEM STATEMENT</a:t>
            </a:r>
          </a:p>
        </p:txBody>
      </p:sp>
      <p:sp>
        <p:nvSpPr>
          <p:cNvPr id="36" name="Text 18: Challenges AthletixAI is designed to address">
            <a:extLst xmlns:a="http://schemas.openxmlformats.org/drawingml/2006/main">
              <a:ext uri="{FF2B5EF4-FFF2-40B4-BE49-F238E27FC236}">
                <a16:creationId xmlns:a16="http://schemas.microsoft.com/office/drawing/2014/main" id="{6A944798-DFED-4B25-9DA9-8F459A7D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9532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Challenges AthletixAI is designed to address</a:t>
            </a:r>
          </a:p>
        </p:txBody>
      </p:sp>
      <p:sp>
        <p:nvSpPr>
          <p:cNvPr id="37" name="Panel 19">
            <a:extLst xmlns:a="http://schemas.openxmlformats.org/drawingml/2006/main">
              <a:ext uri="{FF2B5EF4-FFF2-40B4-BE49-F238E27FC236}">
                <a16:creationId xmlns:a16="http://schemas.microsoft.com/office/drawing/2014/main" id="{FB526EDD-ACBE-465A-A047-D0FA49B0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362075"/>
            <a:ext cx="4495800" cy="6657975"/>
          </a:xfrm>
          <a:prstGeom xmlns:a="http://schemas.openxmlformats.org/drawingml/2006/main" prst="roundRect">
            <a:avLst>
              <a:gd name="adj" fmla="val 339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38" name="Text 20: TALENT CAN BE HARD TO SEE">
            <a:extLst xmlns:a="http://schemas.openxmlformats.org/drawingml/2006/main">
              <a:ext uri="{FF2B5EF4-FFF2-40B4-BE49-F238E27FC236}">
                <a16:creationId xmlns:a16="http://schemas.microsoft.com/office/drawing/2014/main" id="{3E569E0F-3899-4901-BFEE-17BFF904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39052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TALENT CAN BE</a:t>
            </a:r>
          </a:p>
          <a:p xmlns:a="http://schemas.openxmlformats.org/drawingml/2006/main">
            <a:pPr algn="l">
              <a:def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HARD TO SEE</a:t>
            </a:r>
          </a:p>
        </p:txBody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cd08d9f7842f9"/>
          <a:stretch xmlns:a="http://schemas.openxmlformats.org/drawingml/2006/main"/>
        </p:blipFill>
        <p:spPr>
          <a:xfrm xmlns:a="http://schemas.openxmlformats.org/drawingml/2006/main">
            <a:off x="457200" y="3267266"/>
            <a:ext cx="4095750" cy="1809367"/>
          </a:xfrm>
          <a:prstGeom xmlns:a="http://schemas.openxmlformats.org/drawingml/2006/main" prst="rect">
            <a:avLst/>
          </a:prstGeom>
        </p:spPr>
      </p:pic>
      <p:sp>
        <p:nvSpPr>
          <p:cNvPr id="40" name="Text 21: How can athletes show progress and reach coaches beyond local tra">
            <a:extLst xmlns:a="http://schemas.openxmlformats.org/drawingml/2006/main">
              <a:ext uri="{FF2B5EF4-FFF2-40B4-BE49-F238E27FC236}">
                <a16:creationId xmlns:a16="http://schemas.microsoft.com/office/drawing/2014/main" id="{2DB56F86-31E2-4D5B-9600-934AADFC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38290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How can athletes show progress</a:t>
            </a:r>
          </a:p>
          <a:p xmlns:a="http://schemas.openxmlformats.org/drawingml/2006/main">
            <a:pPr algn="l">
              <a:def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reach coaches beyond</a:t>
            </a:r>
          </a:p>
          <a:p xmlns:a="http://schemas.openxmlformats.org/drawingml/2006/main">
            <a:pPr algn="l">
              <a:def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local training environments?</a:t>
            </a:r>
          </a:p>
        </p:txBody>
      </p:sp>
      <p:sp>
        <p:nvSpPr>
          <p:cNvPr id="41" name="Divider 22">
            <a:extLst xmlns:a="http://schemas.openxmlformats.org/drawingml/2006/main">
              <a:ext uri="{FF2B5EF4-FFF2-40B4-BE49-F238E27FC236}">
                <a16:creationId xmlns:a16="http://schemas.microsoft.com/office/drawing/2014/main" id="{FF3EE6DE-C5A1-4714-ABA1-32E8A125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67550"/>
            <a:ext cx="382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F6386"/>
            </a:solidFill>
            <a:prstDash val="solid"/>
          </a:ln>
        </p:spPr>
      </p:sp>
      <p:sp>
        <p:nvSpPr>
          <p:cNvPr id="42" name="Text 23: Accessible assessment. Evidence coaches can review.">
            <a:extLst xmlns:a="http://schemas.openxmlformats.org/drawingml/2006/main">
              <a:ext uri="{FF2B5EF4-FFF2-40B4-BE49-F238E27FC236}">
                <a16:creationId xmlns:a16="http://schemas.microsoft.com/office/drawing/2014/main" id="{C0804CA9-3830-4A5A-A542-135E2163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05675"/>
            <a:ext cx="3781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Accessible assessment.</a:t>
            </a:r>
          </a:p>
          <a:p xmlns:a="http://schemas.openxmlformats.org/drawingml/2006/main">
            <a:pPr algn="l">
              <a:def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Evidence coaches can review.</a:t>
            </a:r>
          </a:p>
        </p:txBody>
      </p:sp>
      <p:sp>
        <p:nvSpPr>
          <p:cNvPr id="43" name="Panel 24">
            <a:extLst xmlns:a="http://schemas.openxmlformats.org/drawingml/2006/main">
              <a:ext uri="{FF2B5EF4-FFF2-40B4-BE49-F238E27FC236}">
                <a16:creationId xmlns:a16="http://schemas.microsoft.com/office/drawing/2014/main" id="{99CE4F78-4A3D-4E5C-92FC-8189CDFA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62075"/>
            <a:ext cx="51816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4" name="Section number 25">
            <a:extLst xmlns:a="http://schemas.openxmlformats.org/drawingml/2006/main">
              <a:ext uri="{FF2B5EF4-FFF2-40B4-BE49-F238E27FC236}">
                <a16:creationId xmlns:a16="http://schemas.microsoft.com/office/drawing/2014/main" id="{8EA6EB8D-7CF5-4116-9BE4-DDFF6359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525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5" name="Text 26: 01">
            <a:extLst xmlns:a="http://schemas.openxmlformats.org/drawingml/2006/main">
              <a:ext uri="{FF2B5EF4-FFF2-40B4-BE49-F238E27FC236}">
                <a16:creationId xmlns:a16="http://schemas.microsoft.com/office/drawing/2014/main" id="{56A4555E-03AE-444C-8BC1-1140415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29190521f448d"/>
          <a:stretch xmlns:a="http://schemas.openxmlformats.org/drawingml/2006/main"/>
        </p:blipFill>
        <p:spPr>
          <a:xfrm xmlns:a="http://schemas.openxmlformats.org/drawingml/2006/main">
            <a:off x="5314950" y="2497476"/>
            <a:ext cx="1266825" cy="1015323"/>
          </a:xfrm>
          <a:prstGeom xmlns:a="http://schemas.openxmlformats.org/drawingml/2006/main" prst="rect">
            <a:avLst/>
          </a:prstGeom>
        </p:spPr>
      </p:pic>
      <p:sp>
        <p:nvSpPr>
          <p:cNvPr id="47" name="Text 27: ACCESS TO ASSESSMENT">
            <a:extLst xmlns:a="http://schemas.openxmlformats.org/drawingml/2006/main">
              <a:ext uri="{FF2B5EF4-FFF2-40B4-BE49-F238E27FC236}">
                <a16:creationId xmlns:a16="http://schemas.microsoft.com/office/drawing/2014/main" id="{BD7EEF5C-D818-496C-A19E-54635492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28875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ACCESS TO ASSESSMENT</a:t>
            </a:r>
          </a:p>
        </p:txBody>
      </p:sp>
      <p:sp>
        <p:nvSpPr>
          <p:cNvPr id="48" name="Text 28: Specialist setups and in-person reviews can be hard to access.">
            <a:extLst xmlns:a="http://schemas.openxmlformats.org/drawingml/2006/main">
              <a:ext uri="{FF2B5EF4-FFF2-40B4-BE49-F238E27FC236}">
                <a16:creationId xmlns:a16="http://schemas.microsoft.com/office/drawing/2014/main" id="{378DAAE3-D437-45C2-B1B6-D3780F4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38500"/>
            <a:ext cx="31718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Specialist setups and in-person</a:t>
            </a:r>
          </a:p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reviews can be hard to access.</a:t>
            </a:r>
          </a:p>
        </p:txBody>
      </p:sp>
      <p:sp>
        <p:nvSpPr>
          <p:cNvPr id="49" name="Panel 29">
            <a:extLst xmlns:a="http://schemas.openxmlformats.org/drawingml/2006/main">
              <a:ext uri="{FF2B5EF4-FFF2-40B4-BE49-F238E27FC236}">
                <a16:creationId xmlns:a16="http://schemas.microsoft.com/office/drawing/2014/main" id="{EEA13A78-9040-45A3-BEB5-E552102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62075"/>
            <a:ext cx="51816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0" name="Section number 30">
            <a:extLst xmlns:a="http://schemas.openxmlformats.org/drawingml/2006/main">
              <a:ext uri="{FF2B5EF4-FFF2-40B4-BE49-F238E27FC236}">
                <a16:creationId xmlns:a16="http://schemas.microsoft.com/office/drawing/2014/main" id="{EA8C2C4C-B1EE-43B0-8376-93951313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525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51" name="Text 31: 02">
            <a:extLst xmlns:a="http://schemas.openxmlformats.org/drawingml/2006/main">
              <a:ext uri="{FF2B5EF4-FFF2-40B4-BE49-F238E27FC236}">
                <a16:creationId xmlns:a16="http://schemas.microsoft.com/office/drawing/2014/main" id="{852DBE46-3003-4D97-8F0E-7C9063E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811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5acefb9ac41a9"/>
          <a:stretch xmlns:a="http://schemas.openxmlformats.org/drawingml/2006/main"/>
        </p:blipFill>
        <p:spPr>
          <a:xfrm xmlns:a="http://schemas.openxmlformats.org/drawingml/2006/main">
            <a:off x="10744200" y="2428789"/>
            <a:ext cx="1266825" cy="1152697"/>
          </a:xfrm>
          <a:prstGeom xmlns:a="http://schemas.openxmlformats.org/drawingml/2006/main" prst="rect">
            <a:avLst/>
          </a:prstGeom>
        </p:spPr>
      </p:pic>
      <p:sp>
        <p:nvSpPr>
          <p:cNvPr id="53" name="Text 32: UNCLEAR PROGRESS">
            <a:extLst xmlns:a="http://schemas.openxmlformats.org/drawingml/2006/main">
              <a:ext uri="{FF2B5EF4-FFF2-40B4-BE49-F238E27FC236}">
                <a16:creationId xmlns:a16="http://schemas.microsoft.com/office/drawing/2014/main" id="{227C4911-9A82-4B86-AEC2-58B932A9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28875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UNCLEAR PROGRESS</a:t>
            </a:r>
          </a:p>
        </p:txBody>
      </p:sp>
      <p:sp>
        <p:nvSpPr>
          <p:cNvPr id="54" name="Text 33: Practice clips need a consistent way to compare training sessions">
            <a:extLst xmlns:a="http://schemas.openxmlformats.org/drawingml/2006/main">
              <a:ext uri="{FF2B5EF4-FFF2-40B4-BE49-F238E27FC236}">
                <a16:creationId xmlns:a16="http://schemas.microsoft.com/office/drawing/2014/main" id="{210E4560-92BD-4FEA-928B-8CE101F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238500"/>
            <a:ext cx="31718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clips need a consistent</a:t>
            </a:r>
          </a:p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way to compare training sessions.</a:t>
            </a:r>
          </a:p>
        </p:txBody>
      </p:sp>
      <p:sp>
        <p:nvSpPr>
          <p:cNvPr id="55" name="Panel 34">
            <a:extLst xmlns:a="http://schemas.openxmlformats.org/drawingml/2006/main">
              <a:ext uri="{FF2B5EF4-FFF2-40B4-BE49-F238E27FC236}">
                <a16:creationId xmlns:a16="http://schemas.microsoft.com/office/drawing/2014/main" id="{EE99757D-7343-4D7A-8D58-5F0AEDE7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51816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6" name="Section number 35">
            <a:extLst xmlns:a="http://schemas.openxmlformats.org/drawingml/2006/main">
              <a:ext uri="{FF2B5EF4-FFF2-40B4-BE49-F238E27FC236}">
                <a16:creationId xmlns:a16="http://schemas.microsoft.com/office/drawing/2014/main" id="{AFC57340-2AAC-4FD3-8FCE-EB7EE6C9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0062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57" name="Text 36: 03">
            <a:extLst xmlns:a="http://schemas.openxmlformats.org/drawingml/2006/main">
              <a:ext uri="{FF2B5EF4-FFF2-40B4-BE49-F238E27FC236}">
                <a16:creationId xmlns:a16="http://schemas.microsoft.com/office/drawing/2014/main" id="{B7CDB93D-73C2-4F95-AEB3-F5DA897D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2920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f5d8e7ebb4e85"/>
          <a:stretch xmlns:a="http://schemas.openxmlformats.org/drawingml/2006/main"/>
        </p:blipFill>
        <p:spPr>
          <a:xfrm xmlns:a="http://schemas.openxmlformats.org/drawingml/2006/main">
            <a:off x="5416976" y="5819775"/>
            <a:ext cx="1062773" cy="1266825"/>
          </a:xfrm>
          <a:prstGeom xmlns:a="http://schemas.openxmlformats.org/drawingml/2006/main" prst="rect">
            <a:avLst/>
          </a:prstGeom>
        </p:spPr>
      </p:pic>
      <p:sp>
        <p:nvSpPr>
          <p:cNvPr id="59" name="Text 37: FRAGMENTED RECORDS">
            <a:extLst xmlns:a="http://schemas.openxmlformats.org/drawingml/2006/main">
              <a:ext uri="{FF2B5EF4-FFF2-40B4-BE49-F238E27FC236}">
                <a16:creationId xmlns:a16="http://schemas.microsoft.com/office/drawing/2014/main" id="{A48ABCB8-C508-4373-9FA3-49F2F26C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876925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FRAGMENTED RECORDS</a:t>
            </a:r>
          </a:p>
        </p:txBody>
      </p:sp>
      <p:sp>
        <p:nvSpPr>
          <p:cNvPr id="60" name="Text 38: Reports and feedback need a single place for review.">
            <a:extLst xmlns:a="http://schemas.openxmlformats.org/drawingml/2006/main">
              <a:ext uri="{FF2B5EF4-FFF2-40B4-BE49-F238E27FC236}">
                <a16:creationId xmlns:a16="http://schemas.microsoft.com/office/drawing/2014/main" id="{42CE98A6-2781-4448-8F94-DAEDBC99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686550"/>
            <a:ext cx="31718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Reports and feedback need</a:t>
            </a:r>
          </a:p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single place for review.</a:t>
            </a:r>
          </a:p>
        </p:txBody>
      </p:sp>
      <p:sp>
        <p:nvSpPr>
          <p:cNvPr id="61" name="Panel 39">
            <a:extLst xmlns:a="http://schemas.openxmlformats.org/drawingml/2006/main">
              <a:ext uri="{FF2B5EF4-FFF2-40B4-BE49-F238E27FC236}">
                <a16:creationId xmlns:a16="http://schemas.microsoft.com/office/drawing/2014/main" id="{9FBBA06D-A7DE-457A-87AA-0F03573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0125"/>
            <a:ext cx="51816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62" name="Section number 40">
            <a:extLst xmlns:a="http://schemas.openxmlformats.org/drawingml/2006/main">
              <a:ext uri="{FF2B5EF4-FFF2-40B4-BE49-F238E27FC236}">
                <a16:creationId xmlns:a16="http://schemas.microsoft.com/office/drawing/2014/main" id="{6445A873-9D14-40F1-B870-21C0C7AB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0062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FF6386"/>
            </a:solidFill>
            <a:prstDash val="solid"/>
          </a:ln>
        </p:spPr>
      </p:sp>
      <p:sp>
        <p:nvSpPr>
          <p:cNvPr id="63" name="Text 41: 04">
            <a:extLst xmlns:a="http://schemas.openxmlformats.org/drawingml/2006/main">
              <a:ext uri="{FF2B5EF4-FFF2-40B4-BE49-F238E27FC236}">
                <a16:creationId xmlns:a16="http://schemas.microsoft.com/office/drawing/2014/main" id="{B9FB7143-4383-481D-A5BE-666367CF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2920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55933227540fb"/>
          <a:stretch xmlns:a="http://schemas.openxmlformats.org/drawingml/2006/main"/>
        </p:blipFill>
        <p:spPr>
          <a:xfrm xmlns:a="http://schemas.openxmlformats.org/drawingml/2006/main">
            <a:off x="10744200" y="5957473"/>
            <a:ext cx="1266825" cy="991428"/>
          </a:xfrm>
          <a:prstGeom xmlns:a="http://schemas.openxmlformats.org/drawingml/2006/main" prst="rect">
            <a:avLst/>
          </a:prstGeom>
        </p:spPr>
      </p:pic>
      <p:sp>
        <p:nvSpPr>
          <p:cNvPr id="65" name="Text 42: LIMITED COACH VISIBILITY">
            <a:extLst xmlns:a="http://schemas.openxmlformats.org/drawingml/2006/main">
              <a:ext uri="{FF2B5EF4-FFF2-40B4-BE49-F238E27FC236}">
                <a16:creationId xmlns:a16="http://schemas.microsoft.com/office/drawing/2014/main" id="{5395DE1F-CF0B-4788-A391-491FDE8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876925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LIMITED COACH VISIBILITY</a:t>
            </a:r>
          </a:p>
        </p:txBody>
      </p:sp>
      <p:sp>
        <p:nvSpPr>
          <p:cNvPr id="66" name="Text 43: Coaches need searchable profiles and comparable performance evide">
            <a:extLst xmlns:a="http://schemas.openxmlformats.org/drawingml/2006/main">
              <a:ext uri="{FF2B5EF4-FFF2-40B4-BE49-F238E27FC236}">
                <a16:creationId xmlns:a16="http://schemas.microsoft.com/office/drawing/2014/main" id="{C687442C-DC87-4830-A29E-34681A0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686550"/>
            <a:ext cx="31718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Coaches need searchable profiles</a:t>
            </a:r>
          </a:p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comparable performance evidence.</a:t>
            </a:r>
          </a:p>
        </p:txBody>
      </p:sp>
      <p:sp>
        <p:nvSpPr>
          <p:cNvPr id="67" name="Panel 44">
            <a:extLst xmlns:a="http://schemas.openxmlformats.org/drawingml/2006/main">
              <a:ext uri="{FF2B5EF4-FFF2-40B4-BE49-F238E27FC236}">
                <a16:creationId xmlns:a16="http://schemas.microsoft.com/office/drawing/2014/main" id="{43644586-4A39-4924-8016-126A5E7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FF6386"/>
            </a:solidFill>
            <a:prstDash val="solid"/>
          </a:ln>
        </p:spPr>
      </p:sp>
      <p:sp>
        <p:nvSpPr>
          <p:cNvPr id="68" name="Text 45: DESIGN CHALLENGE">
            <a:extLst xmlns:a="http://schemas.openxmlformats.org/drawingml/2006/main">
              <a:ext uri="{FF2B5EF4-FFF2-40B4-BE49-F238E27FC236}">
                <a16:creationId xmlns:a16="http://schemas.microsoft.com/office/drawing/2014/main" id="{5595B2CA-B553-4C7E-B360-654E116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20100"/>
            <a:ext cx="2457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DESIGN CHALLENGE</a:t>
            </a:r>
          </a:p>
        </p:txBody>
      </p:sp>
      <p:sp>
        <p:nvSpPr>
          <p:cNvPr id="69" name="Divider 46">
            <a:extLst xmlns:a="http://schemas.openxmlformats.org/drawingml/2006/main">
              <a:ext uri="{FF2B5EF4-FFF2-40B4-BE49-F238E27FC236}">
                <a16:creationId xmlns:a16="http://schemas.microsoft.com/office/drawing/2014/main" id="{11313BFE-033C-4949-92DF-879B2476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4105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6386"/>
            </a:solidFill>
            <a:prstDash val="solid"/>
          </a:ln>
        </p:spPr>
      </p:sp>
      <p:sp>
        <p:nvSpPr>
          <p:cNvPr id="70" name="Text 47: A practical assessment and discovery workflow for grassroots athl">
            <a:extLst xmlns:a="http://schemas.openxmlformats.org/drawingml/2006/main">
              <a:ext uri="{FF2B5EF4-FFF2-40B4-BE49-F238E27FC236}">
                <a16:creationId xmlns:a16="http://schemas.microsoft.com/office/drawing/2014/main" id="{C24F223E-F90D-4EE0-A42F-554008D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4391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practical assessment and discovery workflow for grassroots athletes.</a:t>
            </a:r>
          </a:p>
        </p:txBody>
      </p:sp>
      <p:sp>
        <p:nvSpPr>
          <p:cNvPr id="71" name="Text 48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C9F2AF89-D75C-4E6E-BB76-AF7A2512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45820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69b684842f9f461e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2050270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4f21780c64e4d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df34b49324bd7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87803461245d7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7bc29463b44ff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39e1618714ac2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e19077db040fb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b5f591b6d4c6e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d86c378044eb4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58f5d48b4483a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aad71b9db4fd8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90d6455fd4766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ee9385d0348c6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a986b5c1848ab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aea58dc1e4878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67bff76bb499e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8ded2b3d74e1a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dba4ca7484740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32791457f4589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5f800c56f4a5d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c4a77f20c4111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8eacb8c3c4943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98507195845c6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9e67db6214cac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b9df9f4054abd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777fe65114a53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d6004e7bd4774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6eff4423e44b0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cc14197cd47fd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ff7e8ee624465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7575a7ce243a6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438b9bde449e5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c127694e6484a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49: AthletixAI">
            <a:extLst xmlns:a="http://schemas.openxmlformats.org/drawingml/2006/main">
              <a:ext uri="{FF2B5EF4-FFF2-40B4-BE49-F238E27FC236}">
                <a16:creationId xmlns:a16="http://schemas.microsoft.com/office/drawing/2014/main" id="{4A203720-1D62-4496-959F-B5C32E1A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50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2F58A865-AE05-44C1-A758-805CA6AD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51: OUR SOLUTION">
            <a:extLst xmlns:a="http://schemas.openxmlformats.org/drawingml/2006/main">
              <a:ext uri="{FF2B5EF4-FFF2-40B4-BE49-F238E27FC236}">
                <a16:creationId xmlns:a16="http://schemas.microsoft.com/office/drawing/2014/main" id="{42F358DF-57FD-4519-8B4E-9C731B42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"/>
            <a:ext cx="11258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OUR SOLUTION</a:t>
            </a:r>
          </a:p>
        </p:txBody>
      </p:sp>
      <p:sp>
        <p:nvSpPr>
          <p:cNvPr id="36" name="Text 52: A browser platform for athlete assessment and coach discovery">
            <a:extLst xmlns:a="http://schemas.openxmlformats.org/drawingml/2006/main">
              <a:ext uri="{FF2B5EF4-FFF2-40B4-BE49-F238E27FC236}">
                <a16:creationId xmlns:a16="http://schemas.microsoft.com/office/drawing/2014/main" id="{483C1670-2994-4DEB-85BC-F26703A9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5325"/>
            <a:ext cx="1125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browser platform for athlete assessment and coach discovery</a:t>
            </a:r>
          </a:p>
        </p:txBody>
      </p:sp>
      <p:sp>
        <p:nvSpPr>
          <p:cNvPr id="37" name="Panel 53">
            <a:extLst xmlns:a="http://schemas.openxmlformats.org/drawingml/2006/main">
              <a:ext uri="{FF2B5EF4-FFF2-40B4-BE49-F238E27FC236}">
                <a16:creationId xmlns:a16="http://schemas.microsoft.com/office/drawing/2014/main" id="{613991B6-280F-46AC-B346-94E49F85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43025"/>
            <a:ext cx="5114925" cy="61912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Panel 54">
            <a:extLst xmlns:a="http://schemas.openxmlformats.org/drawingml/2006/main">
              <a:ext uri="{FF2B5EF4-FFF2-40B4-BE49-F238E27FC236}">
                <a16:creationId xmlns:a16="http://schemas.microsoft.com/office/drawing/2014/main" id="{81BE593C-8E9A-4A2F-A067-7F532A72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43025"/>
            <a:ext cx="5114925" cy="61912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9" name="Panel 55">
            <a:extLst xmlns:a="http://schemas.openxmlformats.org/drawingml/2006/main">
              <a:ext uri="{FF2B5EF4-FFF2-40B4-BE49-F238E27FC236}">
                <a16:creationId xmlns:a16="http://schemas.microsoft.com/office/drawing/2014/main" id="{31A8F707-CE8E-4254-B73E-1EE5DA24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43025"/>
            <a:ext cx="5086350" cy="6191250"/>
          </a:xfrm>
          <a:prstGeom xmlns:a="http://schemas.openxmlformats.org/drawingml/2006/main" prst="roundRect">
            <a:avLst>
              <a:gd name="adj" fmla="val 2996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40" name="Section number 56">
            <a:extLst xmlns:a="http://schemas.openxmlformats.org/drawingml/2006/main">
              <a:ext uri="{FF2B5EF4-FFF2-40B4-BE49-F238E27FC236}">
                <a16:creationId xmlns:a16="http://schemas.microsoft.com/office/drawing/2014/main" id="{98FC7718-5A7C-43C1-98B0-0DADA41C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1" name="Text 57: 01">
            <a:extLst xmlns:a="http://schemas.openxmlformats.org/drawingml/2006/main">
              <a:ext uri="{FF2B5EF4-FFF2-40B4-BE49-F238E27FC236}">
                <a16:creationId xmlns:a16="http://schemas.microsoft.com/office/drawing/2014/main" id="{F6A09478-4168-41E1-BE67-6ED05D2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2" name="Section number 58">
            <a:extLst xmlns:a="http://schemas.openxmlformats.org/drawingml/2006/main">
              <a:ext uri="{FF2B5EF4-FFF2-40B4-BE49-F238E27FC236}">
                <a16:creationId xmlns:a16="http://schemas.microsoft.com/office/drawing/2014/main" id="{BE588048-02A4-4BA0-A419-92ABDF1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3" name="Text 59: 02">
            <a:extLst xmlns:a="http://schemas.openxmlformats.org/drawingml/2006/main">
              <a:ext uri="{FF2B5EF4-FFF2-40B4-BE49-F238E27FC236}">
                <a16:creationId xmlns:a16="http://schemas.microsoft.com/office/drawing/2014/main" id="{3ED59C46-7800-47A3-8F26-C52C1A73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5257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4" name="Section number 60">
            <a:extLst xmlns:a="http://schemas.openxmlformats.org/drawingml/2006/main">
              <a:ext uri="{FF2B5EF4-FFF2-40B4-BE49-F238E27FC236}">
                <a16:creationId xmlns:a16="http://schemas.microsoft.com/office/drawing/2014/main" id="{B37382C2-3E58-46A3-B8F6-9C19BD38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52400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  <a:prstDash val="solid"/>
          </a:ln>
        </p:spPr>
      </p:sp>
      <p:sp>
        <p:nvSpPr>
          <p:cNvPr id="45" name="Text 61: 03">
            <a:extLst xmlns:a="http://schemas.openxmlformats.org/drawingml/2006/main">
              <a:ext uri="{FF2B5EF4-FFF2-40B4-BE49-F238E27FC236}">
                <a16:creationId xmlns:a16="http://schemas.microsoft.com/office/drawing/2014/main" id="{BA71675B-B4FC-49E7-B155-C881B87D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55257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46" name="Text 62: ASSESS MOVEMENT">
            <a:extLst xmlns:a="http://schemas.openxmlformats.org/drawingml/2006/main">
              <a:ext uri="{FF2B5EF4-FFF2-40B4-BE49-F238E27FC236}">
                <a16:creationId xmlns:a16="http://schemas.microsoft.com/office/drawing/2014/main" id="{1B13D1AA-77CA-432C-BC6D-E7DB2C95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590675"/>
            <a:ext cx="388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ASSESS MOVEMENT</a:t>
            </a:r>
          </a:p>
        </p:txBody>
      </p:sp>
      <p:sp>
        <p:nvSpPr>
          <p:cNvPr id="47" name="Text 63: FOLLOW PROGRESS">
            <a:extLst xmlns:a="http://schemas.openxmlformats.org/drawingml/2006/main">
              <a:ext uri="{FF2B5EF4-FFF2-40B4-BE49-F238E27FC236}">
                <a16:creationId xmlns:a16="http://schemas.microsoft.com/office/drawing/2014/main" id="{925CF56F-B0C1-49A4-8373-783ED6C5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90675"/>
            <a:ext cx="388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FOLLOW PROGRESS</a:t>
            </a:r>
          </a:p>
        </p:txBody>
      </p:sp>
      <p:sp>
        <p:nvSpPr>
          <p:cNvPr id="48" name="Text 64: CONNECT WITH COACHES">
            <a:extLst xmlns:a="http://schemas.openxmlformats.org/drawingml/2006/main">
              <a:ext uri="{FF2B5EF4-FFF2-40B4-BE49-F238E27FC236}">
                <a16:creationId xmlns:a16="http://schemas.microsoft.com/office/drawing/2014/main" id="{C7A7B192-F0E1-48A0-BCFC-10F5037E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1619250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CONNECT WITH COACHES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b4245294c4de1"/>
          <a:stretch xmlns:a="http://schemas.openxmlformats.org/drawingml/2006/main"/>
        </p:blipFill>
        <p:spPr>
          <a:xfrm xmlns:a="http://schemas.openxmlformats.org/drawingml/2006/main">
            <a:off x="1276350" y="2211816"/>
            <a:ext cx="2962275" cy="2234344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efe1400d74bd0"/>
          <a:stretch xmlns:a="http://schemas.openxmlformats.org/drawingml/2006/main"/>
        </p:blipFill>
        <p:spPr>
          <a:xfrm xmlns:a="http://schemas.openxmlformats.org/drawingml/2006/main">
            <a:off x="7134225" y="2364876"/>
            <a:ext cx="1304925" cy="1404348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974dc030448b2"/>
          <a:stretch xmlns:a="http://schemas.openxmlformats.org/drawingml/2006/main"/>
        </p:blipFill>
        <p:spPr>
          <a:xfrm xmlns:a="http://schemas.openxmlformats.org/drawingml/2006/main">
            <a:off x="8782375" y="2628900"/>
            <a:ext cx="847076" cy="819150"/>
          </a:xfrm>
          <a:prstGeom xmlns:a="http://schemas.openxmlformats.org/drawingml/2006/main" prst="rect">
            <a:avLst/>
          </a:prstGeom>
        </p:spPr>
      </p:pic>
      <p:sp>
        <p:nvSpPr>
          <p:cNvPr id="52" name="Text 65: SESSION HISTORY &amp; PDF REPORTS">
            <a:extLst xmlns:a="http://schemas.openxmlformats.org/drawingml/2006/main">
              <a:ext uri="{FF2B5EF4-FFF2-40B4-BE49-F238E27FC236}">
                <a16:creationId xmlns:a16="http://schemas.microsoft.com/office/drawing/2014/main" id="{EC3BC3E0-B8FD-45FF-A85B-805C79F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76700"/>
            <a:ext cx="4391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SESSION HISTORY &amp; PDF REPORTS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97eddb79d412d"/>
          <a:stretch xmlns:a="http://schemas.openxmlformats.org/drawingml/2006/main"/>
        </p:blipFill>
        <p:spPr>
          <a:xfrm xmlns:a="http://schemas.openxmlformats.org/drawingml/2006/main">
            <a:off x="12382500" y="2335405"/>
            <a:ext cx="1514475" cy="1387089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d25cb291f4747"/>
          <a:stretch xmlns:a="http://schemas.openxmlformats.org/drawingml/2006/main"/>
        </p:blipFill>
        <p:spPr>
          <a:xfrm xmlns:a="http://schemas.openxmlformats.org/drawingml/2006/main">
            <a:off x="14192250" y="2784335"/>
            <a:ext cx="714375" cy="832129"/>
          </a:xfrm>
          <a:prstGeom xmlns:a="http://schemas.openxmlformats.org/drawingml/2006/main" prst="rect">
            <a:avLst/>
          </a:prstGeom>
        </p:spPr>
      </p:pic>
      <p:sp>
        <p:nvSpPr>
          <p:cNvPr id="55" name="Text 66: DISCOVER &amp; COMPARE ATHLETES">
            <a:extLst xmlns:a="http://schemas.openxmlformats.org/drawingml/2006/main">
              <a:ext uri="{FF2B5EF4-FFF2-40B4-BE49-F238E27FC236}">
                <a16:creationId xmlns:a16="http://schemas.microsoft.com/office/drawing/2014/main" id="{D714518E-92A9-47CA-908E-613E3B5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76700"/>
            <a:ext cx="4391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DISCOVER &amp; COMPARE ATHLETES</a:t>
            </a:r>
          </a:p>
        </p:txBody>
      </p:sp>
      <p:sp>
        <p:nvSpPr>
          <p:cNvPr id="56" name="Divider 67">
            <a:extLst xmlns:a="http://schemas.openxmlformats.org/drawingml/2006/main">
              <a:ext uri="{FF2B5EF4-FFF2-40B4-BE49-F238E27FC236}">
                <a16:creationId xmlns:a16="http://schemas.microsoft.com/office/drawing/2014/main" id="{E06206B4-7378-4A58-A548-EA0A6C3F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48200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7" name="Divider 68">
            <a:extLst xmlns:a="http://schemas.openxmlformats.org/drawingml/2006/main">
              <a:ext uri="{FF2B5EF4-FFF2-40B4-BE49-F238E27FC236}">
                <a16:creationId xmlns:a16="http://schemas.microsoft.com/office/drawing/2014/main" id="{97DD9FD6-42FE-4FF4-A30D-342AAF81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648200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8" name="Divider 69">
            <a:extLst xmlns:a="http://schemas.openxmlformats.org/drawingml/2006/main">
              <a:ext uri="{FF2B5EF4-FFF2-40B4-BE49-F238E27FC236}">
                <a16:creationId xmlns:a16="http://schemas.microsoft.com/office/drawing/2014/main" id="{23BDA035-114C-4089-9D7C-D06BA34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48200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9" name="Text 70: PHONE CAMERA INPUT">
            <a:extLst xmlns:a="http://schemas.openxmlformats.org/drawingml/2006/main">
              <a:ext uri="{FF2B5EF4-FFF2-40B4-BE49-F238E27FC236}">
                <a16:creationId xmlns:a16="http://schemas.microsoft.com/office/drawing/2014/main" id="{82AFD8DD-9043-478E-8D78-A5DCE02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149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PHONE CAMERA INPUT</a:t>
            </a:r>
          </a:p>
        </p:txBody>
      </p:sp>
      <p:sp>
        <p:nvSpPr>
          <p:cNvPr id="60" name="Text 71: Practice clip or live camera No specialist wearables required">
            <a:extLst xmlns:a="http://schemas.openxmlformats.org/drawingml/2006/main">
              <a:ext uri="{FF2B5EF4-FFF2-40B4-BE49-F238E27FC236}">
                <a16:creationId xmlns:a16="http://schemas.microsoft.com/office/drawing/2014/main" id="{6DE1D689-9360-45D7-AD2B-FE23FCD3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6732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clip or live camera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No specialist wearables required</a:t>
            </a:r>
          </a:p>
        </p:txBody>
      </p:sp>
      <p:sp>
        <p:nvSpPr>
          <p:cNvPr id="61" name="Text 72: ON-DEVICE ANALYSIS">
            <a:extLst xmlns:a="http://schemas.openxmlformats.org/drawingml/2006/main">
              <a:ext uri="{FF2B5EF4-FFF2-40B4-BE49-F238E27FC236}">
                <a16:creationId xmlns:a16="http://schemas.microsoft.com/office/drawing/2014/main" id="{23E3689D-D911-4481-9396-CB7DC84F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198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ON-DEVICE ANALYSIS</a:t>
            </a:r>
          </a:p>
        </p:txBody>
      </p:sp>
      <p:sp>
        <p:nvSpPr>
          <p:cNvPr id="62" name="Text 73: MediaPipe pose estimation Sport-aware scoring rules">
            <a:extLst xmlns:a="http://schemas.openxmlformats.org/drawingml/2006/main">
              <a:ext uri="{FF2B5EF4-FFF2-40B4-BE49-F238E27FC236}">
                <a16:creationId xmlns:a16="http://schemas.microsoft.com/office/drawing/2014/main" id="{E99C40F2-BC75-4EE0-8DF8-33409A5B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57225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MediaPipe pose estimation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Sport-aware scoring rules</a:t>
            </a:r>
          </a:p>
        </p:txBody>
      </p:sp>
      <p:sp>
        <p:nvSpPr>
          <p:cNvPr id="63" name="Text 74: PERFORMANCE REPORTS">
            <a:extLst xmlns:a="http://schemas.openxmlformats.org/drawingml/2006/main">
              <a:ext uri="{FF2B5EF4-FFF2-40B4-BE49-F238E27FC236}">
                <a16:creationId xmlns:a16="http://schemas.microsoft.com/office/drawing/2014/main" id="{3973A669-7E7E-44ED-8726-373A5A60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9149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PERFORMANCE REPORTS</a:t>
            </a:r>
          </a:p>
        </p:txBody>
      </p:sp>
      <p:sp>
        <p:nvSpPr>
          <p:cNvPr id="64" name="Text 75: Five movement metrics with sport-specific labels">
            <a:extLst xmlns:a="http://schemas.openxmlformats.org/drawingml/2006/main">
              <a:ext uri="{FF2B5EF4-FFF2-40B4-BE49-F238E27FC236}">
                <a16:creationId xmlns:a16="http://schemas.microsoft.com/office/drawing/2014/main" id="{E0EB39F2-0F0D-4ADC-AA79-462C84B9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26732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Five movement metrics with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sport-specific labels</a:t>
            </a:r>
          </a:p>
        </p:txBody>
      </p:sp>
      <p:sp>
        <p:nvSpPr>
          <p:cNvPr id="65" name="Text 76: TRAINING EVIDENCE">
            <a:extLst xmlns:a="http://schemas.openxmlformats.org/drawingml/2006/main">
              <a:ext uri="{FF2B5EF4-FFF2-40B4-BE49-F238E27FC236}">
                <a16:creationId xmlns:a16="http://schemas.microsoft.com/office/drawing/2014/main" id="{475BC38A-C014-4A72-826B-D9DA1F35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2198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TRAINING EVIDENCE</a:t>
            </a:r>
          </a:p>
        </p:txBody>
      </p:sp>
      <p:sp>
        <p:nvSpPr>
          <p:cNvPr id="66" name="Text 77: Review session history and trends Download reports as PDFs">
            <a:extLst xmlns:a="http://schemas.openxmlformats.org/drawingml/2006/main">
              <a:ext uri="{FF2B5EF4-FFF2-40B4-BE49-F238E27FC236}">
                <a16:creationId xmlns:a16="http://schemas.microsoft.com/office/drawing/2014/main" id="{67166BEB-F544-4DC5-B51D-9411E551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57225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Review session history and trends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Download reports as PDFs</a:t>
            </a:r>
          </a:p>
        </p:txBody>
      </p:sp>
      <p:sp>
        <p:nvSpPr>
          <p:cNvPr id="67" name="Text 78: RECRUITER HUB">
            <a:extLst xmlns:a="http://schemas.openxmlformats.org/drawingml/2006/main">
              <a:ext uri="{FF2B5EF4-FFF2-40B4-BE49-F238E27FC236}">
                <a16:creationId xmlns:a16="http://schemas.microsoft.com/office/drawing/2014/main" id="{70D731DF-BFF0-4943-85E5-393043ED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49149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RECRUITER HUB</a:t>
            </a:r>
          </a:p>
        </p:txBody>
      </p:sp>
      <p:sp>
        <p:nvSpPr>
          <p:cNvPr id="68" name="Text 79: Find athlete profiles and review report history">
            <a:extLst xmlns:a="http://schemas.openxmlformats.org/drawingml/2006/main">
              <a:ext uri="{FF2B5EF4-FFF2-40B4-BE49-F238E27FC236}">
                <a16:creationId xmlns:a16="http://schemas.microsoft.com/office/drawing/2014/main" id="{FE8BBFE3-A62A-4C9B-860D-02D7829A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26732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Find athlete profiles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review report history</a:t>
            </a:r>
          </a:p>
        </p:txBody>
      </p:sp>
      <p:sp>
        <p:nvSpPr>
          <p:cNvPr id="69" name="Text 80: COMPARE &amp; CONNECT">
            <a:extLst xmlns:a="http://schemas.openxmlformats.org/drawingml/2006/main">
              <a:ext uri="{FF2B5EF4-FFF2-40B4-BE49-F238E27FC236}">
                <a16:creationId xmlns:a16="http://schemas.microsoft.com/office/drawing/2014/main" id="{C840543F-E9F0-4F99-B5D2-519419EF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198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COMPARE &amp; CONNECT</a:t>
            </a:r>
          </a:p>
        </p:txBody>
      </p:sp>
      <p:sp>
        <p:nvSpPr>
          <p:cNvPr id="70" name="Text 81: Compare two athletes side by side Connect through messages">
            <a:extLst xmlns:a="http://schemas.openxmlformats.org/drawingml/2006/main">
              <a:ext uri="{FF2B5EF4-FFF2-40B4-BE49-F238E27FC236}">
                <a16:creationId xmlns:a16="http://schemas.microsoft.com/office/drawing/2014/main" id="{A8E3F6F8-D486-4AB1-AD9D-8FD6537C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57225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Compare two athletes side by side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Connect through messages</a:t>
            </a:r>
          </a:p>
        </p:txBody>
      </p:sp>
      <p:sp>
        <p:nvSpPr>
          <p:cNvPr id="71" name="Text 82: Prototype scoring still needs calibration against measured perfor">
            <a:extLst xmlns:a="http://schemas.openxmlformats.org/drawingml/2006/main">
              <a:ext uri="{FF2B5EF4-FFF2-40B4-BE49-F238E27FC236}">
                <a16:creationId xmlns:a16="http://schemas.microsoft.com/office/drawing/2014/main" id="{DCAF94B0-B9BE-49F7-9D79-60E81CD2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753350"/>
            <a:ext cx="1466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Prototype scoring still needs calibration against measured performance.</a:t>
            </a:r>
          </a:p>
        </p:txBody>
      </p:sp>
      <p:sp>
        <p:nvSpPr>
          <p:cNvPr id="72" name="Panel 83">
            <a:extLst xmlns:a="http://schemas.openxmlformats.org/drawingml/2006/main">
              <a:ext uri="{FF2B5EF4-FFF2-40B4-BE49-F238E27FC236}">
                <a16:creationId xmlns:a16="http://schemas.microsoft.com/office/drawing/2014/main" id="{C507FFDB-7743-4325-91BC-D60119AB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73" name="Text 84: LOCAL VIDEO ANALYSIS">
            <a:extLst xmlns:a="http://schemas.openxmlformats.org/drawingml/2006/main">
              <a:ext uri="{FF2B5EF4-FFF2-40B4-BE49-F238E27FC236}">
                <a16:creationId xmlns:a16="http://schemas.microsoft.com/office/drawing/2014/main" id="{66B1A55B-192A-42B7-B9DF-7E299F37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20100"/>
            <a:ext cx="2457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LOCAL VIDEO ANALYSIS</a:t>
            </a:r>
          </a:p>
        </p:txBody>
      </p:sp>
      <p:sp>
        <p:nvSpPr>
          <p:cNvPr id="74" name="Divider 85">
            <a:extLst xmlns:a="http://schemas.openxmlformats.org/drawingml/2006/main">
              <a:ext uri="{FF2B5EF4-FFF2-40B4-BE49-F238E27FC236}">
                <a16:creationId xmlns:a16="http://schemas.microsoft.com/office/drawing/2014/main" id="{845D0756-629D-44D2-9940-6C487E36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4105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75" name="Text 86: Raw video stays on the device. Only metrics and metadata reach th">
            <a:extLst xmlns:a="http://schemas.openxmlformats.org/drawingml/2006/main">
              <a:ext uri="{FF2B5EF4-FFF2-40B4-BE49-F238E27FC236}">
                <a16:creationId xmlns:a16="http://schemas.microsoft.com/office/drawing/2014/main" id="{6F2155DB-95AE-44AD-A307-9B3415A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4391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Raw video stays on the device. Only metrics and metadata reach the server.</a:t>
            </a:r>
          </a:p>
        </p:txBody>
      </p:sp>
      <p:sp>
        <p:nvSpPr>
          <p:cNvPr id="76" name="Text 87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675B6CDC-F075-41C5-865F-398C8076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45820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a177f9f76f32466c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2069339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61fdc71a44883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14d3605534a47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47b396c504ed7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676306b2f4a03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96c382b434271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f93f400694440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44b5edd234e96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af9b441fb4abe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df2949ad14ca0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c559e254d48da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22fd7cb164cd9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eda526cfb4a0b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5ee9cac424b4c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5ee600a484f17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063f7efae4a2e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3a3cd2cd44d9d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2c2d46d3b4290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70b8df7d941c0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2c307b1204adb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40517eb9749b9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929a0a5864c45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b61e845044d78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dfc11e7644b4b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26a8fa45d4456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ed2462e6948d1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45b6f50ef458b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f1de994734619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eec1a1dc74c17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65255630b4702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7797f31e94304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8f45aa32f4042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60657bf60441c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88: AthletixAI">
            <a:extLst xmlns:a="http://schemas.openxmlformats.org/drawingml/2006/main">
              <a:ext uri="{FF2B5EF4-FFF2-40B4-BE49-F238E27FC236}">
                <a16:creationId xmlns:a16="http://schemas.microsoft.com/office/drawing/2014/main" id="{7440AB0E-9A7B-4744-AF64-226047A4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89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32018FB3-CB38-4F2C-838D-2951263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90: FLOW OF SOLUTION">
            <a:extLst xmlns:a="http://schemas.openxmlformats.org/drawingml/2006/main">
              <a:ext uri="{FF2B5EF4-FFF2-40B4-BE49-F238E27FC236}">
                <a16:creationId xmlns:a16="http://schemas.microsoft.com/office/drawing/2014/main" id="{624EC7A9-46E6-4A08-B1FC-A085455C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"/>
            <a:ext cx="1119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FLOW OF SOLUTION</a:t>
            </a:r>
          </a:p>
        </p:txBody>
      </p:sp>
      <p:sp>
        <p:nvSpPr>
          <p:cNvPr id="36" name="Text 91: The athlete journey, coach review and the next training session">
            <a:extLst xmlns:a="http://schemas.openxmlformats.org/drawingml/2006/main">
              <a:ext uri="{FF2B5EF4-FFF2-40B4-BE49-F238E27FC236}">
                <a16:creationId xmlns:a16="http://schemas.microsoft.com/office/drawing/2014/main" id="{58FE613D-4ECF-48EB-ADAF-1850CF6A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95325"/>
            <a:ext cx="1119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The athlete journey, coach review and the next training session</a:t>
            </a:r>
          </a:p>
        </p:txBody>
      </p:sp>
      <p:sp>
        <p:nvSpPr>
          <p:cNvPr id="37" name="Text 92: ATHLETE">
            <a:extLst xmlns:a="http://schemas.openxmlformats.org/drawingml/2006/main">
              <a:ext uri="{FF2B5EF4-FFF2-40B4-BE49-F238E27FC236}">
                <a16:creationId xmlns:a16="http://schemas.microsoft.com/office/drawing/2014/main" id="{138047DE-BBC6-49ED-AD75-8BF6EC36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71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ATHLETE</a:t>
            </a:r>
          </a:p>
        </p:txBody>
      </p:sp>
      <p:sp>
        <p:nvSpPr>
          <p:cNvPr id="38" name="Text 93: TRAINING INPUT &amp; FEEDBACK">
            <a:extLst xmlns:a="http://schemas.openxmlformats.org/drawingml/2006/main">
              <a:ext uri="{FF2B5EF4-FFF2-40B4-BE49-F238E27FC236}">
                <a16:creationId xmlns:a16="http://schemas.microsoft.com/office/drawing/2014/main" id="{B3F83A1A-ADB4-4FE9-9127-5B66C378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90650"/>
            <a:ext cx="1019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TRAINING INPUT &amp; FEEDBACK</a:t>
            </a:r>
          </a:p>
        </p:txBody>
      </p:sp>
      <p:sp>
        <p:nvSpPr>
          <p:cNvPr id="39" name="Panel 94">
            <a:extLst xmlns:a="http://schemas.openxmlformats.org/drawingml/2006/main">
              <a:ext uri="{FF2B5EF4-FFF2-40B4-BE49-F238E27FC236}">
                <a16:creationId xmlns:a16="http://schemas.microsoft.com/office/drawing/2014/main" id="{043A9DE0-8F07-4AAE-801E-C717CDD1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0" name="Circle 95">
            <a:extLst xmlns:a="http://schemas.openxmlformats.org/drawingml/2006/main">
              <a:ext uri="{FF2B5EF4-FFF2-40B4-BE49-F238E27FC236}">
                <a16:creationId xmlns:a16="http://schemas.microsoft.com/office/drawing/2014/main" id="{D65463EB-D111-4DBF-A219-3F3E1BD7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</a:ln>
        </p:spPr>
      </p:sp>
      <p:sp>
        <p:nvSpPr>
          <p:cNvPr id="41" name="Text 96: 01">
            <a:extLst xmlns:a="http://schemas.openxmlformats.org/drawingml/2006/main">
              <a:ext uri="{FF2B5EF4-FFF2-40B4-BE49-F238E27FC236}">
                <a16:creationId xmlns:a16="http://schemas.microsoft.com/office/drawing/2014/main" id="{F498D49C-86D1-4EE9-934A-442B2061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193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86d9fcb2b4a7f"/>
          <a:stretch xmlns:a="http://schemas.openxmlformats.org/drawingml/2006/main"/>
        </p:blipFill>
        <p:spPr>
          <a:xfrm xmlns:a="http://schemas.openxmlformats.org/drawingml/2006/main">
            <a:off x="3285148" y="2352675"/>
            <a:ext cx="459154" cy="571500"/>
          </a:xfrm>
          <a:prstGeom xmlns:a="http://schemas.openxmlformats.org/drawingml/2006/main" prst="rect">
            <a:avLst/>
          </a:prstGeom>
        </p:spPr>
      </p:pic>
      <p:sp>
        <p:nvSpPr>
          <p:cNvPr id="43" name="Text 97: PROFILE &amp; CAPTURE">
            <a:extLst xmlns:a="http://schemas.openxmlformats.org/drawingml/2006/main">
              <a:ext uri="{FF2B5EF4-FFF2-40B4-BE49-F238E27FC236}">
                <a16:creationId xmlns:a16="http://schemas.microsoft.com/office/drawing/2014/main" id="{5B20470F-BEF8-4C04-A33C-4101F1AA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PROFILE &amp; CAPTURE</a:t>
            </a:r>
          </a:p>
        </p:txBody>
      </p:sp>
      <p:sp>
        <p:nvSpPr>
          <p:cNvPr id="44" name="Divider 98">
            <a:extLst xmlns:a="http://schemas.openxmlformats.org/drawingml/2006/main">
              <a:ext uri="{FF2B5EF4-FFF2-40B4-BE49-F238E27FC236}">
                <a16:creationId xmlns:a16="http://schemas.microsoft.com/office/drawing/2014/main" id="{BA3C3353-D9AD-49A4-9368-6C3A87D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2427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45" name="Text 99: Choose a sport and record a clip or use live camera.">
            <a:extLst xmlns:a="http://schemas.openxmlformats.org/drawingml/2006/main">
              <a:ext uri="{FF2B5EF4-FFF2-40B4-BE49-F238E27FC236}">
                <a16:creationId xmlns:a16="http://schemas.microsoft.com/office/drawing/2014/main" id="{CD9194E2-DD92-4FC3-937F-CBDED996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57625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Choose a sport and record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clip or use live camera.</a:t>
            </a:r>
          </a:p>
        </p:txBody>
      </p:sp>
      <p:sp>
        <p:nvSpPr>
          <p:cNvPr id="46" name="Panel 100">
            <a:extLst xmlns:a="http://schemas.openxmlformats.org/drawingml/2006/main">
              <a:ext uri="{FF2B5EF4-FFF2-40B4-BE49-F238E27FC236}">
                <a16:creationId xmlns:a16="http://schemas.microsoft.com/office/drawing/2014/main" id="{BC3C9A56-920A-4A39-B4CE-E7850803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09800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7" name="Circle 101">
            <a:extLst xmlns:a="http://schemas.openxmlformats.org/drawingml/2006/main">
              <a:ext uri="{FF2B5EF4-FFF2-40B4-BE49-F238E27FC236}">
                <a16:creationId xmlns:a16="http://schemas.microsoft.com/office/drawing/2014/main" id="{19264826-BBCF-46AB-A79B-386B70BA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8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</a:ln>
        </p:spPr>
      </p:sp>
      <p:sp>
        <p:nvSpPr>
          <p:cNvPr id="48" name="Text 102: 02">
            <a:extLst xmlns:a="http://schemas.openxmlformats.org/drawingml/2006/main">
              <a:ext uri="{FF2B5EF4-FFF2-40B4-BE49-F238E27FC236}">
                <a16:creationId xmlns:a16="http://schemas.microsoft.com/office/drawing/2014/main" id="{6C2707F7-BAFE-481B-9E65-5F00D49A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193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4a4b6833442ec"/>
          <a:stretch xmlns:a="http://schemas.openxmlformats.org/drawingml/2006/main"/>
        </p:blipFill>
        <p:spPr>
          <a:xfrm xmlns:a="http://schemas.openxmlformats.org/drawingml/2006/main">
            <a:off x="6965496" y="2352675"/>
            <a:ext cx="375557" cy="571500"/>
          </a:xfrm>
          <a:prstGeom xmlns:a="http://schemas.openxmlformats.org/drawingml/2006/main" prst="rect">
            <a:avLst/>
          </a:prstGeom>
        </p:spPr>
      </p:pic>
      <p:sp>
        <p:nvSpPr>
          <p:cNvPr id="50" name="Text 103: POSE &amp; QUALITY">
            <a:extLst xmlns:a="http://schemas.openxmlformats.org/drawingml/2006/main">
              <a:ext uri="{FF2B5EF4-FFF2-40B4-BE49-F238E27FC236}">
                <a16:creationId xmlns:a16="http://schemas.microsoft.com/office/drawing/2014/main" id="{14CCDA12-F547-41CB-86C3-D2D9E8DF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POSE &amp; QUALITY</a:t>
            </a:r>
          </a:p>
        </p:txBody>
      </p:sp>
      <p:sp>
        <p:nvSpPr>
          <p:cNvPr id="51" name="Divider 104">
            <a:extLst xmlns:a="http://schemas.openxmlformats.org/drawingml/2006/main">
              <a:ext uri="{FF2B5EF4-FFF2-40B4-BE49-F238E27FC236}">
                <a16:creationId xmlns:a16="http://schemas.microsoft.com/office/drawing/2014/main" id="{49C91210-66F4-42E9-903A-332E8A90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2427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52" name="Text 105: Track 33 landmarks. Check visibility and movement.">
            <a:extLst xmlns:a="http://schemas.openxmlformats.org/drawingml/2006/main">
              <a:ext uri="{FF2B5EF4-FFF2-40B4-BE49-F238E27FC236}">
                <a16:creationId xmlns:a16="http://schemas.microsoft.com/office/drawing/2014/main" id="{5280194C-66C1-42F8-84B1-D13FE2FE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57625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Track 33 landmarks. Check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visibility and movement.</a:t>
            </a:r>
          </a:p>
        </p:txBody>
      </p:sp>
      <p:sp>
        <p:nvSpPr>
          <p:cNvPr id="53" name="Panel 106">
            <a:extLst xmlns:a="http://schemas.openxmlformats.org/drawingml/2006/main">
              <a:ext uri="{FF2B5EF4-FFF2-40B4-BE49-F238E27FC236}">
                <a16:creationId xmlns:a16="http://schemas.microsoft.com/office/drawing/2014/main" id="{B128C9A6-ADFF-4854-B097-70473661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09800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4" name="Circle 107">
            <a:extLst xmlns:a="http://schemas.openxmlformats.org/drawingml/2006/main">
              <a:ext uri="{FF2B5EF4-FFF2-40B4-BE49-F238E27FC236}">
                <a16:creationId xmlns:a16="http://schemas.microsoft.com/office/drawing/2014/main" id="{283BBDAB-7652-46C3-932B-FF0AED88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8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</a:ln>
        </p:spPr>
      </p:sp>
      <p:sp>
        <p:nvSpPr>
          <p:cNvPr id="55" name="Text 108: 03">
            <a:extLst xmlns:a="http://schemas.openxmlformats.org/drawingml/2006/main">
              <a:ext uri="{FF2B5EF4-FFF2-40B4-BE49-F238E27FC236}">
                <a16:creationId xmlns:a16="http://schemas.microsoft.com/office/drawing/2014/main" id="{ECF1C021-7273-491C-89B1-52B1AE74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193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18f595efa40de"/>
          <a:stretch xmlns:a="http://schemas.openxmlformats.org/drawingml/2006/main"/>
        </p:blipFill>
        <p:spPr>
          <a:xfrm xmlns:a="http://schemas.openxmlformats.org/drawingml/2006/main">
            <a:off x="10581481" y="2352675"/>
            <a:ext cx="420688" cy="571500"/>
          </a:xfrm>
          <a:prstGeom xmlns:a="http://schemas.openxmlformats.org/drawingml/2006/main" prst="rect">
            <a:avLst/>
          </a:prstGeom>
        </p:spPr>
      </p:pic>
      <p:sp>
        <p:nvSpPr>
          <p:cNvPr id="57" name="Text 109: METRICS &amp; REPORT">
            <a:extLst xmlns:a="http://schemas.openxmlformats.org/drawingml/2006/main">
              <a:ext uri="{FF2B5EF4-FFF2-40B4-BE49-F238E27FC236}">
                <a16:creationId xmlns:a16="http://schemas.microsoft.com/office/drawing/2014/main" id="{2805FB1D-04C7-4EDE-ABA5-E9C2FED8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METRICS &amp; REPORT</a:t>
            </a:r>
          </a:p>
        </p:txBody>
      </p:sp>
      <p:sp>
        <p:nvSpPr>
          <p:cNvPr id="58" name="Divider 110">
            <a:extLst xmlns:a="http://schemas.openxmlformats.org/drawingml/2006/main">
              <a:ext uri="{FF2B5EF4-FFF2-40B4-BE49-F238E27FC236}">
                <a16:creationId xmlns:a16="http://schemas.microsoft.com/office/drawing/2014/main" id="{B7D9D2AB-CCDB-4177-9A6F-21F6F4DB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2427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59" name="Text 111: Apply sport-aware rules. Save the performance report.">
            <a:extLst xmlns:a="http://schemas.openxmlformats.org/drawingml/2006/main">
              <a:ext uri="{FF2B5EF4-FFF2-40B4-BE49-F238E27FC236}">
                <a16:creationId xmlns:a16="http://schemas.microsoft.com/office/drawing/2014/main" id="{B97914AC-C66F-4E3C-9A67-B1FBB71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57625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Apply sport-aware rules.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Save the performance report.</a:t>
            </a:r>
          </a:p>
        </p:txBody>
      </p:sp>
      <p:sp>
        <p:nvSpPr>
          <p:cNvPr id="60" name="Panel 112">
            <a:extLst xmlns:a="http://schemas.openxmlformats.org/drawingml/2006/main">
              <a:ext uri="{FF2B5EF4-FFF2-40B4-BE49-F238E27FC236}">
                <a16:creationId xmlns:a16="http://schemas.microsoft.com/office/drawing/2014/main" id="{1DAD4189-0EB3-4C98-AE5C-4F350429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09800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61" name="Circle 113">
            <a:extLst xmlns:a="http://schemas.openxmlformats.org/drawingml/2006/main">
              <a:ext uri="{FF2B5EF4-FFF2-40B4-BE49-F238E27FC236}">
                <a16:creationId xmlns:a16="http://schemas.microsoft.com/office/drawing/2014/main" id="{EAC0B14E-09DC-4516-B1F4-EFC1E5B2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38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</a:ln>
        </p:spPr>
      </p:sp>
      <p:sp>
        <p:nvSpPr>
          <p:cNvPr id="62" name="Text 114: 04">
            <a:extLst xmlns:a="http://schemas.openxmlformats.org/drawingml/2006/main">
              <a:ext uri="{FF2B5EF4-FFF2-40B4-BE49-F238E27FC236}">
                <a16:creationId xmlns:a16="http://schemas.microsoft.com/office/drawing/2014/main" id="{BD09E83F-A5B2-46D8-9C47-399DB582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4193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38556bf844aa9"/>
          <a:stretch xmlns:a="http://schemas.openxmlformats.org/drawingml/2006/main"/>
        </p:blipFill>
        <p:spPr>
          <a:xfrm xmlns:a="http://schemas.openxmlformats.org/drawingml/2006/main">
            <a:off x="14154150" y="2370570"/>
            <a:ext cx="552450" cy="535709"/>
          </a:xfrm>
          <a:prstGeom xmlns:a="http://schemas.openxmlformats.org/drawingml/2006/main" prst="rect">
            <a:avLst/>
          </a:prstGeom>
        </p:spPr>
      </p:pic>
      <p:sp>
        <p:nvSpPr>
          <p:cNvPr id="64" name="Text 115: REVIEW PROGRESS">
            <a:extLst xmlns:a="http://schemas.openxmlformats.org/drawingml/2006/main">
              <a:ext uri="{FF2B5EF4-FFF2-40B4-BE49-F238E27FC236}">
                <a16:creationId xmlns:a16="http://schemas.microsoft.com/office/drawing/2014/main" id="{0CF013DA-49DC-4CA4-8C4B-3E12A91F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028950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REVIEW PROGRESS</a:t>
            </a:r>
          </a:p>
        </p:txBody>
      </p:sp>
      <p:sp>
        <p:nvSpPr>
          <p:cNvPr id="65" name="Divider 116">
            <a:extLst xmlns:a="http://schemas.openxmlformats.org/drawingml/2006/main">
              <a:ext uri="{FF2B5EF4-FFF2-40B4-BE49-F238E27FC236}">
                <a16:creationId xmlns:a16="http://schemas.microsoft.com/office/drawing/2014/main" id="{48D2CE78-F629-49FB-92F8-E05C63A6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72427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66" name="Text 117: View session history, trends and PDF reports.">
            <a:extLst xmlns:a="http://schemas.openxmlformats.org/drawingml/2006/main">
              <a:ext uri="{FF2B5EF4-FFF2-40B4-BE49-F238E27FC236}">
                <a16:creationId xmlns:a16="http://schemas.microsoft.com/office/drawing/2014/main" id="{8A80670F-CE88-426D-9188-69B4F980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857625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View session history,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trends and PDF reports.</a:t>
            </a:r>
          </a:p>
        </p:txBody>
      </p:sp>
      <p:sp>
        <p:nvSpPr>
          <p:cNvPr id="67" name="Editable flow arrow 118">
            <a:extLst xmlns:a="http://schemas.openxmlformats.org/drawingml/2006/main">
              <a:ext uri="{FF2B5EF4-FFF2-40B4-BE49-F238E27FC236}">
                <a16:creationId xmlns:a16="http://schemas.microsoft.com/office/drawing/2014/main" id="{BE632220-55D9-40FF-82FD-126CC3FB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0992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68" name="Editable flow arrow 119">
            <a:extLst xmlns:a="http://schemas.openxmlformats.org/drawingml/2006/main">
              <a:ext uri="{FF2B5EF4-FFF2-40B4-BE49-F238E27FC236}">
                <a16:creationId xmlns:a16="http://schemas.microsoft.com/office/drawing/2014/main" id="{056B58B6-23F1-4FA4-B567-D943C86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0992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69" name="Editable flow arrow 120">
            <a:extLst xmlns:a="http://schemas.openxmlformats.org/drawingml/2006/main">
              <a:ext uri="{FF2B5EF4-FFF2-40B4-BE49-F238E27FC236}">
                <a16:creationId xmlns:a16="http://schemas.microsoft.com/office/drawing/2014/main" id="{58C176F8-BF46-48BD-B066-402C77C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20992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70" name="Divider 121">
            <a:extLst xmlns:a="http://schemas.openxmlformats.org/drawingml/2006/main">
              <a:ext uri="{FF2B5EF4-FFF2-40B4-BE49-F238E27FC236}">
                <a16:creationId xmlns:a16="http://schemas.microsoft.com/office/drawing/2014/main" id="{18A93AF2-CEB6-4041-80C5-A6D4B3BD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71" name="Divider 122">
            <a:extLst xmlns:a="http://schemas.openxmlformats.org/drawingml/2006/main">
              <a:ext uri="{FF2B5EF4-FFF2-40B4-BE49-F238E27FC236}">
                <a16:creationId xmlns:a16="http://schemas.microsoft.com/office/drawing/2014/main" id="{E81EC165-5356-4EF1-9AAD-785F240C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72" name="Divider 123">
            <a:extLst xmlns:a="http://schemas.openxmlformats.org/drawingml/2006/main">
              <a:ext uri="{FF2B5EF4-FFF2-40B4-BE49-F238E27FC236}">
                <a16:creationId xmlns:a16="http://schemas.microsoft.com/office/drawing/2014/main" id="{5C029EEE-083C-47C2-A20C-108F542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73" name="Editable flow arrow 124">
            <a:extLst xmlns:a="http://schemas.openxmlformats.org/drawingml/2006/main">
              <a:ext uri="{FF2B5EF4-FFF2-40B4-BE49-F238E27FC236}">
                <a16:creationId xmlns:a16="http://schemas.microsoft.com/office/drawing/2014/main" id="{95814DEA-98BE-4887-B318-6A9C032A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66925"/>
            <a:ext cx="1905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6386"/>
          </a:solidFill>
          <a:ln xmlns:a="http://schemas.openxmlformats.org/drawingml/2006/main" w="0">
            <a:noFill/>
          </a:ln>
        </p:spPr>
      </p:sp>
      <p:sp>
        <p:nvSpPr>
          <p:cNvPr id="74" name="Panel 125">
            <a:extLst xmlns:a="http://schemas.openxmlformats.org/drawingml/2006/main">
              <a:ext uri="{FF2B5EF4-FFF2-40B4-BE49-F238E27FC236}">
                <a16:creationId xmlns:a16="http://schemas.microsoft.com/office/drawing/2014/main" id="{85E4873E-A8E9-41CC-AFEC-257FC8BF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24025"/>
            <a:ext cx="2286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 126: Insufficient data: retry">
            <a:extLst xmlns:a="http://schemas.openxmlformats.org/drawingml/2006/main">
              <a:ext uri="{FF2B5EF4-FFF2-40B4-BE49-F238E27FC236}">
                <a16:creationId xmlns:a16="http://schemas.microsoft.com/office/drawing/2014/main" id="{8469941F-35D6-4F4E-BF18-F6E8EF7C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71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Insufficient data: retry</a:t>
            </a:r>
          </a:p>
        </p:txBody>
      </p:sp>
      <p:sp>
        <p:nvSpPr>
          <p:cNvPr id="76" name="Editable flow arrow 127">
            <a:extLst xmlns:a="http://schemas.openxmlformats.org/drawingml/2006/main">
              <a:ext uri="{FF2B5EF4-FFF2-40B4-BE49-F238E27FC236}">
                <a16:creationId xmlns:a16="http://schemas.microsoft.com/office/drawing/2014/main" id="{37723726-BE4A-4FC4-9B93-4723E36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591050"/>
            <a:ext cx="266700" cy="542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77" name="Text 128: COACH REVIEW &amp; FOLLOW-UP">
            <a:extLst xmlns:a="http://schemas.openxmlformats.org/drawingml/2006/main">
              <a:ext uri="{FF2B5EF4-FFF2-40B4-BE49-F238E27FC236}">
                <a16:creationId xmlns:a16="http://schemas.microsoft.com/office/drawing/2014/main" id="{590AFFA8-F788-40C3-BEB2-05CEE515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COACH REVIEW &amp; FOLLOW-UP</a:t>
            </a:r>
          </a:p>
        </p:txBody>
      </p:sp>
      <p:sp>
        <p:nvSpPr>
          <p:cNvPr id="78" name="Panel 129">
            <a:extLst xmlns:a="http://schemas.openxmlformats.org/drawingml/2006/main">
              <a:ext uri="{FF2B5EF4-FFF2-40B4-BE49-F238E27FC236}">
                <a16:creationId xmlns:a16="http://schemas.microsoft.com/office/drawing/2014/main" id="{9E1718BC-2770-4853-B3C8-62DA35BC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381625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79" name="Circle 130">
            <a:extLst xmlns:a="http://schemas.openxmlformats.org/drawingml/2006/main">
              <a:ext uri="{FF2B5EF4-FFF2-40B4-BE49-F238E27FC236}">
                <a16:creationId xmlns:a16="http://schemas.microsoft.com/office/drawing/2014/main" id="{E78ACF73-BCFE-4402-89A0-512C2525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5553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</a:ln>
        </p:spPr>
      </p:sp>
      <p:sp>
        <p:nvSpPr>
          <p:cNvPr id="80" name="Text 131: 05">
            <a:extLst xmlns:a="http://schemas.openxmlformats.org/drawingml/2006/main">
              <a:ext uri="{FF2B5EF4-FFF2-40B4-BE49-F238E27FC236}">
                <a16:creationId xmlns:a16="http://schemas.microsoft.com/office/drawing/2014/main" id="{973ED386-E3E2-40F4-8E42-94869B5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55911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05</a:t>
            </a:r>
          </a:p>
        </p:txBody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0e0e2bd70479b"/>
          <a:stretch xmlns:a="http://schemas.openxmlformats.org/drawingml/2006/main"/>
        </p:blipFill>
        <p:spPr>
          <a:xfrm xmlns:a="http://schemas.openxmlformats.org/drawingml/2006/main">
            <a:off x="14154150" y="5557259"/>
            <a:ext cx="552450" cy="505982"/>
          </a:xfrm>
          <a:prstGeom xmlns:a="http://schemas.openxmlformats.org/drawingml/2006/main" prst="rect">
            <a:avLst/>
          </a:prstGeom>
        </p:spPr>
      </p:pic>
      <p:sp>
        <p:nvSpPr>
          <p:cNvPr id="82" name="Text 132: DISCOVER ATHLETES">
            <a:extLst xmlns:a="http://schemas.openxmlformats.org/drawingml/2006/main">
              <a:ext uri="{FF2B5EF4-FFF2-40B4-BE49-F238E27FC236}">
                <a16:creationId xmlns:a16="http://schemas.microsoft.com/office/drawing/2014/main" id="{F510E889-3DD8-4C7E-B272-B12F1F0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00775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DISCOVER ATHLETES</a:t>
            </a:r>
          </a:p>
        </p:txBody>
      </p:sp>
      <p:sp>
        <p:nvSpPr>
          <p:cNvPr id="83" name="Divider 133">
            <a:extLst xmlns:a="http://schemas.openxmlformats.org/drawingml/2006/main">
              <a:ext uri="{FF2B5EF4-FFF2-40B4-BE49-F238E27FC236}">
                <a16:creationId xmlns:a16="http://schemas.microsoft.com/office/drawing/2014/main" id="{A053FB5B-0E40-465D-818D-EB703303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6896100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84" name="Text 134: Search and filter profiles in the Recruiter Hub.">
            <a:extLst xmlns:a="http://schemas.openxmlformats.org/drawingml/2006/main">
              <a:ext uri="{FF2B5EF4-FFF2-40B4-BE49-F238E27FC236}">
                <a16:creationId xmlns:a16="http://schemas.microsoft.com/office/drawing/2014/main" id="{604C2626-90F2-4B3F-8B63-CD42E7F0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029450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Search and filter profiles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 the Recruiter Hub.</a:t>
            </a:r>
          </a:p>
        </p:txBody>
      </p:sp>
      <p:sp>
        <p:nvSpPr>
          <p:cNvPr id="85" name="Panel 135">
            <a:extLst xmlns:a="http://schemas.openxmlformats.org/drawingml/2006/main">
              <a:ext uri="{FF2B5EF4-FFF2-40B4-BE49-F238E27FC236}">
                <a16:creationId xmlns:a16="http://schemas.microsoft.com/office/drawing/2014/main" id="{3469AA41-B901-41B4-8BDB-7FDFE609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81625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86" name="Circle 136">
            <a:extLst xmlns:a="http://schemas.openxmlformats.org/drawingml/2006/main">
              <a:ext uri="{FF2B5EF4-FFF2-40B4-BE49-F238E27FC236}">
                <a16:creationId xmlns:a16="http://schemas.microsoft.com/office/drawing/2014/main" id="{953AFD6E-6B80-4F95-9F54-5E7A9636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53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</a:ln>
        </p:spPr>
      </p:sp>
      <p:sp>
        <p:nvSpPr>
          <p:cNvPr id="87" name="Text 137: 06">
            <a:extLst xmlns:a="http://schemas.openxmlformats.org/drawingml/2006/main">
              <a:ext uri="{FF2B5EF4-FFF2-40B4-BE49-F238E27FC236}">
                <a16:creationId xmlns:a16="http://schemas.microsoft.com/office/drawing/2014/main" id="{D4E27D17-3927-4510-8A05-63B569DB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911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06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e7ba872d14a3f"/>
          <a:stretch xmlns:a="http://schemas.openxmlformats.org/drawingml/2006/main"/>
        </p:blipFill>
        <p:spPr>
          <a:xfrm xmlns:a="http://schemas.openxmlformats.org/drawingml/2006/main">
            <a:off x="10546511" y="5524500"/>
            <a:ext cx="490627" cy="571500"/>
          </a:xfrm>
          <a:prstGeom xmlns:a="http://schemas.openxmlformats.org/drawingml/2006/main" prst="rect">
            <a:avLst/>
          </a:prstGeom>
        </p:spPr>
      </p:pic>
      <p:sp>
        <p:nvSpPr>
          <p:cNvPr id="89" name="Text 138: COMPARE TWO">
            <a:extLst xmlns:a="http://schemas.openxmlformats.org/drawingml/2006/main">
              <a:ext uri="{FF2B5EF4-FFF2-40B4-BE49-F238E27FC236}">
                <a16:creationId xmlns:a16="http://schemas.microsoft.com/office/drawing/2014/main" id="{D2446AC5-34E3-423D-9D47-064A86F3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00775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COMPARE TWO</a:t>
            </a:r>
          </a:p>
        </p:txBody>
      </p:sp>
      <p:sp>
        <p:nvSpPr>
          <p:cNvPr id="90" name="Divider 139">
            <a:extLst xmlns:a="http://schemas.openxmlformats.org/drawingml/2006/main">
              <a:ext uri="{FF2B5EF4-FFF2-40B4-BE49-F238E27FC236}">
                <a16:creationId xmlns:a16="http://schemas.microsoft.com/office/drawing/2014/main" id="{2759E76B-CF84-4E82-AA8C-579B6481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6896100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91" name="Text 140: Review the radar chart and metric comparison.">
            <a:extLst xmlns:a="http://schemas.openxmlformats.org/drawingml/2006/main">
              <a:ext uri="{FF2B5EF4-FFF2-40B4-BE49-F238E27FC236}">
                <a16:creationId xmlns:a16="http://schemas.microsoft.com/office/drawing/2014/main" id="{9ECB5C19-19EC-4177-8162-B6180D22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029450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Review the radar chart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metric comparison.</a:t>
            </a:r>
          </a:p>
        </p:txBody>
      </p:sp>
      <p:sp>
        <p:nvSpPr>
          <p:cNvPr id="92" name="Panel 141">
            <a:extLst xmlns:a="http://schemas.openxmlformats.org/drawingml/2006/main">
              <a:ext uri="{FF2B5EF4-FFF2-40B4-BE49-F238E27FC236}">
                <a16:creationId xmlns:a16="http://schemas.microsoft.com/office/drawing/2014/main" id="{C8EC88BA-8373-4FE8-8574-BB3EDEAE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381625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93" name="Circle 142">
            <a:extLst xmlns:a="http://schemas.openxmlformats.org/drawingml/2006/main">
              <a:ext uri="{FF2B5EF4-FFF2-40B4-BE49-F238E27FC236}">
                <a16:creationId xmlns:a16="http://schemas.microsoft.com/office/drawing/2014/main" id="{DC500093-994A-46CB-A4E2-70D5B245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53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</a:ln>
        </p:spPr>
      </p:sp>
      <p:sp>
        <p:nvSpPr>
          <p:cNvPr id="94" name="Text 143: 07">
            <a:extLst xmlns:a="http://schemas.openxmlformats.org/drawingml/2006/main">
              <a:ext uri="{FF2B5EF4-FFF2-40B4-BE49-F238E27FC236}">
                <a16:creationId xmlns:a16="http://schemas.microsoft.com/office/drawing/2014/main" id="{3583B9E1-CAD9-4024-AC33-74159A02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911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07</a:t>
            </a:r>
          </a:p>
        </p:txBody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7a3b2468a4759"/>
          <a:stretch xmlns:a="http://schemas.openxmlformats.org/drawingml/2006/main"/>
        </p:blipFill>
        <p:spPr>
          <a:xfrm xmlns:a="http://schemas.openxmlformats.org/drawingml/2006/main">
            <a:off x="6877050" y="5608235"/>
            <a:ext cx="552450" cy="404031"/>
          </a:xfrm>
          <a:prstGeom xmlns:a="http://schemas.openxmlformats.org/drawingml/2006/main" prst="rect">
            <a:avLst/>
          </a:prstGeom>
        </p:spPr>
      </p:pic>
      <p:sp>
        <p:nvSpPr>
          <p:cNvPr id="96" name="Text 144: CONNECT">
            <a:extLst xmlns:a="http://schemas.openxmlformats.org/drawingml/2006/main">
              <a:ext uri="{FF2B5EF4-FFF2-40B4-BE49-F238E27FC236}">
                <a16:creationId xmlns:a16="http://schemas.microsoft.com/office/drawing/2014/main" id="{C89A35ED-C84B-4D02-AC2B-0140150C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00775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CONNECT</a:t>
            </a:r>
          </a:p>
        </p:txBody>
      </p:sp>
      <p:sp>
        <p:nvSpPr>
          <p:cNvPr id="97" name="Divider 145">
            <a:extLst xmlns:a="http://schemas.openxmlformats.org/drawingml/2006/main">
              <a:ext uri="{FF2B5EF4-FFF2-40B4-BE49-F238E27FC236}">
                <a16:creationId xmlns:a16="http://schemas.microsoft.com/office/drawing/2014/main" id="{B694C299-860B-4894-9E3F-C68C84D4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896100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98" name="Text 146: Use messages to discuss reports and next steps.">
            <a:extLst xmlns:a="http://schemas.openxmlformats.org/drawingml/2006/main">
              <a:ext uri="{FF2B5EF4-FFF2-40B4-BE49-F238E27FC236}">
                <a16:creationId xmlns:a16="http://schemas.microsoft.com/office/drawing/2014/main" id="{A0A88A27-5A69-4E14-AA25-5BF2199E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7029450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Use messages to discuss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reports and next steps.</a:t>
            </a:r>
          </a:p>
        </p:txBody>
      </p:sp>
      <p:sp>
        <p:nvSpPr>
          <p:cNvPr id="99" name="Panel 147">
            <a:extLst xmlns:a="http://schemas.openxmlformats.org/drawingml/2006/main">
              <a:ext uri="{FF2B5EF4-FFF2-40B4-BE49-F238E27FC236}">
                <a16:creationId xmlns:a16="http://schemas.microsoft.com/office/drawing/2014/main" id="{DC71D670-F97D-4593-B87C-A0EF4418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00" name="Circle 148">
            <a:extLst xmlns:a="http://schemas.openxmlformats.org/drawingml/2006/main">
              <a:ext uri="{FF2B5EF4-FFF2-40B4-BE49-F238E27FC236}">
                <a16:creationId xmlns:a16="http://schemas.microsoft.com/office/drawing/2014/main" id="{955F0CCF-44A0-48DF-96CB-4D51FE26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53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</a:ln>
        </p:spPr>
      </p:sp>
      <p:sp>
        <p:nvSpPr>
          <p:cNvPr id="101" name="Text 149: 08">
            <a:extLst xmlns:a="http://schemas.openxmlformats.org/drawingml/2006/main">
              <a:ext uri="{FF2B5EF4-FFF2-40B4-BE49-F238E27FC236}">
                <a16:creationId xmlns:a16="http://schemas.microsoft.com/office/drawing/2014/main" id="{EC336A3E-1C6A-4E63-A57D-07F35960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911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08</a:t>
            </a:r>
          </a:p>
        </p:txBody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94bb75ab24bc7"/>
          <a:stretch xmlns:a="http://schemas.openxmlformats.org/drawingml/2006/main"/>
        </p:blipFill>
        <p:spPr>
          <a:xfrm xmlns:a="http://schemas.openxmlformats.org/drawingml/2006/main">
            <a:off x="3238500" y="5554742"/>
            <a:ext cx="552450" cy="511016"/>
          </a:xfrm>
          <a:prstGeom xmlns:a="http://schemas.openxmlformats.org/drawingml/2006/main" prst="rect">
            <a:avLst/>
          </a:prstGeom>
        </p:spPr>
      </p:pic>
      <p:sp>
        <p:nvSpPr>
          <p:cNvPr id="103" name="Text 150: TRAIN &amp; REASSESS">
            <a:extLst xmlns:a="http://schemas.openxmlformats.org/drawingml/2006/main">
              <a:ext uri="{FF2B5EF4-FFF2-40B4-BE49-F238E27FC236}">
                <a16:creationId xmlns:a16="http://schemas.microsoft.com/office/drawing/2014/main" id="{2DBAAC6E-623C-4006-9103-112D9BBC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00775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TRAIN &amp; REASSESS</a:t>
            </a:r>
          </a:p>
        </p:txBody>
      </p:sp>
      <p:sp>
        <p:nvSpPr>
          <p:cNvPr id="104" name="Divider 151">
            <a:extLst xmlns:a="http://schemas.openxmlformats.org/drawingml/2006/main">
              <a:ext uri="{FF2B5EF4-FFF2-40B4-BE49-F238E27FC236}">
                <a16:creationId xmlns:a16="http://schemas.microsoft.com/office/drawing/2014/main" id="{A454109A-3245-4499-987A-4A5B121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896100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105" name="Text 152: Practise, capture again and review the next session.">
            <a:extLst xmlns:a="http://schemas.openxmlformats.org/drawingml/2006/main">
              <a:ext uri="{FF2B5EF4-FFF2-40B4-BE49-F238E27FC236}">
                <a16:creationId xmlns:a16="http://schemas.microsoft.com/office/drawing/2014/main" id="{386C8269-D204-4BA7-A47D-8ECD1269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029450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Practise, capture again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review the next session.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B8A19C0-3D05-4303-9706-BD10503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362700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0F4BC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187A128-6B6B-426B-9BBF-24EF36BE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362700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0F4BC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C8FB611-7442-4349-ABEB-B52673E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362700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0F4BC"/>
          </a:solidFill>
          <a:ln xmlns:a="http://schemas.openxmlformats.org/drawingml/2006/main" w="0">
            <a:noFill/>
          </a:ln>
        </p:spPr>
      </p:sp>
      <p:sp>
        <p:nvSpPr>
          <p:cNvPr id="109" name="Divider 153">
            <a:extLst xmlns:a="http://schemas.openxmlformats.org/drawingml/2006/main">
              <a:ext uri="{FF2B5EF4-FFF2-40B4-BE49-F238E27FC236}">
                <a16:creationId xmlns:a16="http://schemas.microsoft.com/office/drawing/2014/main" id="{1AD9D43D-22A1-48AC-8124-8992262F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10" name="Divider 154">
            <a:extLst xmlns:a="http://schemas.openxmlformats.org/drawingml/2006/main">
              <a:ext uri="{FF2B5EF4-FFF2-40B4-BE49-F238E27FC236}">
                <a16:creationId xmlns:a16="http://schemas.microsoft.com/office/drawing/2014/main" id="{0691BD24-B0CA-4015-8DAD-9E037C81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0" cy="3171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11" name="Divider 155">
            <a:extLst xmlns:a="http://schemas.openxmlformats.org/drawingml/2006/main">
              <a:ext uri="{FF2B5EF4-FFF2-40B4-BE49-F238E27FC236}">
                <a16:creationId xmlns:a16="http://schemas.microsoft.com/office/drawing/2014/main" id="{4A6F909B-D2A5-415E-ACB9-13BD488B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12" name="Editable flow arrow 156">
            <a:extLst xmlns:a="http://schemas.openxmlformats.org/drawingml/2006/main">
              <a:ext uri="{FF2B5EF4-FFF2-40B4-BE49-F238E27FC236}">
                <a16:creationId xmlns:a16="http://schemas.microsoft.com/office/drawing/2014/main" id="{7EA3AC1A-6C77-4AD9-8D2C-79C9A8BB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19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F4BC"/>
          </a:solidFill>
          <a:ln xmlns:a="http://schemas.openxmlformats.org/drawingml/2006/main" w="0">
            <a:noFill/>
          </a:ln>
        </p:spPr>
      </p:sp>
      <p:sp>
        <p:nvSpPr>
          <p:cNvPr id="113" name="Text 157: NEXT SESSION">
            <a:extLst xmlns:a="http://schemas.openxmlformats.org/drawingml/2006/main">
              <a:ext uri="{FF2B5EF4-FFF2-40B4-BE49-F238E27FC236}">
                <a16:creationId xmlns:a16="http://schemas.microsoft.com/office/drawing/2014/main" id="{83E38B10-FC1E-4174-A5E4-A9D14C65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00975"/>
            <a:ext cx="3419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NEXT SESSION</a:t>
            </a:r>
          </a:p>
        </p:txBody>
      </p:sp>
      <p:sp>
        <p:nvSpPr>
          <p:cNvPr id="114" name="Text 158: Coaches guide training decisions. Prototype scores need calibrati">
            <a:extLst xmlns:a="http://schemas.openxmlformats.org/drawingml/2006/main">
              <a:ext uri="{FF2B5EF4-FFF2-40B4-BE49-F238E27FC236}">
                <a16:creationId xmlns:a16="http://schemas.microsoft.com/office/drawing/2014/main" id="{66A42FFC-AB84-4EF1-A6C0-1A1A365C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791450"/>
            <a:ext cx="876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Coaches guide training decisions. Prototype scores need calibration.</a:t>
            </a:r>
          </a:p>
        </p:txBody>
      </p:sp>
      <p:sp>
        <p:nvSpPr>
          <p:cNvPr id="115" name="Panel 159">
            <a:extLst xmlns:a="http://schemas.openxmlformats.org/drawingml/2006/main">
              <a:ext uri="{FF2B5EF4-FFF2-40B4-BE49-F238E27FC236}">
                <a16:creationId xmlns:a16="http://schemas.microsoft.com/office/drawing/2014/main" id="{CAE26841-40EA-439C-904B-40FD0372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116" name="Text 160: PRIVACY BOUNDARY">
            <a:extLst xmlns:a="http://schemas.openxmlformats.org/drawingml/2006/main">
              <a:ext uri="{FF2B5EF4-FFF2-40B4-BE49-F238E27FC236}">
                <a16:creationId xmlns:a16="http://schemas.microsoft.com/office/drawing/2014/main" id="{D8307E37-33A0-4B01-8AE1-FF1723E4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20100"/>
            <a:ext cx="2457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PRIVACY BOUNDARY</a:t>
            </a:r>
          </a:p>
        </p:txBody>
      </p:sp>
      <p:sp>
        <p:nvSpPr>
          <p:cNvPr id="117" name="Divider 161">
            <a:extLst xmlns:a="http://schemas.openxmlformats.org/drawingml/2006/main">
              <a:ext uri="{FF2B5EF4-FFF2-40B4-BE49-F238E27FC236}">
                <a16:creationId xmlns:a16="http://schemas.microsoft.com/office/drawing/2014/main" id="{42FC4BFA-DD50-4F23-90B4-AB3A4C7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4105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118" name="Text 162: The browser keeps raw video local. The backend stores structured ">
            <a:extLst xmlns:a="http://schemas.openxmlformats.org/drawingml/2006/main">
              <a:ext uri="{FF2B5EF4-FFF2-40B4-BE49-F238E27FC236}">
                <a16:creationId xmlns:a16="http://schemas.microsoft.com/office/drawing/2014/main" id="{3C17009C-E581-4D01-92DD-C5F857B8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4391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The browser keeps raw video local. The backend stores structured results.</a:t>
            </a:r>
          </a:p>
        </p:txBody>
      </p:sp>
      <p:sp>
        <p:nvSpPr>
          <p:cNvPr id="119" name="Text 163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B392F0A8-572B-4940-BE8C-8D2650F3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45820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eb8fa332e5124f05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766758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c64551c44e45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532ff5d0f4bfc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a4896e61a4b09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ed9c3715841bc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b585ebe40451e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dc850a76f459b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570d80784d50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49eea5673417a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768ed049f4f20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bb57d940c4f11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a42ac1e7a4b4d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ddbce3d1a4b45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765fe01f341fb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e2cd7458b47c7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286b2bf0b4646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ef89c5bbd4e42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d1a47de004dae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40e2e990a427c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97688f7ff421b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5e34958a146ca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2c4248af146c6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7aea72eeb440b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1276a83364db7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a44d6c9c142d4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d339de7b4265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0faa99dab40a6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dbde252d545ae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a6bf332434cd0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7575ebf9641b4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5fe87e42e4dcb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bbe1123984f0c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6fcaf52944b47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164: AthletixAI">
            <a:extLst xmlns:a="http://schemas.openxmlformats.org/drawingml/2006/main">
              <a:ext uri="{FF2B5EF4-FFF2-40B4-BE49-F238E27FC236}">
                <a16:creationId xmlns:a16="http://schemas.microsoft.com/office/drawing/2014/main" id="{15F4CF78-078E-4F9D-B752-E88CD7B5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165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CFAD1C7C-19BA-4CAA-A738-DAB75897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166: TECHNICAL APPROACH">
            <a:extLst xmlns:a="http://schemas.openxmlformats.org/drawingml/2006/main">
              <a:ext uri="{FF2B5EF4-FFF2-40B4-BE49-F238E27FC236}">
                <a16:creationId xmlns:a16="http://schemas.microsoft.com/office/drawing/2014/main" id="{6AAF2633-30E5-4F4C-A0B0-46EF8BB6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"/>
            <a:ext cx="11258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TECHNICAL APPROACH</a:t>
            </a:r>
          </a:p>
        </p:txBody>
      </p:sp>
      <p:sp>
        <p:nvSpPr>
          <p:cNvPr id="36" name="Text 167: How the AthletixAI AI brain turns movement into a report">
            <a:extLst xmlns:a="http://schemas.openxmlformats.org/drawingml/2006/main">
              <a:ext uri="{FF2B5EF4-FFF2-40B4-BE49-F238E27FC236}">
                <a16:creationId xmlns:a16="http://schemas.microsoft.com/office/drawing/2014/main" id="{9881CD42-0419-4C42-A2FB-3C61AD8F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5325"/>
            <a:ext cx="1125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How the AthletixAI AI brain turns movement into a report</a:t>
            </a:r>
          </a:p>
        </p:txBody>
      </p:sp>
      <p:sp>
        <p:nvSpPr>
          <p:cNvPr id="37" name="Text 168: ON THE ATHLETE’S DEVICE">
            <a:extLst xmlns:a="http://schemas.openxmlformats.org/drawingml/2006/main">
              <a:ext uri="{FF2B5EF4-FFF2-40B4-BE49-F238E27FC236}">
                <a16:creationId xmlns:a16="http://schemas.microsoft.com/office/drawing/2014/main" id="{0B452989-29BA-4413-83C1-B16B723B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181100"/>
            <a:ext cx="12620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ON THE ATHLETE’S DEVICE</a:t>
            </a:r>
          </a:p>
        </p:txBody>
      </p:sp>
      <p:sp>
        <p:nvSpPr>
          <p:cNvPr id="38" name="Text 169: SECURE BACKEND">
            <a:extLst xmlns:a="http://schemas.openxmlformats.org/drawingml/2006/main">
              <a:ext uri="{FF2B5EF4-FFF2-40B4-BE49-F238E27FC236}">
                <a16:creationId xmlns:a16="http://schemas.microsoft.com/office/drawing/2014/main" id="{DA664ED7-65E3-4579-8452-D7CE5AAB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11811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SECURE BACKEND</a:t>
            </a:r>
          </a:p>
        </p:txBody>
      </p:sp>
      <p:sp>
        <p:nvSpPr>
          <p:cNvPr id="39" name="Panel 170">
            <a:extLst xmlns:a="http://schemas.openxmlformats.org/drawingml/2006/main">
              <a:ext uri="{FF2B5EF4-FFF2-40B4-BE49-F238E27FC236}">
                <a16:creationId xmlns:a16="http://schemas.microsoft.com/office/drawing/2014/main" id="{A9A823EF-64A6-4200-83B2-1B141331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52575"/>
            <a:ext cx="2238375" cy="2914650"/>
          </a:xfrm>
          <a:prstGeom xmlns:a="http://schemas.openxmlformats.org/drawingml/2006/main" prst="roundRect">
            <a:avLst>
              <a:gd name="adj" fmla="val 6809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0" name="Panel 171">
            <a:extLst xmlns:a="http://schemas.openxmlformats.org/drawingml/2006/main">
              <a:ext uri="{FF2B5EF4-FFF2-40B4-BE49-F238E27FC236}">
                <a16:creationId xmlns:a16="http://schemas.microsoft.com/office/drawing/2014/main" id="{F48CE8D8-9873-4851-A7E6-391D81EA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466725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41" name="Text 172: 01">
            <a:extLst xmlns:a="http://schemas.openxmlformats.org/drawingml/2006/main">
              <a:ext uri="{FF2B5EF4-FFF2-40B4-BE49-F238E27FC236}">
                <a16:creationId xmlns:a16="http://schemas.microsoft.com/office/drawing/2014/main" id="{3C6B07A3-B5DA-44CE-BEF2-CFF5DB52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66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c9bed649a4714"/>
          <a:stretch xmlns:a="http://schemas.openxmlformats.org/drawingml/2006/main"/>
        </p:blipFill>
        <p:spPr>
          <a:xfrm xmlns:a="http://schemas.openxmlformats.org/drawingml/2006/main">
            <a:off x="1576021" y="1695450"/>
            <a:ext cx="619858" cy="771525"/>
          </a:xfrm>
          <a:prstGeom xmlns:a="http://schemas.openxmlformats.org/drawingml/2006/main" prst="rect">
            <a:avLst/>
          </a:prstGeom>
        </p:spPr>
      </p:pic>
      <p:sp>
        <p:nvSpPr>
          <p:cNvPr id="43" name="Text 173: VIDEO INPUT">
            <a:extLst xmlns:a="http://schemas.openxmlformats.org/drawingml/2006/main">
              <a:ext uri="{FF2B5EF4-FFF2-40B4-BE49-F238E27FC236}">
                <a16:creationId xmlns:a16="http://schemas.microsoft.com/office/drawing/2014/main" id="{14B8CC57-F93C-4FD2-AA5A-F39FC0D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6003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VIDEO INPUT</a:t>
            </a:r>
          </a:p>
        </p:txBody>
      </p:sp>
      <p:sp>
        <p:nvSpPr>
          <p:cNvPr id="44" name="Text 174: Practice clip or live camera. Frames read locally; no raw-video u">
            <a:extLst xmlns:a="http://schemas.openxmlformats.org/drawingml/2006/main">
              <a:ext uri="{FF2B5EF4-FFF2-40B4-BE49-F238E27FC236}">
                <a16:creationId xmlns:a16="http://schemas.microsoft.com/office/drawing/2014/main" id="{44E71EDF-BB6F-4F86-8C83-252D0B1F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67050"/>
            <a:ext cx="19526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clip or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live camera.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Frames read locally;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no raw-video upload.</a:t>
            </a:r>
          </a:p>
        </p:txBody>
      </p:sp>
      <p:sp>
        <p:nvSpPr>
          <p:cNvPr id="45" name="Editable flow arrow 175">
            <a:extLst xmlns:a="http://schemas.openxmlformats.org/drawingml/2006/main">
              <a:ext uri="{FF2B5EF4-FFF2-40B4-BE49-F238E27FC236}">
                <a16:creationId xmlns:a16="http://schemas.microsoft.com/office/drawing/2014/main" id="{5435AF0B-307D-4BAD-850B-0E019560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956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46" name="Panel 176">
            <a:extLst xmlns:a="http://schemas.openxmlformats.org/drawingml/2006/main">
              <a:ext uri="{FF2B5EF4-FFF2-40B4-BE49-F238E27FC236}">
                <a16:creationId xmlns:a16="http://schemas.microsoft.com/office/drawing/2014/main" id="{EC28F030-514B-47B0-93D9-62485B7A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552575"/>
            <a:ext cx="2238375" cy="2914650"/>
          </a:xfrm>
          <a:prstGeom xmlns:a="http://schemas.openxmlformats.org/drawingml/2006/main" prst="roundRect">
            <a:avLst>
              <a:gd name="adj" fmla="val 6809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7" name="Panel 177">
            <a:extLst xmlns:a="http://schemas.openxmlformats.org/drawingml/2006/main">
              <a:ext uri="{FF2B5EF4-FFF2-40B4-BE49-F238E27FC236}">
                <a16:creationId xmlns:a16="http://schemas.microsoft.com/office/drawing/2014/main" id="{356E2159-DBFD-4F1F-9BC6-755AE4B0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24025"/>
            <a:ext cx="466725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48" name="Text 178: 02">
            <a:extLst xmlns:a="http://schemas.openxmlformats.org/drawingml/2006/main">
              <a:ext uri="{FF2B5EF4-FFF2-40B4-BE49-F238E27FC236}">
                <a16:creationId xmlns:a16="http://schemas.microsoft.com/office/drawing/2014/main" id="{CA1528C4-9811-4F7A-87CC-58E2C85C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62125"/>
            <a:ext cx="466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64860bb18447c"/>
          <a:stretch xmlns:a="http://schemas.openxmlformats.org/drawingml/2006/main"/>
        </p:blipFill>
        <p:spPr>
          <a:xfrm xmlns:a="http://schemas.openxmlformats.org/drawingml/2006/main">
            <a:off x="4183755" y="1695450"/>
            <a:ext cx="681240" cy="771525"/>
          </a:xfrm>
          <a:prstGeom xmlns:a="http://schemas.openxmlformats.org/drawingml/2006/main" prst="rect">
            <a:avLst/>
          </a:prstGeom>
        </p:spPr>
      </p:pic>
      <p:sp>
        <p:nvSpPr>
          <p:cNvPr id="50" name="Text 179: POSE AI">
            <a:extLst xmlns:a="http://schemas.openxmlformats.org/drawingml/2006/main">
              <a:ext uri="{FF2B5EF4-FFF2-40B4-BE49-F238E27FC236}">
                <a16:creationId xmlns:a16="http://schemas.microsoft.com/office/drawing/2014/main" id="{CB5DCC62-400A-4139-98A5-4A346988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03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POSE AI</a:t>
            </a:r>
          </a:p>
        </p:txBody>
      </p:sp>
      <p:sp>
        <p:nvSpPr>
          <p:cNvPr id="51" name="Text 180: MediaPipe estimates 33 body landmarks using a pretrained pose-det">
            <a:extLst xmlns:a="http://schemas.openxmlformats.org/drawingml/2006/main">
              <a:ext uri="{FF2B5EF4-FFF2-40B4-BE49-F238E27FC236}">
                <a16:creationId xmlns:a16="http://schemas.microsoft.com/office/drawing/2014/main" id="{A3D03156-2D4F-4AD3-A842-B226A1C8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19526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MediaPipe estimates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33 body landmarks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using a pretrained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pose-detection model.</a:t>
            </a:r>
          </a:p>
        </p:txBody>
      </p:sp>
      <p:sp>
        <p:nvSpPr>
          <p:cNvPr id="52" name="Editable flow arrow 181">
            <a:extLst xmlns:a="http://schemas.openxmlformats.org/drawingml/2006/main">
              <a:ext uri="{FF2B5EF4-FFF2-40B4-BE49-F238E27FC236}">
                <a16:creationId xmlns:a16="http://schemas.microsoft.com/office/drawing/2014/main" id="{30B5D27C-4583-4556-8959-1CCEB7B8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956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53" name="Panel 182">
            <a:extLst xmlns:a="http://schemas.openxmlformats.org/drawingml/2006/main">
              <a:ext uri="{FF2B5EF4-FFF2-40B4-BE49-F238E27FC236}">
                <a16:creationId xmlns:a16="http://schemas.microsoft.com/office/drawing/2014/main" id="{EF381288-8F4D-4672-A43F-7E0CA59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52575"/>
            <a:ext cx="2238375" cy="2914650"/>
          </a:xfrm>
          <a:prstGeom xmlns:a="http://schemas.openxmlformats.org/drawingml/2006/main" prst="roundRect">
            <a:avLst>
              <a:gd name="adj" fmla="val 6809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4" name="Panel 183">
            <a:extLst xmlns:a="http://schemas.openxmlformats.org/drawingml/2006/main">
              <a:ext uri="{FF2B5EF4-FFF2-40B4-BE49-F238E27FC236}">
                <a16:creationId xmlns:a16="http://schemas.microsoft.com/office/drawing/2014/main" id="{A952D49F-DEF5-4360-827C-48861F35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24025"/>
            <a:ext cx="466725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55" name="Text 184: 03">
            <a:extLst xmlns:a="http://schemas.openxmlformats.org/drawingml/2006/main">
              <a:ext uri="{FF2B5EF4-FFF2-40B4-BE49-F238E27FC236}">
                <a16:creationId xmlns:a16="http://schemas.microsoft.com/office/drawing/2014/main" id="{FB385A4D-E4C1-4143-8BE5-BB93EE40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62125"/>
            <a:ext cx="466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e6ef19f0d4d2a"/>
          <a:stretch xmlns:a="http://schemas.openxmlformats.org/drawingml/2006/main"/>
        </p:blipFill>
        <p:spPr>
          <a:xfrm xmlns:a="http://schemas.openxmlformats.org/drawingml/2006/main">
            <a:off x="6822127" y="1695450"/>
            <a:ext cx="681347" cy="771525"/>
          </a:xfrm>
          <a:prstGeom xmlns:a="http://schemas.openxmlformats.org/drawingml/2006/main" prst="rect">
            <a:avLst/>
          </a:prstGeom>
        </p:spPr>
      </p:pic>
      <p:sp>
        <p:nvSpPr>
          <p:cNvPr id="57" name="Text 185: MEASURE">
            <a:extLst xmlns:a="http://schemas.openxmlformats.org/drawingml/2006/main">
              <a:ext uri="{FF2B5EF4-FFF2-40B4-BE49-F238E27FC236}">
                <a16:creationId xmlns:a16="http://schemas.microsoft.com/office/drawing/2014/main" id="{926C1CA3-0401-462E-8F26-CFB480BF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003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MEASURE</a:t>
            </a:r>
          </a:p>
        </p:txBody>
      </p:sp>
      <p:sp>
        <p:nvSpPr>
          <p:cNvPr id="58" name="Text 186: Joint angles, motion, symmetry, cadence and movement range become">
            <a:extLst xmlns:a="http://schemas.openxmlformats.org/drawingml/2006/main">
              <a:ext uri="{FF2B5EF4-FFF2-40B4-BE49-F238E27FC236}">
                <a16:creationId xmlns:a16="http://schemas.microsoft.com/office/drawing/2014/main" id="{5CA1BCB0-DD59-4D0E-86E2-B0D9827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67050"/>
            <a:ext cx="19526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Joint angles, motion,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symmetry, cadence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movement range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become score inputs.</a:t>
            </a:r>
          </a:p>
        </p:txBody>
      </p:sp>
      <p:sp>
        <p:nvSpPr>
          <p:cNvPr id="59" name="Editable flow arrow 187">
            <a:extLst xmlns:a="http://schemas.openxmlformats.org/drawingml/2006/main">
              <a:ext uri="{FF2B5EF4-FFF2-40B4-BE49-F238E27FC236}">
                <a16:creationId xmlns:a16="http://schemas.microsoft.com/office/drawing/2014/main" id="{6659576E-30A7-4017-AA6D-591F4549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956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60" name="Panel 188">
            <a:extLst xmlns:a="http://schemas.openxmlformats.org/drawingml/2006/main">
              <a:ext uri="{FF2B5EF4-FFF2-40B4-BE49-F238E27FC236}">
                <a16:creationId xmlns:a16="http://schemas.microsoft.com/office/drawing/2014/main" id="{32E1BC9B-4BE4-4505-997D-FB9F996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52575"/>
            <a:ext cx="2238375" cy="2914650"/>
          </a:xfrm>
          <a:prstGeom xmlns:a="http://schemas.openxmlformats.org/drawingml/2006/main" prst="roundRect">
            <a:avLst>
              <a:gd name="adj" fmla="val 6809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61" name="Panel 189">
            <a:extLst xmlns:a="http://schemas.openxmlformats.org/drawingml/2006/main">
              <a:ext uri="{FF2B5EF4-FFF2-40B4-BE49-F238E27FC236}">
                <a16:creationId xmlns:a16="http://schemas.microsoft.com/office/drawing/2014/main" id="{1C750B1F-B29A-4222-A3D1-D152A19A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724025"/>
            <a:ext cx="466725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62" name="Text 190: 04">
            <a:extLst xmlns:a="http://schemas.openxmlformats.org/drawingml/2006/main">
              <a:ext uri="{FF2B5EF4-FFF2-40B4-BE49-F238E27FC236}">
                <a16:creationId xmlns:a16="http://schemas.microsoft.com/office/drawing/2014/main" id="{88E0DA0D-2D46-4EED-A25A-3735BBE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762125"/>
            <a:ext cx="466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49f1f5ea64064"/>
          <a:stretch xmlns:a="http://schemas.openxmlformats.org/drawingml/2006/main"/>
        </p:blipFill>
        <p:spPr>
          <a:xfrm xmlns:a="http://schemas.openxmlformats.org/drawingml/2006/main">
            <a:off x="9474059" y="1695450"/>
            <a:ext cx="654331" cy="771525"/>
          </a:xfrm>
          <a:prstGeom xmlns:a="http://schemas.openxmlformats.org/drawingml/2006/main" prst="rect">
            <a:avLst/>
          </a:prstGeom>
        </p:spPr>
      </p:pic>
      <p:sp>
        <p:nvSpPr>
          <p:cNvPr id="64" name="Text 191: QUALITY GATE">
            <a:extLst xmlns:a="http://schemas.openxmlformats.org/drawingml/2006/main">
              <a:ext uri="{FF2B5EF4-FFF2-40B4-BE49-F238E27FC236}">
                <a16:creationId xmlns:a16="http://schemas.microsoft.com/office/drawing/2014/main" id="{C48875C8-92CE-4050-BE69-7F4C26D9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03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QUALITY GATE</a:t>
            </a:r>
          </a:p>
        </p:txBody>
      </p:sp>
      <p:sp>
        <p:nvSpPr>
          <p:cNvPr id="65" name="Text 192: Uploaded clips: 20 usable frames; person detected in ≥40% of samp">
            <a:extLst xmlns:a="http://schemas.openxmlformats.org/drawingml/2006/main">
              <a:ext uri="{FF2B5EF4-FFF2-40B4-BE49-F238E27FC236}">
                <a16:creationId xmlns:a16="http://schemas.microsoft.com/office/drawing/2014/main" id="{49FA9D8A-0369-47CF-9B69-3E2BED7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19526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Uploaded clips: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20 usable frames;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person detected in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≥40% of samples.</a:t>
            </a:r>
          </a:p>
        </p:txBody>
      </p:sp>
      <p:sp>
        <p:nvSpPr>
          <p:cNvPr id="66" name="Editable flow arrow 193">
            <a:extLst xmlns:a="http://schemas.openxmlformats.org/drawingml/2006/main">
              <a:ext uri="{FF2B5EF4-FFF2-40B4-BE49-F238E27FC236}">
                <a16:creationId xmlns:a16="http://schemas.microsoft.com/office/drawing/2014/main" id="{540E41AF-C089-444F-9ADE-EF567373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956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67" name="Panel 194">
            <a:extLst xmlns:a="http://schemas.openxmlformats.org/drawingml/2006/main">
              <a:ext uri="{FF2B5EF4-FFF2-40B4-BE49-F238E27FC236}">
                <a16:creationId xmlns:a16="http://schemas.microsoft.com/office/drawing/2014/main" id="{01330CE3-F317-4D98-89E0-45FCB278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552575"/>
            <a:ext cx="2238375" cy="2914650"/>
          </a:xfrm>
          <a:prstGeom xmlns:a="http://schemas.openxmlformats.org/drawingml/2006/main" prst="roundRect">
            <a:avLst>
              <a:gd name="adj" fmla="val 6809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68" name="Panel 195">
            <a:extLst xmlns:a="http://schemas.openxmlformats.org/drawingml/2006/main">
              <a:ext uri="{FF2B5EF4-FFF2-40B4-BE49-F238E27FC236}">
                <a16:creationId xmlns:a16="http://schemas.microsoft.com/office/drawing/2014/main" id="{A9F75BCA-9872-4FE7-892C-1A0708F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24025"/>
            <a:ext cx="466725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69" name="Text 196: 05">
            <a:extLst xmlns:a="http://schemas.openxmlformats.org/drawingml/2006/main">
              <a:ext uri="{FF2B5EF4-FFF2-40B4-BE49-F238E27FC236}">
                <a16:creationId xmlns:a16="http://schemas.microsoft.com/office/drawing/2014/main" id="{19CCE550-1A92-418B-AC8A-01BB0A68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62125"/>
            <a:ext cx="466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05</a:t>
            </a:r>
          </a:p>
        </p:txBody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80f1afa524a5d"/>
          <a:stretch xmlns:a="http://schemas.openxmlformats.org/drawingml/2006/main"/>
        </p:blipFill>
        <p:spPr>
          <a:xfrm xmlns:a="http://schemas.openxmlformats.org/drawingml/2006/main">
            <a:off x="12068175" y="1773901"/>
            <a:ext cx="742950" cy="614622"/>
          </a:xfrm>
          <a:prstGeom xmlns:a="http://schemas.openxmlformats.org/drawingml/2006/main" prst="rect">
            <a:avLst/>
          </a:prstGeom>
        </p:spPr>
      </p:pic>
      <p:sp>
        <p:nvSpPr>
          <p:cNvPr id="71" name="Text 197: SCORE RULES">
            <a:extLst xmlns:a="http://schemas.openxmlformats.org/drawingml/2006/main">
              <a:ext uri="{FF2B5EF4-FFF2-40B4-BE49-F238E27FC236}">
                <a16:creationId xmlns:a16="http://schemas.microsoft.com/office/drawing/2014/main" id="{CC3B4198-DC02-4FF1-B4D8-53A78B8A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6003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SCORE RULES</a:t>
            </a:r>
          </a:p>
        </p:txBody>
      </p:sp>
      <p:sp>
        <p:nvSpPr>
          <p:cNvPr id="72" name="Text 198: Sport-aware rules convert signals into five metric scores with qu">
            <a:extLst xmlns:a="http://schemas.openxmlformats.org/drawingml/2006/main">
              <a:ext uri="{FF2B5EF4-FFF2-40B4-BE49-F238E27FC236}">
                <a16:creationId xmlns:a16="http://schemas.microsoft.com/office/drawing/2014/main" id="{BE5D4601-CD2A-41BC-86D9-49EFCEFE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067050"/>
            <a:ext cx="19526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Sport-aware rules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convert signals into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five metric scores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with quality limits.</a:t>
            </a:r>
          </a:p>
        </p:txBody>
      </p:sp>
      <p:sp>
        <p:nvSpPr>
          <p:cNvPr id="73" name="Editable flow arrow 199">
            <a:extLst xmlns:a="http://schemas.openxmlformats.org/drawingml/2006/main">
              <a:ext uri="{FF2B5EF4-FFF2-40B4-BE49-F238E27FC236}">
                <a16:creationId xmlns:a16="http://schemas.microsoft.com/office/drawing/2014/main" id="{F4FA4BB9-5038-4564-8C11-73DCD34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28956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386"/>
          </a:solidFill>
          <a:ln xmlns:a="http://schemas.openxmlformats.org/drawingml/2006/main" w="0">
            <a:noFill/>
          </a:ln>
        </p:spPr>
      </p:sp>
      <p:sp>
        <p:nvSpPr>
          <p:cNvPr id="74" name="Panel 200">
            <a:extLst xmlns:a="http://schemas.openxmlformats.org/drawingml/2006/main">
              <a:ext uri="{FF2B5EF4-FFF2-40B4-BE49-F238E27FC236}">
                <a16:creationId xmlns:a16="http://schemas.microsoft.com/office/drawing/2014/main" id="{BAD152B4-7035-43E2-A564-B1E43DC7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1552575"/>
            <a:ext cx="2238375" cy="2914650"/>
          </a:xfrm>
          <a:prstGeom xmlns:a="http://schemas.openxmlformats.org/drawingml/2006/main" prst="roundRect">
            <a:avLst>
              <a:gd name="adj" fmla="val 6809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75" name="Panel 201">
            <a:extLst xmlns:a="http://schemas.openxmlformats.org/drawingml/2006/main">
              <a:ext uri="{FF2B5EF4-FFF2-40B4-BE49-F238E27FC236}">
                <a16:creationId xmlns:a16="http://schemas.microsoft.com/office/drawing/2014/main" id="{F33F7D4C-FD88-4AD8-9456-F1B55617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724025"/>
            <a:ext cx="466725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FF6386"/>
            </a:solidFill>
            <a:prstDash val="solid"/>
          </a:ln>
        </p:spPr>
      </p:sp>
      <p:sp>
        <p:nvSpPr>
          <p:cNvPr id="76" name="Text 202: 06">
            <a:extLst xmlns:a="http://schemas.openxmlformats.org/drawingml/2006/main">
              <a:ext uri="{FF2B5EF4-FFF2-40B4-BE49-F238E27FC236}">
                <a16:creationId xmlns:a16="http://schemas.microsoft.com/office/drawing/2014/main" id="{88D47355-D8E3-49F1-A7C9-3BF37161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762125"/>
            <a:ext cx="466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06</a:t>
            </a:r>
          </a:p>
        </p:txBody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1a2ee33c74cfa"/>
          <a:stretch xmlns:a="http://schemas.openxmlformats.org/drawingml/2006/main"/>
        </p:blipFill>
        <p:spPr>
          <a:xfrm xmlns:a="http://schemas.openxmlformats.org/drawingml/2006/main">
            <a:off x="14706600" y="1717319"/>
            <a:ext cx="742950" cy="727788"/>
          </a:xfrm>
          <a:prstGeom xmlns:a="http://schemas.openxmlformats.org/drawingml/2006/main" prst="rect">
            <a:avLst/>
          </a:prstGeom>
        </p:spPr>
      </p:pic>
      <p:sp>
        <p:nvSpPr>
          <p:cNvPr id="78" name="Text 203: SAVE &amp; REVIEW">
            <a:extLst xmlns:a="http://schemas.openxmlformats.org/drawingml/2006/main">
              <a:ext uri="{FF2B5EF4-FFF2-40B4-BE49-F238E27FC236}">
                <a16:creationId xmlns:a16="http://schemas.microsoft.com/office/drawing/2014/main" id="{79397302-9C72-4E96-A7A9-88C69A6C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6003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SAVE &amp; REVIEW</a:t>
            </a:r>
          </a:p>
        </p:txBody>
      </p:sp>
      <p:sp>
        <p:nvSpPr>
          <p:cNvPr id="79" name="Text 204: Metrics + metadata sent to Flask. Validate inputs; recompute over">
            <a:extLst xmlns:a="http://schemas.openxmlformats.org/drawingml/2006/main">
              <a:ext uri="{FF2B5EF4-FFF2-40B4-BE49-F238E27FC236}">
                <a16:creationId xmlns:a16="http://schemas.microsoft.com/office/drawing/2014/main" id="{ACC6EC83-3451-49EA-82B2-3DFACEDB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067050"/>
            <a:ext cx="19526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Metrics + metadata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sent to Flask.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Validate inputs;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recompute overall.</a:t>
            </a:r>
          </a:p>
        </p:txBody>
      </p:sp>
      <p:sp>
        <p:nvSpPr>
          <p:cNvPr id="80" name="Divider 205">
            <a:extLst xmlns:a="http://schemas.openxmlformats.org/drawingml/2006/main">
              <a:ext uri="{FF2B5EF4-FFF2-40B4-BE49-F238E27FC236}">
                <a16:creationId xmlns:a16="http://schemas.microsoft.com/office/drawing/2014/main" id="{E9C902ED-3F05-4282-A136-1337DF01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672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81" name="Divider 206">
            <a:extLst xmlns:a="http://schemas.openxmlformats.org/drawingml/2006/main">
              <a:ext uri="{FF2B5EF4-FFF2-40B4-BE49-F238E27FC236}">
                <a16:creationId xmlns:a16="http://schemas.microsoft.com/office/drawing/2014/main" id="{F65B7FB1-8F80-475E-AFFA-0E7C0020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05375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82" name="Editable flow arrow 207">
            <a:extLst xmlns:a="http://schemas.openxmlformats.org/drawingml/2006/main">
              <a:ext uri="{FF2B5EF4-FFF2-40B4-BE49-F238E27FC236}">
                <a16:creationId xmlns:a16="http://schemas.microsoft.com/office/drawing/2014/main" id="{59906CD0-4088-49D0-9E55-78ED5E23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90500" cy="2762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6386"/>
          </a:solidFill>
          <a:ln xmlns:a="http://schemas.openxmlformats.org/drawingml/2006/main" w="0">
            <a:noFill/>
          </a:ln>
        </p:spPr>
      </p:sp>
      <p:sp>
        <p:nvSpPr>
          <p:cNvPr id="83" name="Divider 208">
            <a:extLst xmlns:a="http://schemas.openxmlformats.org/drawingml/2006/main">
              <a:ext uri="{FF2B5EF4-FFF2-40B4-BE49-F238E27FC236}">
                <a16:creationId xmlns:a16="http://schemas.microsoft.com/office/drawing/2014/main" id="{6164F7D8-F04E-4269-87E6-F1BF73B7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910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84" name="Panel 209">
            <a:extLst xmlns:a="http://schemas.openxmlformats.org/drawingml/2006/main">
              <a:ext uri="{FF2B5EF4-FFF2-40B4-BE49-F238E27FC236}">
                <a16:creationId xmlns:a16="http://schemas.microsoft.com/office/drawing/2014/main" id="{9D077D6F-4F98-446A-B35A-217CD73B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57725"/>
            <a:ext cx="505777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FF6386"/>
            </a:solidFill>
            <a:prstDash val="solid"/>
          </a:ln>
        </p:spPr>
      </p:sp>
      <p:sp>
        <p:nvSpPr>
          <p:cNvPr id="85" name="Text 210: INSUFFICIENT DATA → RETRY CAPTURE">
            <a:extLst xmlns:a="http://schemas.openxmlformats.org/drawingml/2006/main">
              <a:ext uri="{FF2B5EF4-FFF2-40B4-BE49-F238E27FC236}">
                <a16:creationId xmlns:a16="http://schemas.microsoft.com/office/drawing/2014/main" id="{13422059-B446-42D5-881D-5FAD1EEC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772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INSUFFICIENT DATA → RETRY CAPTURE</a:t>
            </a:r>
          </a:p>
        </p:txBody>
      </p:sp>
      <p:sp>
        <p:nvSpPr>
          <p:cNvPr id="86" name="Text 211: Only accepted measurements continue to scoring.">
            <a:extLst xmlns:a="http://schemas.openxmlformats.org/drawingml/2006/main">
              <a:ext uri="{FF2B5EF4-FFF2-40B4-BE49-F238E27FC236}">
                <a16:creationId xmlns:a16="http://schemas.microsoft.com/office/drawing/2014/main" id="{0871CAAA-F5B6-4FA7-9699-56B14FB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95825"/>
            <a:ext cx="557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Only accepted measurements continue to scoring.</a:t>
            </a:r>
          </a:p>
        </p:txBody>
      </p:sp>
      <p:sp>
        <p:nvSpPr>
          <p:cNvPr id="87" name="Panel 212">
            <a:extLst xmlns:a="http://schemas.openxmlformats.org/drawingml/2006/main">
              <a:ext uri="{FF2B5EF4-FFF2-40B4-BE49-F238E27FC236}">
                <a16:creationId xmlns:a16="http://schemas.microsoft.com/office/drawing/2014/main" id="{F41C1775-2830-47F6-B3F1-DDB85F32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334000"/>
            <a:ext cx="9877425" cy="2714625"/>
          </a:xfrm>
          <a:prstGeom xmlns:a="http://schemas.openxmlformats.org/drawingml/2006/main" prst="roundRect">
            <a:avLst>
              <a:gd name="adj" fmla="val 5614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703ef18154950"/>
          <a:stretch xmlns:a="http://schemas.openxmlformats.org/drawingml/2006/main"/>
        </p:blipFill>
        <p:spPr>
          <a:xfrm xmlns:a="http://schemas.openxmlformats.org/drawingml/2006/main">
            <a:off x="466725" y="5517053"/>
            <a:ext cx="685800" cy="567344"/>
          </a:xfrm>
          <a:prstGeom xmlns:a="http://schemas.openxmlformats.org/drawingml/2006/main" prst="rect">
            <a:avLst/>
          </a:prstGeom>
        </p:spPr>
      </p:pic>
      <p:sp>
        <p:nvSpPr>
          <p:cNvPr id="89" name="Text 213: INSIDE THE AI BRAIN">
            <a:extLst xmlns:a="http://schemas.openxmlformats.org/drawingml/2006/main">
              <a:ext uri="{FF2B5EF4-FFF2-40B4-BE49-F238E27FC236}">
                <a16:creationId xmlns:a16="http://schemas.microsoft.com/office/drawing/2014/main" id="{DE2CA4AE-8055-4FE6-87E8-34F29E7E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24500"/>
            <a:ext cx="838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INSIDE THE AI BRAIN</a:t>
            </a:r>
          </a:p>
        </p:txBody>
      </p:sp>
      <p:sp>
        <p:nvSpPr>
          <p:cNvPr id="90" name="Text 214: ML detects the pose. Hand-authored rules calculate the scores.">
            <a:extLst xmlns:a="http://schemas.openxmlformats.org/drawingml/2006/main">
              <a:ext uri="{FF2B5EF4-FFF2-40B4-BE49-F238E27FC236}">
                <a16:creationId xmlns:a16="http://schemas.microsoft.com/office/drawing/2014/main" id="{FC8E2097-E2D9-40A8-886A-A5A2CA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34075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ML detects the pose. Hand-authored rules calculate the scores.</a:t>
            </a:r>
          </a:p>
        </p:txBody>
      </p:sp>
      <p:sp>
        <p:nvSpPr>
          <p:cNvPr id="91" name="Text 215: 1 · MOVEMENT SIGNALS">
            <a:extLst xmlns:a="http://schemas.openxmlformats.org/drawingml/2006/main">
              <a:ext uri="{FF2B5EF4-FFF2-40B4-BE49-F238E27FC236}">
                <a16:creationId xmlns:a16="http://schemas.microsoft.com/office/drawing/2014/main" id="{E26B7E6A-C24F-4D2D-BD6B-39171C2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1 · MOVEMENT SIGNALS</a:t>
            </a:r>
          </a:p>
        </p:txBody>
      </p:sp>
      <p:sp>
        <p:nvSpPr>
          <p:cNvPr id="92" name="Text 216: Peak limb motion + cadence Joint range + body symmetry Pose track">
            <a:extLst xmlns:a="http://schemas.openxmlformats.org/drawingml/2006/main">
              <a:ext uri="{FF2B5EF4-FFF2-40B4-BE49-F238E27FC236}">
                <a16:creationId xmlns:a16="http://schemas.microsoft.com/office/drawing/2014/main" id="{27C02A9E-43F4-45A8-BB88-49A78FE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800850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Peak limb motion + cadence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Joint range + body symmetry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Pose tracking confidence</a:t>
            </a:r>
          </a:p>
        </p:txBody>
      </p:sp>
      <p:sp>
        <p:nvSpPr>
          <p:cNvPr id="93" name="Text 217: 2 · SPORT CONTEXT">
            <a:extLst xmlns:a="http://schemas.openxmlformats.org/drawingml/2006/main">
              <a:ext uri="{FF2B5EF4-FFF2-40B4-BE49-F238E27FC236}">
                <a16:creationId xmlns:a16="http://schemas.microsoft.com/office/drawing/2014/main" id="{8A0BF7BA-AF1F-4A44-8B65-4197832E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03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2 · SPORT CONTEXT</a:t>
            </a:r>
          </a:p>
        </p:txBody>
      </p:sp>
      <p:sp>
        <p:nvSpPr>
          <p:cNvPr id="94" name="Text 218: Precision → stability &amp; symmetry Combat → explosive movement Lift">
            <a:extLst xmlns:a="http://schemas.openxmlformats.org/drawingml/2006/main">
              <a:ext uri="{FF2B5EF4-FFF2-40B4-BE49-F238E27FC236}">
                <a16:creationId xmlns:a16="http://schemas.microsoft.com/office/drawing/2014/main" id="{43811768-A27C-4434-B6C3-6AE7E71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800850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Precision → stability &amp; symmetry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Combat → explosive movement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Lifting → knee bend &amp; range</a:t>
            </a:r>
          </a:p>
        </p:txBody>
      </p:sp>
      <p:sp>
        <p:nvSpPr>
          <p:cNvPr id="95" name="Text 219: 3 · SCORE LIMITS">
            <a:extLst xmlns:a="http://schemas.openxmlformats.org/drawingml/2006/main">
              <a:ext uri="{FF2B5EF4-FFF2-40B4-BE49-F238E27FC236}">
                <a16:creationId xmlns:a16="http://schemas.microsoft.com/office/drawing/2014/main" id="{3576C29E-9E3F-4B48-9CF8-3B6C29E8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4103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3 · SCORE LIMITS</a:t>
            </a:r>
          </a:p>
        </p:txBody>
      </p:sp>
      <p:sp>
        <p:nvSpPr>
          <p:cNvPr id="96" name="Text 220: Activity factor moderates output Confidence sets an upper cap Sco">
            <a:extLst xmlns:a="http://schemas.openxmlformats.org/drawingml/2006/main">
              <a:ext uri="{FF2B5EF4-FFF2-40B4-BE49-F238E27FC236}">
                <a16:creationId xmlns:a16="http://schemas.microsoft.com/office/drawing/2014/main" id="{E206DC35-F896-4AD3-8CE5-A9ED724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800850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Activity factor moderates output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Confidence sets an upper cap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Scores are rounded and bounded</a:t>
            </a:r>
          </a:p>
        </p:txBody>
      </p:sp>
      <p:sp>
        <p:nvSpPr>
          <p:cNvPr id="97" name="Divider 221">
            <a:extLst xmlns:a="http://schemas.openxmlformats.org/drawingml/2006/main">
              <a:ext uri="{FF2B5EF4-FFF2-40B4-BE49-F238E27FC236}">
                <a16:creationId xmlns:a16="http://schemas.microsoft.com/office/drawing/2014/main" id="{C2FE4DBF-29B4-4214-9A0E-740A3BFA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429375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6282"/>
            </a:solidFill>
            <a:prstDash val="solid"/>
          </a:ln>
        </p:spPr>
      </p:sp>
      <p:sp>
        <p:nvSpPr>
          <p:cNvPr id="98" name="Divider 222">
            <a:extLst xmlns:a="http://schemas.openxmlformats.org/drawingml/2006/main">
              <a:ext uri="{FF2B5EF4-FFF2-40B4-BE49-F238E27FC236}">
                <a16:creationId xmlns:a16="http://schemas.microsoft.com/office/drawing/2014/main" id="{2BAE5703-4D13-42E6-9A88-3EB7071A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429375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26282"/>
            </a:solidFill>
            <a:prstDash val="solid"/>
          </a:ln>
        </p:spPr>
      </p:sp>
      <p:sp>
        <p:nvSpPr>
          <p:cNvPr id="99" name="Text 223: OUTPUT → Speed · Agility · Strength · Stamina · Technique">
            <a:extLst xmlns:a="http://schemas.openxmlformats.org/drawingml/2006/main">
              <a:ext uri="{FF2B5EF4-FFF2-40B4-BE49-F238E27FC236}">
                <a16:creationId xmlns:a16="http://schemas.microsoft.com/office/drawing/2014/main" id="{0687821C-853F-43A4-BA72-324EB91F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24775"/>
            <a:ext cx="938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OUTPUT → Speed · Agility · Strength · Stamina · Technique</a:t>
            </a:r>
          </a:p>
        </p:txBody>
      </p:sp>
      <p:sp>
        <p:nvSpPr>
          <p:cNvPr id="100" name="Panel 224">
            <a:extLst xmlns:a="http://schemas.openxmlformats.org/drawingml/2006/main">
              <a:ext uri="{FF2B5EF4-FFF2-40B4-BE49-F238E27FC236}">
                <a16:creationId xmlns:a16="http://schemas.microsoft.com/office/drawing/2014/main" id="{DE796085-62E4-4B64-B17B-27BEB40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334000"/>
            <a:ext cx="5372100" cy="2714625"/>
          </a:xfrm>
          <a:prstGeom xmlns:a="http://schemas.openxmlformats.org/drawingml/2006/main" prst="roundRect">
            <a:avLst>
              <a:gd name="adj" fmla="val 5614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01" name="Text 225: FROM SCORES TO ACTION">
            <a:extLst xmlns:a="http://schemas.openxmlformats.org/drawingml/2006/main">
              <a:ext uri="{FF2B5EF4-FFF2-40B4-BE49-F238E27FC236}">
                <a16:creationId xmlns:a16="http://schemas.microsoft.com/office/drawing/2014/main" id="{21184740-0BF3-4223-8607-8EDD95F6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1497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FROM SCORES TO ACTION</a:t>
            </a:r>
          </a:p>
        </p:txBody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ae7f537cb46bb"/>
          <a:stretch xmlns:a="http://schemas.openxmlformats.org/drawingml/2006/main"/>
        </p:blipFill>
        <p:spPr>
          <a:xfrm xmlns:a="http://schemas.openxmlformats.org/drawingml/2006/main">
            <a:off x="10525125" y="6048375"/>
            <a:ext cx="409575" cy="457200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4c21ace2744cc"/>
          <a:stretch xmlns:a="http://schemas.openxmlformats.org/drawingml/2006/main"/>
        </p:blipFill>
        <p:spPr>
          <a:xfrm xmlns:a="http://schemas.openxmlformats.org/drawingml/2006/main">
            <a:off x="11022482" y="6076950"/>
            <a:ext cx="243537" cy="428625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8b5029b384b6d"/>
          <a:stretch xmlns:a="http://schemas.openxmlformats.org/drawingml/2006/main"/>
        </p:blipFill>
        <p:spPr>
          <a:xfrm xmlns:a="http://schemas.openxmlformats.org/drawingml/2006/main">
            <a:off x="11373716" y="6076950"/>
            <a:ext cx="350693" cy="428625"/>
          </a:xfrm>
          <a:prstGeom xmlns:a="http://schemas.openxmlformats.org/drawingml/2006/main" prst="rect">
            <a:avLst/>
          </a:prstGeom>
        </p:spPr>
      </p:pic>
      <p:sp>
        <p:nvSpPr>
          <p:cNvPr id="105" name="Text 226: Flask + SQLite">
            <a:extLst xmlns:a="http://schemas.openxmlformats.org/drawingml/2006/main">
              <a:ext uri="{FF2B5EF4-FFF2-40B4-BE49-F238E27FC236}">
                <a16:creationId xmlns:a16="http://schemas.microsoft.com/office/drawing/2014/main" id="{86CCB0E0-7C9A-4BC0-804A-1E22516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9600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Flask + SQLite</a:t>
            </a:r>
          </a:p>
        </p:txBody>
      </p:sp>
      <p:sp>
        <p:nvSpPr>
          <p:cNvPr id="106" name="Text 227: Stores reports, metrics and video metadata.">
            <a:extLst xmlns:a="http://schemas.openxmlformats.org/drawingml/2006/main">
              <a:ext uri="{FF2B5EF4-FFF2-40B4-BE49-F238E27FC236}">
                <a16:creationId xmlns:a16="http://schemas.microsoft.com/office/drawing/2014/main" id="{0275A54C-841D-41C0-A762-DBBA498B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610350"/>
            <a:ext cx="490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Stores reports, metrics and video metadata.</a:t>
            </a:r>
          </a:p>
        </p:txBody>
      </p:sp>
      <p:sp>
        <p:nvSpPr>
          <p:cNvPr id="107" name="Text 228: Chart.js + jsPDF: trends, comparisons &amp; PDFs.">
            <a:extLst xmlns:a="http://schemas.openxmlformats.org/drawingml/2006/main">
              <a:ext uri="{FF2B5EF4-FFF2-40B4-BE49-F238E27FC236}">
                <a16:creationId xmlns:a16="http://schemas.microsoft.com/office/drawing/2014/main" id="{517EBBCC-6EA8-4B16-9DED-985768B6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98182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Chart.js + jsPDF: trends, comparisons &amp; PDFs.</a:t>
            </a:r>
          </a:p>
        </p:txBody>
      </p:sp>
      <p:sp>
        <p:nvSpPr>
          <p:cNvPr id="108" name="Panel 229">
            <a:extLst xmlns:a="http://schemas.openxmlformats.org/drawingml/2006/main">
              <a:ext uri="{FF2B5EF4-FFF2-40B4-BE49-F238E27FC236}">
                <a16:creationId xmlns:a16="http://schemas.microsoft.com/office/drawing/2014/main" id="{2B9DCEF3-65E7-4307-9862-ED42A7E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477125"/>
            <a:ext cx="4981575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FF6386"/>
            </a:solidFill>
            <a:prstDash val="solid"/>
          </a:ln>
        </p:spPr>
      </p:sp>
      <p:sp>
        <p:nvSpPr>
          <p:cNvPr id="109" name="Text 230: Client scores are not server-verified.">
            <a:extLst xmlns:a="http://schemas.openxmlformats.org/drawingml/2006/main">
              <a:ext uri="{FF2B5EF4-FFF2-40B4-BE49-F238E27FC236}">
                <a16:creationId xmlns:a16="http://schemas.microsoft.com/office/drawing/2014/main" id="{89567853-4FC8-4554-BF95-125C64B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572375"/>
            <a:ext cx="473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Client scores are not server-verified.</a:t>
            </a:r>
          </a:p>
        </p:txBody>
      </p:sp>
      <p:sp>
        <p:nvSpPr>
          <p:cNvPr id="110" name="Panel 231">
            <a:extLst xmlns:a="http://schemas.openxmlformats.org/drawingml/2006/main">
              <a:ext uri="{FF2B5EF4-FFF2-40B4-BE49-F238E27FC236}">
                <a16:creationId xmlns:a16="http://schemas.microsoft.com/office/drawing/2014/main" id="{EBBA013F-E985-4B98-8391-EB166CC7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96275"/>
            <a:ext cx="15430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36e470fc14957"/>
          <a:stretch xmlns:a="http://schemas.openxmlformats.org/drawingml/2006/main"/>
        </p:blipFill>
        <p:spPr>
          <a:xfrm xmlns:a="http://schemas.openxmlformats.org/drawingml/2006/main">
            <a:off x="411692" y="8391525"/>
            <a:ext cx="281517" cy="333375"/>
          </a:xfrm>
          <a:prstGeom xmlns:a="http://schemas.openxmlformats.org/drawingml/2006/main" prst="rect">
            <a:avLst/>
          </a:prstGeom>
        </p:spPr>
      </p:pic>
      <p:sp>
        <p:nvSpPr>
          <p:cNvPr id="112" name="Text 232: PRIVACY FIRST">
            <a:extLst xmlns:a="http://schemas.openxmlformats.org/drawingml/2006/main">
              <a:ext uri="{FF2B5EF4-FFF2-40B4-BE49-F238E27FC236}">
                <a16:creationId xmlns:a16="http://schemas.microsoft.com/office/drawing/2014/main" id="{B5CC6782-D70F-4BBF-A48A-689ED18D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391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PRIVACY FIRST</a:t>
            </a:r>
          </a:p>
        </p:txBody>
      </p:sp>
      <p:sp>
        <p:nvSpPr>
          <p:cNvPr id="113" name="Divider 233">
            <a:extLst xmlns:a="http://schemas.openxmlformats.org/drawingml/2006/main">
              <a:ext uri="{FF2B5EF4-FFF2-40B4-BE49-F238E27FC236}">
                <a16:creationId xmlns:a16="http://schemas.microsoft.com/office/drawing/2014/main" id="{579FE191-19C3-4A18-9724-DB335024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4010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0F4BC"/>
            </a:solidFill>
            <a:prstDash val="solid"/>
          </a:ln>
        </p:spPr>
      </p:sp>
      <p:sp>
        <p:nvSpPr>
          <p:cNvPr id="114" name="Text 234: Video stays on device. Performance proxies still need real-world ">
            <a:extLst xmlns:a="http://schemas.openxmlformats.org/drawingml/2006/main">
              <a:ext uri="{FF2B5EF4-FFF2-40B4-BE49-F238E27FC236}">
                <a16:creationId xmlns:a16="http://schemas.microsoft.com/office/drawing/2014/main" id="{BE70074F-934D-4BAF-A2FE-506D8302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84582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Video stays on device. Performance proxies still need real-world calibration.</a:t>
            </a:r>
          </a:p>
        </p:txBody>
      </p:sp>
      <p:sp>
        <p:nvSpPr>
          <p:cNvPr id="115" name="Text 235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FA126C67-7976-4CDD-960E-DEFD4B7C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8458200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3fba3f1d5f964b07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303883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2026-09-29T20:43:44.3400000Z</dcterms:created>
  <dcterms:modified xsi:type="dcterms:W3CDTF">2026-09-29T20:43:44.3400000Z</dcterms:modified>
</coreProperties>
</file>